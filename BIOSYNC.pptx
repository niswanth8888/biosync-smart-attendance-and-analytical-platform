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rimo" panose="020B0604020202020204" charset="0"/>
      <p:regular r:id="rId18"/>
    </p:embeddedFont>
    <p:embeddedFont>
      <p:font typeface="Arimo Bold" panose="020B0604020202020204" charset="0"/>
      <p:regular r:id="rId19"/>
    </p:embeddedFont>
    <p:embeddedFont>
      <p:font typeface="Arimo Italics" panose="020B0604020202020204" charset="0"/>
      <p:regular r:id="rId20"/>
    </p:embeddedFont>
    <p:embeddedFont>
      <p:font typeface="Calibri (MS) Bold" panose="020B0604020202020204" charset="0"/>
      <p:regular r:id="rId21"/>
    </p:embeddedFont>
    <p:embeddedFont>
      <p:font typeface="Inter" panose="020B0604020202020204" charset="0"/>
      <p:regular r:id="rId22"/>
    </p:embeddedFont>
    <p:embeddedFont>
      <p:font typeface="Merriweather Sans Bold" panose="020B0604020202020204" charset="0"/>
      <p:regular r:id="rId23"/>
    </p:embeddedFont>
    <p:embeddedFont>
      <p:font typeface="Merriweather Sans Light"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A9DA7-0714-40AA-81EB-DCC54FECAE40}" v="7" dt="2026-04-26T04:46:33.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4" d="100"/>
          <a:sy n="64" d="100"/>
        </p:scale>
        <p:origin x="178"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wanth T" userId="c5fc63c99aabd453" providerId="LiveId" clId="{4538323B-623C-49D2-A41B-A3E915F0DD77}"/>
    <pc:docChg chg="undo custSel addSld modSld sldOrd">
      <pc:chgData name="Niswanth T" userId="c5fc63c99aabd453" providerId="LiveId" clId="{4538323B-623C-49D2-A41B-A3E915F0DD77}" dt="2026-04-26T04:51:31.951" v="512" actId="1076"/>
      <pc:docMkLst>
        <pc:docMk/>
      </pc:docMkLst>
      <pc:sldChg chg="modSp mod">
        <pc:chgData name="Niswanth T" userId="c5fc63c99aabd453" providerId="LiveId" clId="{4538323B-623C-49D2-A41B-A3E915F0DD77}" dt="2026-04-26T04:41:56.400" v="183" actId="1076"/>
        <pc:sldMkLst>
          <pc:docMk/>
          <pc:sldMk cId="0" sldId="256"/>
        </pc:sldMkLst>
        <pc:spChg chg="mod">
          <ac:chgData name="Niswanth T" userId="c5fc63c99aabd453" providerId="LiveId" clId="{4538323B-623C-49D2-A41B-A3E915F0DD77}" dt="2026-04-22T17:04:00.637" v="0" actId="404"/>
          <ac:spMkLst>
            <pc:docMk/>
            <pc:sldMk cId="0" sldId="256"/>
            <ac:spMk id="10" creationId="{00000000-0000-0000-0000-000000000000}"/>
          </ac:spMkLst>
        </pc:spChg>
        <pc:spChg chg="mod">
          <ac:chgData name="Niswanth T" userId="c5fc63c99aabd453" providerId="LiveId" clId="{4538323B-623C-49D2-A41B-A3E915F0DD77}" dt="2026-04-22T17:11:40.454" v="141" actId="1037"/>
          <ac:spMkLst>
            <pc:docMk/>
            <pc:sldMk cId="0" sldId="256"/>
            <ac:spMk id="11" creationId="{00000000-0000-0000-0000-000000000000}"/>
          </ac:spMkLst>
        </pc:spChg>
        <pc:spChg chg="mod">
          <ac:chgData name="Niswanth T" userId="c5fc63c99aabd453" providerId="LiveId" clId="{4538323B-623C-49D2-A41B-A3E915F0DD77}" dt="2026-04-22T17:11:37.552" v="139" actId="1038"/>
          <ac:spMkLst>
            <pc:docMk/>
            <pc:sldMk cId="0" sldId="256"/>
            <ac:spMk id="12" creationId="{00000000-0000-0000-0000-000000000000}"/>
          </ac:spMkLst>
        </pc:spChg>
        <pc:grpChg chg="mod">
          <ac:chgData name="Niswanth T" userId="c5fc63c99aabd453" providerId="LiveId" clId="{4538323B-623C-49D2-A41B-A3E915F0DD77}" dt="2026-04-26T04:41:56.400" v="183" actId="1076"/>
          <ac:grpSpMkLst>
            <pc:docMk/>
            <pc:sldMk cId="0" sldId="256"/>
            <ac:grpSpMk id="4" creationId="{00000000-0000-0000-0000-000000000000}"/>
          </ac:grpSpMkLst>
        </pc:grpChg>
        <pc:grpChg chg="mod">
          <ac:chgData name="Niswanth T" userId="c5fc63c99aabd453" providerId="LiveId" clId="{4538323B-623C-49D2-A41B-A3E915F0DD77}" dt="2026-04-22T17:11:30.503" v="134" actId="14100"/>
          <ac:grpSpMkLst>
            <pc:docMk/>
            <pc:sldMk cId="0" sldId="256"/>
            <ac:grpSpMk id="8" creationId="{00000000-0000-0000-0000-000000000000}"/>
          </ac:grpSpMkLst>
        </pc:grpChg>
      </pc:sldChg>
      <pc:sldChg chg="modSp mod">
        <pc:chgData name="Niswanth T" userId="c5fc63c99aabd453" providerId="LiveId" clId="{4538323B-623C-49D2-A41B-A3E915F0DD77}" dt="2026-04-22T17:04:18.462" v="9" actId="1037"/>
        <pc:sldMkLst>
          <pc:docMk/>
          <pc:sldMk cId="0" sldId="257"/>
        </pc:sldMkLst>
        <pc:spChg chg="mod">
          <ac:chgData name="Niswanth T" userId="c5fc63c99aabd453" providerId="LiveId" clId="{4538323B-623C-49D2-A41B-A3E915F0DD77}" dt="2026-04-22T17:04:18.462" v="9" actId="1037"/>
          <ac:spMkLst>
            <pc:docMk/>
            <pc:sldMk cId="0" sldId="257"/>
            <ac:spMk id="8" creationId="{00000000-0000-0000-0000-000000000000}"/>
          </ac:spMkLst>
        </pc:spChg>
      </pc:sldChg>
      <pc:sldChg chg="modSp mod">
        <pc:chgData name="Niswanth T" userId="c5fc63c99aabd453" providerId="LiveId" clId="{4538323B-623C-49D2-A41B-A3E915F0DD77}" dt="2026-04-22T17:11:56.102" v="142" actId="1035"/>
        <pc:sldMkLst>
          <pc:docMk/>
          <pc:sldMk cId="0" sldId="258"/>
        </pc:sldMkLst>
        <pc:spChg chg="mod">
          <ac:chgData name="Niswanth T" userId="c5fc63c99aabd453" providerId="LiveId" clId="{4538323B-623C-49D2-A41B-A3E915F0DD77}" dt="2026-04-22T17:11:56.102" v="142" actId="1035"/>
          <ac:spMkLst>
            <pc:docMk/>
            <pc:sldMk cId="0" sldId="258"/>
            <ac:spMk id="8" creationId="{00000000-0000-0000-0000-000000000000}"/>
          </ac:spMkLst>
        </pc:spChg>
      </pc:sldChg>
      <pc:sldChg chg="modSp mod">
        <pc:chgData name="Niswanth T" userId="c5fc63c99aabd453" providerId="LiveId" clId="{4538323B-623C-49D2-A41B-A3E915F0DD77}" dt="2026-04-22T17:12:18.707" v="146" actId="14100"/>
        <pc:sldMkLst>
          <pc:docMk/>
          <pc:sldMk cId="0" sldId="259"/>
        </pc:sldMkLst>
        <pc:spChg chg="mod">
          <ac:chgData name="Niswanth T" userId="c5fc63c99aabd453" providerId="LiveId" clId="{4538323B-623C-49D2-A41B-A3E915F0DD77}" dt="2026-04-22T17:04:42.690" v="11" actId="20577"/>
          <ac:spMkLst>
            <pc:docMk/>
            <pc:sldMk cId="0" sldId="259"/>
            <ac:spMk id="5" creationId="{00000000-0000-0000-0000-000000000000}"/>
          </ac:spMkLst>
        </pc:spChg>
        <pc:spChg chg="mod">
          <ac:chgData name="Niswanth T" userId="c5fc63c99aabd453" providerId="LiveId" clId="{4538323B-623C-49D2-A41B-A3E915F0DD77}" dt="2026-04-22T17:04:51.270" v="17" actId="1035"/>
          <ac:spMkLst>
            <pc:docMk/>
            <pc:sldMk cId="0" sldId="259"/>
            <ac:spMk id="8" creationId="{00000000-0000-0000-0000-000000000000}"/>
          </ac:spMkLst>
        </pc:spChg>
        <pc:spChg chg="mod">
          <ac:chgData name="Niswanth T" userId="c5fc63c99aabd453" providerId="LiveId" clId="{4538323B-623C-49D2-A41B-A3E915F0DD77}" dt="2026-04-22T17:05:22.226" v="21" actId="14100"/>
          <ac:spMkLst>
            <pc:docMk/>
            <pc:sldMk cId="0" sldId="259"/>
            <ac:spMk id="9" creationId="{00000000-0000-0000-0000-000000000000}"/>
          </ac:spMkLst>
        </pc:spChg>
        <pc:spChg chg="mod">
          <ac:chgData name="Niswanth T" userId="c5fc63c99aabd453" providerId="LiveId" clId="{4538323B-623C-49D2-A41B-A3E915F0DD77}" dt="2026-04-22T17:05:40.514" v="33" actId="1037"/>
          <ac:spMkLst>
            <pc:docMk/>
            <pc:sldMk cId="0" sldId="259"/>
            <ac:spMk id="13" creationId="{00000000-0000-0000-0000-000000000000}"/>
          </ac:spMkLst>
        </pc:spChg>
        <pc:spChg chg="mod">
          <ac:chgData name="Niswanth T" userId="c5fc63c99aabd453" providerId="LiveId" clId="{4538323B-623C-49D2-A41B-A3E915F0DD77}" dt="2026-04-22T17:05:35.873" v="28" actId="1038"/>
          <ac:spMkLst>
            <pc:docMk/>
            <pc:sldMk cId="0" sldId="259"/>
            <ac:spMk id="16" creationId="{00000000-0000-0000-0000-000000000000}"/>
          </ac:spMkLst>
        </pc:spChg>
        <pc:grpChg chg="mod">
          <ac:chgData name="Niswanth T" userId="c5fc63c99aabd453" providerId="LiveId" clId="{4538323B-623C-49D2-A41B-A3E915F0DD77}" dt="2026-04-22T17:12:18.707" v="146" actId="14100"/>
          <ac:grpSpMkLst>
            <pc:docMk/>
            <pc:sldMk cId="0" sldId="259"/>
            <ac:grpSpMk id="6" creationId="{00000000-0000-0000-0000-000000000000}"/>
          </ac:grpSpMkLst>
        </pc:grpChg>
      </pc:sldChg>
      <pc:sldChg chg="modSp mod">
        <pc:chgData name="Niswanth T" userId="c5fc63c99aabd453" providerId="LiveId" clId="{4538323B-623C-49D2-A41B-A3E915F0DD77}" dt="2026-04-22T17:06:38.412" v="46" actId="1035"/>
        <pc:sldMkLst>
          <pc:docMk/>
          <pc:sldMk cId="0" sldId="260"/>
        </pc:sldMkLst>
        <pc:spChg chg="mod">
          <ac:chgData name="Niswanth T" userId="c5fc63c99aabd453" providerId="LiveId" clId="{4538323B-623C-49D2-A41B-A3E915F0DD77}" dt="2026-04-22T17:06:15.405" v="40" actId="20577"/>
          <ac:spMkLst>
            <pc:docMk/>
            <pc:sldMk cId="0" sldId="260"/>
            <ac:spMk id="5" creationId="{00000000-0000-0000-0000-000000000000}"/>
          </ac:spMkLst>
        </pc:spChg>
        <pc:spChg chg="mod">
          <ac:chgData name="Niswanth T" userId="c5fc63c99aabd453" providerId="LiveId" clId="{4538323B-623C-49D2-A41B-A3E915F0DD77}" dt="2026-04-22T17:06:38.412" v="46" actId="1035"/>
          <ac:spMkLst>
            <pc:docMk/>
            <pc:sldMk cId="0" sldId="260"/>
            <ac:spMk id="8" creationId="{00000000-0000-0000-0000-000000000000}"/>
          </ac:spMkLst>
        </pc:spChg>
        <pc:spChg chg="mod">
          <ac:chgData name="Niswanth T" userId="c5fc63c99aabd453" providerId="LiveId" clId="{4538323B-623C-49D2-A41B-A3E915F0DD77}" dt="2026-04-22T17:06:20.173" v="41" actId="1035"/>
          <ac:spMkLst>
            <pc:docMk/>
            <pc:sldMk cId="0" sldId="260"/>
            <ac:spMk id="13" creationId="{00000000-0000-0000-0000-000000000000}"/>
          </ac:spMkLst>
        </pc:spChg>
        <pc:spChg chg="mod">
          <ac:chgData name="Niswanth T" userId="c5fc63c99aabd453" providerId="LiveId" clId="{4538323B-623C-49D2-A41B-A3E915F0DD77}" dt="2026-04-22T17:06:29.549" v="44" actId="1036"/>
          <ac:spMkLst>
            <pc:docMk/>
            <pc:sldMk cId="0" sldId="260"/>
            <ac:spMk id="15" creationId="{00000000-0000-0000-0000-000000000000}"/>
          </ac:spMkLst>
        </pc:spChg>
        <pc:grpChg chg="mod">
          <ac:chgData name="Niswanth T" userId="c5fc63c99aabd453" providerId="LiveId" clId="{4538323B-623C-49D2-A41B-A3E915F0DD77}" dt="2026-04-22T17:06:14.236" v="39" actId="1035"/>
          <ac:grpSpMkLst>
            <pc:docMk/>
            <pc:sldMk cId="0" sldId="260"/>
            <ac:grpSpMk id="4" creationId="{00000000-0000-0000-0000-000000000000}"/>
          </ac:grpSpMkLst>
        </pc:grpChg>
      </pc:sldChg>
      <pc:sldChg chg="modSp mod">
        <pc:chgData name="Niswanth T" userId="c5fc63c99aabd453" providerId="LiveId" clId="{4538323B-623C-49D2-A41B-A3E915F0DD77}" dt="2026-04-22T17:06:45.441" v="47" actId="14100"/>
        <pc:sldMkLst>
          <pc:docMk/>
          <pc:sldMk cId="0" sldId="261"/>
        </pc:sldMkLst>
        <pc:spChg chg="mod">
          <ac:chgData name="Niswanth T" userId="c5fc63c99aabd453" providerId="LiveId" clId="{4538323B-623C-49D2-A41B-A3E915F0DD77}" dt="2026-04-22T17:06:45.441" v="47" actId="14100"/>
          <ac:spMkLst>
            <pc:docMk/>
            <pc:sldMk cId="0" sldId="261"/>
            <ac:spMk id="8" creationId="{00000000-0000-0000-0000-000000000000}"/>
          </ac:spMkLst>
        </pc:spChg>
      </pc:sldChg>
      <pc:sldChg chg="modSp mod">
        <pc:chgData name="Niswanth T" userId="c5fc63c99aabd453" providerId="LiveId" clId="{4538323B-623C-49D2-A41B-A3E915F0DD77}" dt="2026-04-22T17:06:55.468" v="48" actId="14100"/>
        <pc:sldMkLst>
          <pc:docMk/>
          <pc:sldMk cId="0" sldId="262"/>
        </pc:sldMkLst>
        <pc:spChg chg="mod">
          <ac:chgData name="Niswanth T" userId="c5fc63c99aabd453" providerId="LiveId" clId="{4538323B-623C-49D2-A41B-A3E915F0DD77}" dt="2026-04-22T17:06:55.468" v="48" actId="14100"/>
          <ac:spMkLst>
            <pc:docMk/>
            <pc:sldMk cId="0" sldId="262"/>
            <ac:spMk id="8" creationId="{00000000-0000-0000-0000-000000000000}"/>
          </ac:spMkLst>
        </pc:spChg>
      </pc:sldChg>
      <pc:sldChg chg="modSp mod">
        <pc:chgData name="Niswanth T" userId="c5fc63c99aabd453" providerId="LiveId" clId="{4538323B-623C-49D2-A41B-A3E915F0DD77}" dt="2026-04-22T17:07:16.239" v="51" actId="14100"/>
        <pc:sldMkLst>
          <pc:docMk/>
          <pc:sldMk cId="0" sldId="263"/>
        </pc:sldMkLst>
        <pc:spChg chg="mod">
          <ac:chgData name="Niswanth T" userId="c5fc63c99aabd453" providerId="LiveId" clId="{4538323B-623C-49D2-A41B-A3E915F0DD77}" dt="2026-04-22T17:07:01.745" v="49" actId="14100"/>
          <ac:spMkLst>
            <pc:docMk/>
            <pc:sldMk cId="0" sldId="263"/>
            <ac:spMk id="8" creationId="{00000000-0000-0000-0000-000000000000}"/>
          </ac:spMkLst>
        </pc:spChg>
        <pc:spChg chg="mod">
          <ac:chgData name="Niswanth T" userId="c5fc63c99aabd453" providerId="LiveId" clId="{4538323B-623C-49D2-A41B-A3E915F0DD77}" dt="2026-04-22T17:07:16.239" v="51" actId="14100"/>
          <ac:spMkLst>
            <pc:docMk/>
            <pc:sldMk cId="0" sldId="263"/>
            <ac:spMk id="11" creationId="{00000000-0000-0000-0000-000000000000}"/>
          </ac:spMkLst>
        </pc:spChg>
      </pc:sldChg>
      <pc:sldChg chg="modSp mod">
        <pc:chgData name="Niswanth T" userId="c5fc63c99aabd453" providerId="LiveId" clId="{4538323B-623C-49D2-A41B-A3E915F0DD77}" dt="2026-04-22T17:07:36.590" v="56" actId="1035"/>
        <pc:sldMkLst>
          <pc:docMk/>
          <pc:sldMk cId="0" sldId="264"/>
        </pc:sldMkLst>
        <pc:spChg chg="mod">
          <ac:chgData name="Niswanth T" userId="c5fc63c99aabd453" providerId="LiveId" clId="{4538323B-623C-49D2-A41B-A3E915F0DD77}" dt="2026-04-22T17:07:36.590" v="56" actId="1035"/>
          <ac:spMkLst>
            <pc:docMk/>
            <pc:sldMk cId="0" sldId="264"/>
            <ac:spMk id="8" creationId="{00000000-0000-0000-0000-000000000000}"/>
          </ac:spMkLst>
        </pc:spChg>
        <pc:grpChg chg="mod">
          <ac:chgData name="Niswanth T" userId="c5fc63c99aabd453" providerId="LiveId" clId="{4538323B-623C-49D2-A41B-A3E915F0DD77}" dt="2026-04-22T17:07:28.771" v="52" actId="1036"/>
          <ac:grpSpMkLst>
            <pc:docMk/>
            <pc:sldMk cId="0" sldId="264"/>
            <ac:grpSpMk id="4" creationId="{00000000-0000-0000-0000-000000000000}"/>
          </ac:grpSpMkLst>
        </pc:grpChg>
      </pc:sldChg>
      <pc:sldChg chg="modSp mod">
        <pc:chgData name="Niswanth T" userId="c5fc63c99aabd453" providerId="LiveId" clId="{4538323B-623C-49D2-A41B-A3E915F0DD77}" dt="2026-04-22T17:14:13.359" v="162" actId="1037"/>
        <pc:sldMkLst>
          <pc:docMk/>
          <pc:sldMk cId="0" sldId="265"/>
        </pc:sldMkLst>
        <pc:spChg chg="mod">
          <ac:chgData name="Niswanth T" userId="c5fc63c99aabd453" providerId="LiveId" clId="{4538323B-623C-49D2-A41B-A3E915F0DD77}" dt="2026-04-22T17:13:47.356" v="159" actId="1036"/>
          <ac:spMkLst>
            <pc:docMk/>
            <pc:sldMk cId="0" sldId="265"/>
            <ac:spMk id="5" creationId="{00000000-0000-0000-0000-000000000000}"/>
          </ac:spMkLst>
        </pc:spChg>
        <pc:spChg chg="mod">
          <ac:chgData name="Niswanth T" userId="c5fc63c99aabd453" providerId="LiveId" clId="{4538323B-623C-49D2-A41B-A3E915F0DD77}" dt="2026-04-22T17:07:51.615" v="61" actId="1037"/>
          <ac:spMkLst>
            <pc:docMk/>
            <pc:sldMk cId="0" sldId="265"/>
            <ac:spMk id="8" creationId="{00000000-0000-0000-0000-000000000000}"/>
          </ac:spMkLst>
        </pc:spChg>
        <pc:spChg chg="mod">
          <ac:chgData name="Niswanth T" userId="c5fc63c99aabd453" providerId="LiveId" clId="{4538323B-623C-49D2-A41B-A3E915F0DD77}" dt="2026-04-22T17:14:13.359" v="162" actId="1037"/>
          <ac:spMkLst>
            <pc:docMk/>
            <pc:sldMk cId="0" sldId="265"/>
            <ac:spMk id="13" creationId="{00000000-0000-0000-0000-000000000000}"/>
          </ac:spMkLst>
        </pc:spChg>
        <pc:spChg chg="mod">
          <ac:chgData name="Niswanth T" userId="c5fc63c99aabd453" providerId="LiveId" clId="{4538323B-623C-49D2-A41B-A3E915F0DD77}" dt="2026-04-22T17:08:04.054" v="63" actId="14100"/>
          <ac:spMkLst>
            <pc:docMk/>
            <pc:sldMk cId="0" sldId="265"/>
            <ac:spMk id="15" creationId="{00000000-0000-0000-0000-000000000000}"/>
          </ac:spMkLst>
        </pc:spChg>
        <pc:spChg chg="mod">
          <ac:chgData name="Niswanth T" userId="c5fc63c99aabd453" providerId="LiveId" clId="{4538323B-623C-49D2-A41B-A3E915F0DD77}" dt="2026-04-22T17:08:25.342" v="75" actId="14100"/>
          <ac:spMkLst>
            <pc:docMk/>
            <pc:sldMk cId="0" sldId="265"/>
            <ac:spMk id="19" creationId="{00000000-0000-0000-0000-000000000000}"/>
          </ac:spMkLst>
        </pc:spChg>
        <pc:grpChg chg="mod">
          <ac:chgData name="Niswanth T" userId="c5fc63c99aabd453" providerId="LiveId" clId="{4538323B-623C-49D2-A41B-A3E915F0DD77}" dt="2026-04-22T17:08:09.881" v="70" actId="1036"/>
          <ac:grpSpMkLst>
            <pc:docMk/>
            <pc:sldMk cId="0" sldId="265"/>
            <ac:grpSpMk id="4" creationId="{00000000-0000-0000-0000-000000000000}"/>
          </ac:grpSpMkLst>
        </pc:grpChg>
      </pc:sldChg>
      <pc:sldChg chg="modSp mod">
        <pc:chgData name="Niswanth T" userId="c5fc63c99aabd453" providerId="LiveId" clId="{4538323B-623C-49D2-A41B-A3E915F0DD77}" dt="2026-04-22T17:09:03.734" v="95" actId="1035"/>
        <pc:sldMkLst>
          <pc:docMk/>
          <pc:sldMk cId="0" sldId="266"/>
        </pc:sldMkLst>
        <pc:spChg chg="mod">
          <ac:chgData name="Niswanth T" userId="c5fc63c99aabd453" providerId="LiveId" clId="{4538323B-623C-49D2-A41B-A3E915F0DD77}" dt="2026-04-22T17:08:46.571" v="80" actId="1037"/>
          <ac:spMkLst>
            <pc:docMk/>
            <pc:sldMk cId="0" sldId="266"/>
            <ac:spMk id="13" creationId="{00000000-0000-0000-0000-000000000000}"/>
          </ac:spMkLst>
        </pc:spChg>
        <pc:spChg chg="mod">
          <ac:chgData name="Niswanth T" userId="c5fc63c99aabd453" providerId="LiveId" clId="{4538323B-623C-49D2-A41B-A3E915F0DD77}" dt="2026-04-22T17:08:52.761" v="85" actId="1035"/>
          <ac:spMkLst>
            <pc:docMk/>
            <pc:sldMk cId="0" sldId="266"/>
            <ac:spMk id="15" creationId="{00000000-0000-0000-0000-000000000000}"/>
          </ac:spMkLst>
        </pc:spChg>
        <pc:spChg chg="mod">
          <ac:chgData name="Niswanth T" userId="c5fc63c99aabd453" providerId="LiveId" clId="{4538323B-623C-49D2-A41B-A3E915F0DD77}" dt="2026-04-22T17:08:56.114" v="89" actId="1035"/>
          <ac:spMkLst>
            <pc:docMk/>
            <pc:sldMk cId="0" sldId="266"/>
            <ac:spMk id="16" creationId="{00000000-0000-0000-0000-000000000000}"/>
          </ac:spMkLst>
        </pc:spChg>
        <pc:spChg chg="mod">
          <ac:chgData name="Niswanth T" userId="c5fc63c99aabd453" providerId="LiveId" clId="{4538323B-623C-49D2-A41B-A3E915F0DD77}" dt="2026-04-22T17:08:59.959" v="90" actId="14100"/>
          <ac:spMkLst>
            <pc:docMk/>
            <pc:sldMk cId="0" sldId="266"/>
            <ac:spMk id="17" creationId="{00000000-0000-0000-0000-000000000000}"/>
          </ac:spMkLst>
        </pc:spChg>
        <pc:spChg chg="mod">
          <ac:chgData name="Niswanth T" userId="c5fc63c99aabd453" providerId="LiveId" clId="{4538323B-623C-49D2-A41B-A3E915F0DD77}" dt="2026-04-22T17:09:03.734" v="95" actId="1035"/>
          <ac:spMkLst>
            <pc:docMk/>
            <pc:sldMk cId="0" sldId="266"/>
            <ac:spMk id="18" creationId="{00000000-0000-0000-0000-000000000000}"/>
          </ac:spMkLst>
        </pc:spChg>
      </pc:sldChg>
      <pc:sldChg chg="modSp mod">
        <pc:chgData name="Niswanth T" userId="c5fc63c99aabd453" providerId="LiveId" clId="{4538323B-623C-49D2-A41B-A3E915F0DD77}" dt="2026-04-22T17:12:55.920" v="147" actId="20577"/>
        <pc:sldMkLst>
          <pc:docMk/>
          <pc:sldMk cId="0" sldId="267"/>
        </pc:sldMkLst>
        <pc:spChg chg="mod">
          <ac:chgData name="Niswanth T" userId="c5fc63c99aabd453" providerId="LiveId" clId="{4538323B-623C-49D2-A41B-A3E915F0DD77}" dt="2026-04-22T17:12:55.920" v="147" actId="20577"/>
          <ac:spMkLst>
            <pc:docMk/>
            <pc:sldMk cId="0" sldId="267"/>
            <ac:spMk id="5" creationId="{00000000-0000-0000-0000-000000000000}"/>
          </ac:spMkLst>
        </pc:spChg>
        <pc:spChg chg="mod">
          <ac:chgData name="Niswanth T" userId="c5fc63c99aabd453" providerId="LiveId" clId="{4538323B-623C-49D2-A41B-A3E915F0DD77}" dt="2026-04-22T17:09:45.719" v="105" actId="1038"/>
          <ac:spMkLst>
            <pc:docMk/>
            <pc:sldMk cId="0" sldId="267"/>
            <ac:spMk id="8" creationId="{00000000-0000-0000-0000-000000000000}"/>
          </ac:spMkLst>
        </pc:spChg>
        <pc:spChg chg="mod">
          <ac:chgData name="Niswanth T" userId="c5fc63c99aabd453" providerId="LiveId" clId="{4538323B-623C-49D2-A41B-A3E915F0DD77}" dt="2026-04-22T17:09:18.225" v="97" actId="1035"/>
          <ac:spMkLst>
            <pc:docMk/>
            <pc:sldMk cId="0" sldId="267"/>
            <ac:spMk id="11" creationId="{00000000-0000-0000-0000-000000000000}"/>
          </ac:spMkLst>
        </pc:spChg>
        <pc:spChg chg="mod">
          <ac:chgData name="Niswanth T" userId="c5fc63c99aabd453" providerId="LiveId" clId="{4538323B-623C-49D2-A41B-A3E915F0DD77}" dt="2026-04-22T17:09:21.742" v="98" actId="14100"/>
          <ac:spMkLst>
            <pc:docMk/>
            <pc:sldMk cId="0" sldId="267"/>
            <ac:spMk id="47" creationId="{00000000-0000-0000-0000-000000000000}"/>
          </ac:spMkLst>
        </pc:spChg>
      </pc:sldChg>
      <pc:sldChg chg="modSp mod">
        <pc:chgData name="Niswanth T" userId="c5fc63c99aabd453" providerId="LiveId" clId="{4538323B-623C-49D2-A41B-A3E915F0DD77}" dt="2026-04-22T17:13:04.668" v="149" actId="1035"/>
        <pc:sldMkLst>
          <pc:docMk/>
          <pc:sldMk cId="0" sldId="268"/>
        </pc:sldMkLst>
        <pc:spChg chg="mod">
          <ac:chgData name="Niswanth T" userId="c5fc63c99aabd453" providerId="LiveId" clId="{4538323B-623C-49D2-A41B-A3E915F0DD77}" dt="2026-04-22T17:13:04.668" v="149" actId="1035"/>
          <ac:spMkLst>
            <pc:docMk/>
            <pc:sldMk cId="0" sldId="268"/>
            <ac:spMk id="8" creationId="{00000000-0000-0000-0000-000000000000}"/>
          </ac:spMkLst>
        </pc:spChg>
        <pc:spChg chg="mod">
          <ac:chgData name="Niswanth T" userId="c5fc63c99aabd453" providerId="LiveId" clId="{4538323B-623C-49D2-A41B-A3E915F0DD77}" dt="2026-04-22T17:10:01.925" v="107" actId="14100"/>
          <ac:spMkLst>
            <pc:docMk/>
            <pc:sldMk cId="0" sldId="268"/>
            <ac:spMk id="9" creationId="{00000000-0000-0000-0000-000000000000}"/>
          </ac:spMkLst>
        </pc:spChg>
        <pc:spChg chg="mod">
          <ac:chgData name="Niswanth T" userId="c5fc63c99aabd453" providerId="LiveId" clId="{4538323B-623C-49D2-A41B-A3E915F0DD77}" dt="2026-04-22T17:10:05.738" v="108" actId="14100"/>
          <ac:spMkLst>
            <pc:docMk/>
            <pc:sldMk cId="0" sldId="268"/>
            <ac:spMk id="36" creationId="{00000000-0000-0000-0000-000000000000}"/>
          </ac:spMkLst>
        </pc:spChg>
        <pc:spChg chg="mod">
          <ac:chgData name="Niswanth T" userId="c5fc63c99aabd453" providerId="LiveId" clId="{4538323B-623C-49D2-A41B-A3E915F0DD77}" dt="2026-04-22T17:10:11.142" v="109" actId="14100"/>
          <ac:spMkLst>
            <pc:docMk/>
            <pc:sldMk cId="0" sldId="268"/>
            <ac:spMk id="52" creationId="{00000000-0000-0000-0000-000000000000}"/>
          </ac:spMkLst>
        </pc:spChg>
      </pc:sldChg>
      <pc:sldChg chg="modSp mod">
        <pc:chgData name="Niswanth T" userId="c5fc63c99aabd453" providerId="LiveId" clId="{4538323B-623C-49D2-A41B-A3E915F0DD77}" dt="2026-04-22T17:10:38.364" v="126" actId="1037"/>
        <pc:sldMkLst>
          <pc:docMk/>
          <pc:sldMk cId="0" sldId="269"/>
        </pc:sldMkLst>
        <pc:spChg chg="mod">
          <ac:chgData name="Niswanth T" userId="c5fc63c99aabd453" providerId="LiveId" clId="{4538323B-623C-49D2-A41B-A3E915F0DD77}" dt="2026-04-22T17:10:22.465" v="110" actId="14100"/>
          <ac:spMkLst>
            <pc:docMk/>
            <pc:sldMk cId="0" sldId="269"/>
            <ac:spMk id="27" creationId="{00000000-0000-0000-0000-000000000000}"/>
          </ac:spMkLst>
        </pc:spChg>
        <pc:spChg chg="mod">
          <ac:chgData name="Niswanth T" userId="c5fc63c99aabd453" providerId="LiveId" clId="{4538323B-623C-49D2-A41B-A3E915F0DD77}" dt="2026-04-22T17:10:38.364" v="126" actId="1037"/>
          <ac:spMkLst>
            <pc:docMk/>
            <pc:sldMk cId="0" sldId="269"/>
            <ac:spMk id="51" creationId="{00000000-0000-0000-0000-000000000000}"/>
          </ac:spMkLst>
        </pc:spChg>
      </pc:sldChg>
      <pc:sldChg chg="modSp mod">
        <pc:chgData name="Niswanth T" userId="c5fc63c99aabd453" providerId="LiveId" clId="{4538323B-623C-49D2-A41B-A3E915F0DD77}" dt="2026-04-22T17:11:15.428" v="132" actId="14100"/>
        <pc:sldMkLst>
          <pc:docMk/>
          <pc:sldMk cId="0" sldId="270"/>
        </pc:sldMkLst>
        <pc:spChg chg="mod">
          <ac:chgData name="Niswanth T" userId="c5fc63c99aabd453" providerId="LiveId" clId="{4538323B-623C-49D2-A41B-A3E915F0DD77}" dt="2026-04-22T17:10:56.656" v="127" actId="14100"/>
          <ac:spMkLst>
            <pc:docMk/>
            <pc:sldMk cId="0" sldId="270"/>
            <ac:spMk id="8" creationId="{00000000-0000-0000-0000-000000000000}"/>
          </ac:spMkLst>
        </pc:spChg>
        <pc:spChg chg="mod">
          <ac:chgData name="Niswanth T" userId="c5fc63c99aabd453" providerId="LiveId" clId="{4538323B-623C-49D2-A41B-A3E915F0DD77}" dt="2026-04-22T17:11:04.803" v="129" actId="14100"/>
          <ac:spMkLst>
            <pc:docMk/>
            <pc:sldMk cId="0" sldId="270"/>
            <ac:spMk id="16" creationId="{00000000-0000-0000-0000-000000000000}"/>
          </ac:spMkLst>
        </pc:spChg>
        <pc:spChg chg="mod">
          <ac:chgData name="Niswanth T" userId="c5fc63c99aabd453" providerId="LiveId" clId="{4538323B-623C-49D2-A41B-A3E915F0DD77}" dt="2026-04-22T17:11:01.952" v="128" actId="14100"/>
          <ac:spMkLst>
            <pc:docMk/>
            <pc:sldMk cId="0" sldId="270"/>
            <ac:spMk id="23" creationId="{00000000-0000-0000-0000-000000000000}"/>
          </ac:spMkLst>
        </pc:spChg>
        <pc:spChg chg="mod">
          <ac:chgData name="Niswanth T" userId="c5fc63c99aabd453" providerId="LiveId" clId="{4538323B-623C-49D2-A41B-A3E915F0DD77}" dt="2026-04-22T17:11:07.585" v="130" actId="14100"/>
          <ac:spMkLst>
            <pc:docMk/>
            <pc:sldMk cId="0" sldId="270"/>
            <ac:spMk id="30" creationId="{00000000-0000-0000-0000-000000000000}"/>
          </ac:spMkLst>
        </pc:spChg>
        <pc:spChg chg="mod">
          <ac:chgData name="Niswanth T" userId="c5fc63c99aabd453" providerId="LiveId" clId="{4538323B-623C-49D2-A41B-A3E915F0DD77}" dt="2026-04-22T17:11:11.151" v="131" actId="14100"/>
          <ac:spMkLst>
            <pc:docMk/>
            <pc:sldMk cId="0" sldId="270"/>
            <ac:spMk id="37" creationId="{00000000-0000-0000-0000-000000000000}"/>
          </ac:spMkLst>
        </pc:spChg>
        <pc:spChg chg="mod">
          <ac:chgData name="Niswanth T" userId="c5fc63c99aabd453" providerId="LiveId" clId="{4538323B-623C-49D2-A41B-A3E915F0DD77}" dt="2026-04-22T17:11:15.428" v="132" actId="14100"/>
          <ac:spMkLst>
            <pc:docMk/>
            <pc:sldMk cId="0" sldId="270"/>
            <ac:spMk id="51" creationId="{00000000-0000-0000-0000-000000000000}"/>
          </ac:spMkLst>
        </pc:spChg>
      </pc:sldChg>
      <pc:sldChg chg="addSp delSp modSp new mod ord">
        <pc:chgData name="Niswanth T" userId="c5fc63c99aabd453" providerId="LiveId" clId="{4538323B-623C-49D2-A41B-A3E915F0DD77}" dt="2026-04-26T04:51:31.951" v="512" actId="1076"/>
        <pc:sldMkLst>
          <pc:docMk/>
          <pc:sldMk cId="2531464898" sldId="271"/>
        </pc:sldMkLst>
        <pc:spChg chg="mod">
          <ac:chgData name="Niswanth T" userId="c5fc63c99aabd453" providerId="LiveId" clId="{4538323B-623C-49D2-A41B-A3E915F0DD77}" dt="2026-04-26T04:42:02.685" v="184"/>
          <ac:spMkLst>
            <pc:docMk/>
            <pc:sldMk cId="2531464898" sldId="271"/>
            <ac:spMk id="5" creationId="{78128277-A44C-B2CB-8CAE-1E00C01FE668}"/>
          </ac:spMkLst>
        </pc:spChg>
        <pc:spChg chg="add mod">
          <ac:chgData name="Niswanth T" userId="c5fc63c99aabd453" providerId="LiveId" clId="{4538323B-623C-49D2-A41B-A3E915F0DD77}" dt="2026-04-26T04:43:02.924" v="195" actId="14100"/>
          <ac:spMkLst>
            <pc:docMk/>
            <pc:sldMk cId="2531464898" sldId="271"/>
            <ac:spMk id="6" creationId="{FB7171BE-F608-4429-CEEF-3E4D9599D7CA}"/>
          </ac:spMkLst>
        </pc:spChg>
        <pc:spChg chg="add mod">
          <ac:chgData name="Niswanth T" userId="c5fc63c99aabd453" providerId="LiveId" clId="{4538323B-623C-49D2-A41B-A3E915F0DD77}" dt="2026-04-26T04:43:22.189" v="196" actId="1076"/>
          <ac:spMkLst>
            <pc:docMk/>
            <pc:sldMk cId="2531464898" sldId="271"/>
            <ac:spMk id="7" creationId="{F8D84A99-E014-4D0B-5847-2308173BD371}"/>
          </ac:spMkLst>
        </pc:spChg>
        <pc:spChg chg="add mod">
          <ac:chgData name="Niswanth T" userId="c5fc63c99aabd453" providerId="LiveId" clId="{4538323B-623C-49D2-A41B-A3E915F0DD77}" dt="2026-04-26T04:49:58.286" v="500" actId="255"/>
          <ac:spMkLst>
            <pc:docMk/>
            <pc:sldMk cId="2531464898" sldId="271"/>
            <ac:spMk id="8" creationId="{C72C8B77-A593-9DA8-E9F5-07E15B436AAB}"/>
          </ac:spMkLst>
        </pc:spChg>
        <pc:spChg chg="add mod">
          <ac:chgData name="Niswanth T" userId="c5fc63c99aabd453" providerId="LiveId" clId="{4538323B-623C-49D2-A41B-A3E915F0DD77}" dt="2026-04-26T04:51:31.951" v="512" actId="1076"/>
          <ac:spMkLst>
            <pc:docMk/>
            <pc:sldMk cId="2531464898" sldId="271"/>
            <ac:spMk id="9" creationId="{F45FFE43-6FEB-719B-2B97-9BADBB0C25C4}"/>
          </ac:spMkLst>
        </pc:spChg>
        <pc:grpChg chg="add del mod">
          <ac:chgData name="Niswanth T" userId="c5fc63c99aabd453" providerId="LiveId" clId="{4538323B-623C-49D2-A41B-A3E915F0DD77}" dt="2026-04-26T04:42:07.637" v="185" actId="478"/>
          <ac:grpSpMkLst>
            <pc:docMk/>
            <pc:sldMk cId="2531464898" sldId="271"/>
            <ac:grpSpMk id="4" creationId="{4BD57C11-936D-DCEC-F26D-342C29BB2044}"/>
          </ac:grpSpMkLst>
        </pc:grpChg>
        <pc:picChg chg="add mod">
          <ac:chgData name="Niswanth T" userId="c5fc63c99aabd453" providerId="LiveId" clId="{4538323B-623C-49D2-A41B-A3E915F0DD77}" dt="2026-04-26T04:41:25.244" v="177" actId="14100"/>
          <ac:picMkLst>
            <pc:docMk/>
            <pc:sldMk cId="2531464898" sldId="271"/>
            <ac:picMk id="2" creationId="{BE4EAB98-4157-9776-5EA4-D9F6562830A1}"/>
          </ac:picMkLst>
        </pc:picChg>
        <pc:picChg chg="add mod">
          <ac:chgData name="Niswanth T" userId="c5fc63c99aabd453" providerId="LiveId" clId="{4538323B-623C-49D2-A41B-A3E915F0DD77}" dt="2026-04-26T04:41:45.567" v="182" actId="1076"/>
          <ac:picMkLst>
            <pc:docMk/>
            <pc:sldMk cId="2531464898" sldId="271"/>
            <ac:picMk id="3" creationId="{EA47A0A3-FBF3-81AD-3502-3D5BD7C9F71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52754"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0" y="0"/>
            <a:ext cx="6858000" cy="10287000"/>
            <a:chOff x="0" y="0"/>
            <a:chExt cx="9144000" cy="13716000"/>
          </a:xfrm>
        </p:grpSpPr>
        <p:sp>
          <p:nvSpPr>
            <p:cNvPr id="7" name="Freeform 7"/>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close/>
                </a:path>
              </a:pathLst>
            </a:custGeom>
            <a:solidFill>
              <a:srgbClr val="FFFFFF"/>
            </a:solidFill>
          </p:spPr>
        </p:sp>
      </p:grpSp>
      <p:grpSp>
        <p:nvGrpSpPr>
          <p:cNvPr id="8" name="Group 8"/>
          <p:cNvGrpSpPr/>
          <p:nvPr/>
        </p:nvGrpSpPr>
        <p:grpSpPr>
          <a:xfrm>
            <a:off x="14109536" y="362522"/>
            <a:ext cx="3827540" cy="448994"/>
            <a:chOff x="0" y="0"/>
            <a:chExt cx="5155806" cy="573850"/>
          </a:xfrm>
        </p:grpSpPr>
        <p:sp>
          <p:nvSpPr>
            <p:cNvPr id="9" name="Freeform 9"/>
            <p:cNvSpPr/>
            <p:nvPr/>
          </p:nvSpPr>
          <p:spPr>
            <a:xfrm>
              <a:off x="0" y="0"/>
              <a:ext cx="5155946" cy="573913"/>
            </a:xfrm>
            <a:custGeom>
              <a:avLst/>
              <a:gdLst/>
              <a:ahLst/>
              <a:cxnLst/>
              <a:rect l="l" t="t" r="r" b="b"/>
              <a:pathLst>
                <a:path w="5155946" h="573913">
                  <a:moveTo>
                    <a:pt x="0" y="225933"/>
                  </a:moveTo>
                  <a:cubicBezTo>
                    <a:pt x="0" y="101092"/>
                    <a:pt x="101092" y="0"/>
                    <a:pt x="225933" y="0"/>
                  </a:cubicBezTo>
                  <a:lnTo>
                    <a:pt x="4930013" y="0"/>
                  </a:lnTo>
                  <a:cubicBezTo>
                    <a:pt x="5054727" y="0"/>
                    <a:pt x="5155946" y="101092"/>
                    <a:pt x="5155946" y="225933"/>
                  </a:cubicBezTo>
                  <a:lnTo>
                    <a:pt x="5155946" y="347980"/>
                  </a:lnTo>
                  <a:cubicBezTo>
                    <a:pt x="5155946" y="472694"/>
                    <a:pt x="5054854" y="573913"/>
                    <a:pt x="4930013" y="573913"/>
                  </a:cubicBezTo>
                  <a:lnTo>
                    <a:pt x="225933" y="573913"/>
                  </a:lnTo>
                  <a:cubicBezTo>
                    <a:pt x="101092" y="573913"/>
                    <a:pt x="0" y="472694"/>
                    <a:pt x="0" y="347980"/>
                  </a:cubicBezTo>
                  <a:close/>
                </a:path>
              </a:pathLst>
            </a:custGeom>
            <a:solidFill>
              <a:srgbClr val="C55A11"/>
            </a:solidFill>
          </p:spPr>
        </p:sp>
      </p:grpSp>
      <p:sp>
        <p:nvSpPr>
          <p:cNvPr id="10" name="TextBox 10"/>
          <p:cNvSpPr txBox="1"/>
          <p:nvPr/>
        </p:nvSpPr>
        <p:spPr>
          <a:xfrm>
            <a:off x="14463903" y="447923"/>
            <a:ext cx="3473172" cy="265112"/>
          </a:xfrm>
          <a:prstGeom prst="rect">
            <a:avLst/>
          </a:prstGeom>
        </p:spPr>
        <p:txBody>
          <a:bodyPr lIns="0" tIns="0" rIns="0" bIns="0" rtlCol="0" anchor="t">
            <a:spAutoFit/>
          </a:bodyPr>
          <a:lstStyle/>
          <a:p>
            <a:pPr algn="l">
              <a:lnSpc>
                <a:spcPts val="2187"/>
              </a:lnSpc>
            </a:pPr>
            <a:r>
              <a:rPr lang="en-US" sz="1600" b="1" spc="7" dirty="0">
                <a:solidFill>
                  <a:srgbClr val="FFFFFF"/>
                </a:solidFill>
                <a:latin typeface="Merriweather Sans Bold"/>
                <a:ea typeface="Merriweather Sans Bold"/>
                <a:cs typeface="Merriweather Sans Bold"/>
                <a:sym typeface="Merriweather Sans Bold"/>
              </a:rPr>
              <a:t>NEXT-GENERATION PLATFORM</a:t>
            </a:r>
          </a:p>
        </p:txBody>
      </p:sp>
      <p:sp>
        <p:nvSpPr>
          <p:cNvPr id="11" name="TextBox 11"/>
          <p:cNvSpPr txBox="1"/>
          <p:nvPr/>
        </p:nvSpPr>
        <p:spPr>
          <a:xfrm>
            <a:off x="7696200" y="2607164"/>
            <a:ext cx="5717677" cy="657520"/>
          </a:xfrm>
          <a:prstGeom prst="rect">
            <a:avLst/>
          </a:prstGeom>
        </p:spPr>
        <p:txBody>
          <a:bodyPr lIns="0" tIns="0" rIns="0" bIns="0" rtlCol="0" anchor="t">
            <a:spAutoFit/>
          </a:bodyPr>
          <a:lstStyle/>
          <a:p>
            <a:pPr algn="l">
              <a:lnSpc>
                <a:spcPts val="5625"/>
              </a:lnSpc>
            </a:pPr>
            <a:r>
              <a:rPr lang="en-US" sz="5500" b="1" dirty="0" err="1">
                <a:solidFill>
                  <a:srgbClr val="0C0D0F"/>
                </a:solidFill>
                <a:latin typeface="Arimo Bold"/>
                <a:ea typeface="Arimo Bold"/>
                <a:cs typeface="Arimo Bold"/>
                <a:sym typeface="Arimo Bold"/>
              </a:rPr>
              <a:t>BioSync</a:t>
            </a:r>
            <a:endParaRPr lang="en-US" sz="5500" b="1" dirty="0">
              <a:solidFill>
                <a:srgbClr val="0C0D0F"/>
              </a:solidFill>
              <a:latin typeface="Arimo Bold"/>
              <a:ea typeface="Arimo Bold"/>
              <a:cs typeface="Arimo Bold"/>
              <a:sym typeface="Arimo Bold"/>
            </a:endParaRPr>
          </a:p>
        </p:txBody>
      </p:sp>
      <p:sp>
        <p:nvSpPr>
          <p:cNvPr id="12" name="TextBox 12"/>
          <p:cNvSpPr txBox="1"/>
          <p:nvPr/>
        </p:nvSpPr>
        <p:spPr>
          <a:xfrm>
            <a:off x="7696791" y="3485855"/>
            <a:ext cx="9600609" cy="1124245"/>
          </a:xfrm>
          <a:prstGeom prst="rect">
            <a:avLst/>
          </a:prstGeom>
        </p:spPr>
        <p:txBody>
          <a:bodyPr lIns="0" tIns="0" rIns="0" bIns="0" rtlCol="0" anchor="t">
            <a:spAutoFit/>
          </a:bodyPr>
          <a:lstStyle/>
          <a:p>
            <a:pPr algn="l">
              <a:lnSpc>
                <a:spcPts val="4500"/>
              </a:lnSpc>
            </a:pPr>
            <a:r>
              <a:rPr lang="en-US" sz="4000" spc="16" dirty="0">
                <a:solidFill>
                  <a:srgbClr val="020202"/>
                </a:solidFill>
                <a:latin typeface="Merriweather Sans Light"/>
                <a:ea typeface="Merriweather Sans Light"/>
                <a:cs typeface="Merriweather Sans Light"/>
                <a:sym typeface="Merriweather Sans Light"/>
              </a:rPr>
              <a:t>Smart Automation &amp; Analytics Platform</a:t>
            </a:r>
          </a:p>
        </p:txBody>
      </p:sp>
      <p:sp>
        <p:nvSpPr>
          <p:cNvPr id="13" name="TextBox 13"/>
          <p:cNvSpPr txBox="1"/>
          <p:nvPr/>
        </p:nvSpPr>
        <p:spPr>
          <a:xfrm>
            <a:off x="7759998" y="4319549"/>
            <a:ext cx="9600609" cy="3229023"/>
          </a:xfrm>
          <a:prstGeom prst="rect">
            <a:avLst/>
          </a:prstGeom>
        </p:spPr>
        <p:txBody>
          <a:bodyPr lIns="0" tIns="0" rIns="0" bIns="0" rtlCol="0" anchor="t">
            <a:spAutoFit/>
          </a:bodyPr>
          <a:lstStyle/>
          <a:p>
            <a:pPr algn="just">
              <a:lnSpc>
                <a:spcPts val="2749"/>
              </a:lnSpc>
            </a:pPr>
            <a:r>
              <a:rPr lang="en-US" sz="2249">
                <a:solidFill>
                  <a:srgbClr val="262626"/>
                </a:solidFill>
                <a:latin typeface="Arimo"/>
                <a:ea typeface="Arimo"/>
                <a:cs typeface="Arimo"/>
                <a:sym typeface="Arimo"/>
              </a:rPr>
              <a:t>BIOSYNC is a purpose-built institutional automation platform that bridges the gap between biometric device data and actionable administrative intelligence. </a:t>
            </a:r>
          </a:p>
          <a:p>
            <a:pPr algn="just">
              <a:lnSpc>
                <a:spcPts val="2749"/>
              </a:lnSpc>
            </a:pPr>
            <a:endParaRPr lang="en-US" sz="2249">
              <a:solidFill>
                <a:srgbClr val="262626"/>
              </a:solidFill>
              <a:latin typeface="Arimo"/>
              <a:ea typeface="Arimo"/>
              <a:cs typeface="Arimo"/>
              <a:sym typeface="Arimo"/>
            </a:endParaRPr>
          </a:p>
          <a:p>
            <a:pPr algn="just">
              <a:lnSpc>
                <a:spcPts val="2749"/>
              </a:lnSpc>
            </a:pPr>
            <a:r>
              <a:rPr lang="en-US" sz="2249">
                <a:solidFill>
                  <a:srgbClr val="262626"/>
                </a:solidFill>
                <a:latin typeface="Arimo"/>
                <a:ea typeface="Arimo"/>
                <a:cs typeface="Arimo"/>
                <a:sym typeface="Arimo"/>
              </a:rPr>
              <a:t>Built for the real-world demands of educational institutions, BIOSYNC handles everything from raw data ingestion to structured reporting, automated communication, and cloud-backed archival — all without manual intervention.</a:t>
            </a:r>
          </a:p>
        </p:txBody>
      </p:sp>
      <p:grpSp>
        <p:nvGrpSpPr>
          <p:cNvPr id="14" name="Group 14"/>
          <p:cNvGrpSpPr/>
          <p:nvPr/>
        </p:nvGrpSpPr>
        <p:grpSpPr>
          <a:xfrm>
            <a:off x="797719" y="1872967"/>
            <a:ext cx="6060281" cy="5834062"/>
            <a:chOff x="0" y="0"/>
            <a:chExt cx="8080375" cy="7778750"/>
          </a:xfrm>
        </p:grpSpPr>
        <p:sp>
          <p:nvSpPr>
            <p:cNvPr id="15" name="Freeform 15"/>
            <p:cNvSpPr/>
            <p:nvPr/>
          </p:nvSpPr>
          <p:spPr>
            <a:xfrm>
              <a:off x="0" y="0"/>
              <a:ext cx="8080375" cy="7778750"/>
            </a:xfrm>
            <a:custGeom>
              <a:avLst/>
              <a:gdLst/>
              <a:ahLst/>
              <a:cxnLst/>
              <a:rect l="l" t="t" r="r" b="b"/>
              <a:pathLst>
                <a:path w="8080375" h="7778750">
                  <a:moveTo>
                    <a:pt x="0" y="0"/>
                  </a:moveTo>
                  <a:lnTo>
                    <a:pt x="8080375" y="0"/>
                  </a:lnTo>
                  <a:lnTo>
                    <a:pt x="8080375" y="7778750"/>
                  </a:lnTo>
                  <a:lnTo>
                    <a:pt x="0" y="7778750"/>
                  </a:lnTo>
                  <a:lnTo>
                    <a:pt x="0" y="0"/>
                  </a:lnTo>
                  <a:close/>
                </a:path>
              </a:pathLst>
            </a:custGeom>
            <a:blipFill>
              <a:blip r:embed="rId3"/>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647433" y="608133"/>
            <a:ext cx="2774537" cy="595951"/>
            <a:chOff x="0" y="0"/>
            <a:chExt cx="3699383" cy="794601"/>
          </a:xfrm>
        </p:grpSpPr>
        <p:sp>
          <p:nvSpPr>
            <p:cNvPr id="7" name="Freeform 7"/>
            <p:cNvSpPr/>
            <p:nvPr/>
          </p:nvSpPr>
          <p:spPr>
            <a:xfrm>
              <a:off x="0" y="0"/>
              <a:ext cx="3699383" cy="794639"/>
            </a:xfrm>
            <a:custGeom>
              <a:avLst/>
              <a:gdLst/>
              <a:ahLst/>
              <a:cxnLst/>
              <a:rect l="l" t="t" r="r" b="b"/>
              <a:pathLst>
                <a:path w="3699383" h="794639">
                  <a:moveTo>
                    <a:pt x="0" y="331978"/>
                  </a:moveTo>
                  <a:cubicBezTo>
                    <a:pt x="0" y="148590"/>
                    <a:pt x="150622" y="0"/>
                    <a:pt x="336169" y="0"/>
                  </a:cubicBezTo>
                  <a:lnTo>
                    <a:pt x="3363214" y="0"/>
                  </a:lnTo>
                  <a:lnTo>
                    <a:pt x="3363214" y="6350"/>
                  </a:lnTo>
                  <a:lnTo>
                    <a:pt x="3363214" y="0"/>
                  </a:lnTo>
                  <a:cubicBezTo>
                    <a:pt x="3548761" y="0"/>
                    <a:pt x="3699383" y="148590"/>
                    <a:pt x="3699383" y="331978"/>
                  </a:cubicBezTo>
                  <a:lnTo>
                    <a:pt x="3693033" y="331978"/>
                  </a:lnTo>
                  <a:lnTo>
                    <a:pt x="3699383" y="331978"/>
                  </a:lnTo>
                  <a:lnTo>
                    <a:pt x="3699383" y="462661"/>
                  </a:lnTo>
                  <a:lnTo>
                    <a:pt x="3693033" y="462661"/>
                  </a:lnTo>
                  <a:lnTo>
                    <a:pt x="3699383" y="462661"/>
                  </a:lnTo>
                  <a:cubicBezTo>
                    <a:pt x="3699383" y="646049"/>
                    <a:pt x="3548761" y="794639"/>
                    <a:pt x="3363214" y="794639"/>
                  </a:cubicBezTo>
                  <a:lnTo>
                    <a:pt x="3363214" y="788289"/>
                  </a:lnTo>
                  <a:lnTo>
                    <a:pt x="3363214" y="794639"/>
                  </a:lnTo>
                  <a:lnTo>
                    <a:pt x="336169" y="794639"/>
                  </a:lnTo>
                  <a:lnTo>
                    <a:pt x="336169" y="788289"/>
                  </a:lnTo>
                  <a:lnTo>
                    <a:pt x="336169" y="794639"/>
                  </a:lnTo>
                  <a:cubicBezTo>
                    <a:pt x="150622" y="794639"/>
                    <a:pt x="0" y="646049"/>
                    <a:pt x="0" y="462661"/>
                  </a:cubicBezTo>
                  <a:lnTo>
                    <a:pt x="0" y="331978"/>
                  </a:lnTo>
                  <a:lnTo>
                    <a:pt x="6350" y="331978"/>
                  </a:lnTo>
                  <a:lnTo>
                    <a:pt x="0" y="331978"/>
                  </a:lnTo>
                  <a:moveTo>
                    <a:pt x="12700" y="331978"/>
                  </a:moveTo>
                  <a:lnTo>
                    <a:pt x="12700" y="462661"/>
                  </a:lnTo>
                  <a:lnTo>
                    <a:pt x="6350" y="462661"/>
                  </a:lnTo>
                  <a:lnTo>
                    <a:pt x="12700" y="462661"/>
                  </a:lnTo>
                  <a:cubicBezTo>
                    <a:pt x="12700" y="638810"/>
                    <a:pt x="157480" y="781939"/>
                    <a:pt x="336169" y="781939"/>
                  </a:cubicBezTo>
                  <a:lnTo>
                    <a:pt x="3363214" y="781939"/>
                  </a:lnTo>
                  <a:cubicBezTo>
                    <a:pt x="3541903" y="781939"/>
                    <a:pt x="3686683" y="638937"/>
                    <a:pt x="3686683" y="462661"/>
                  </a:cubicBezTo>
                  <a:lnTo>
                    <a:pt x="3686683" y="331978"/>
                  </a:lnTo>
                  <a:cubicBezTo>
                    <a:pt x="3686683" y="155702"/>
                    <a:pt x="3541903" y="12700"/>
                    <a:pt x="3363214" y="12700"/>
                  </a:cubicBezTo>
                  <a:lnTo>
                    <a:pt x="336169" y="12700"/>
                  </a:lnTo>
                  <a:lnTo>
                    <a:pt x="336169" y="6350"/>
                  </a:lnTo>
                  <a:lnTo>
                    <a:pt x="336169" y="12700"/>
                  </a:lnTo>
                  <a:cubicBezTo>
                    <a:pt x="157480" y="12700"/>
                    <a:pt x="12700" y="155702"/>
                    <a:pt x="12700" y="331978"/>
                  </a:cubicBezTo>
                  <a:close/>
                </a:path>
              </a:pathLst>
            </a:custGeom>
            <a:solidFill>
              <a:srgbClr val="FF7047"/>
            </a:solidFill>
          </p:spPr>
        </p:sp>
      </p:grpSp>
      <p:sp>
        <p:nvSpPr>
          <p:cNvPr id="8" name="TextBox 8"/>
          <p:cNvSpPr txBox="1"/>
          <p:nvPr/>
        </p:nvSpPr>
        <p:spPr>
          <a:xfrm>
            <a:off x="990600" y="923953"/>
            <a:ext cx="2379659" cy="180947"/>
          </a:xfrm>
          <a:prstGeom prst="rect">
            <a:avLst/>
          </a:prstGeom>
        </p:spPr>
        <p:txBody>
          <a:bodyPr wrap="square" lIns="0" tIns="0" rIns="0" bIns="0" rtlCol="0" anchor="t">
            <a:spAutoFit/>
          </a:bodyPr>
          <a:lstStyle/>
          <a:p>
            <a:pPr algn="l">
              <a:lnSpc>
                <a:spcPts val="1124"/>
              </a:lnSpc>
            </a:pPr>
            <a:r>
              <a:rPr lang="en-US" sz="2249" b="1" spc="9" dirty="0">
                <a:solidFill>
                  <a:srgbClr val="FF7047"/>
                </a:solidFill>
                <a:latin typeface="Merriweather Sans Bold"/>
                <a:ea typeface="Merriweather Sans Bold"/>
                <a:cs typeface="Merriweather Sans Bold"/>
                <a:sym typeface="Merriweather Sans Bold"/>
              </a:rPr>
              <a:t>THE PROBLEM</a:t>
            </a:r>
          </a:p>
        </p:txBody>
      </p:sp>
      <p:sp>
        <p:nvSpPr>
          <p:cNvPr id="9" name="TextBox 9"/>
          <p:cNvSpPr txBox="1"/>
          <p:nvPr/>
        </p:nvSpPr>
        <p:spPr>
          <a:xfrm>
            <a:off x="640423" y="1689249"/>
            <a:ext cx="7007076" cy="347662"/>
          </a:xfrm>
          <a:prstGeom prst="rect">
            <a:avLst/>
          </a:prstGeom>
        </p:spPr>
        <p:txBody>
          <a:bodyPr lIns="0" tIns="0" rIns="0" bIns="0" rtlCol="0" anchor="t">
            <a:spAutoFit/>
          </a:bodyPr>
          <a:lstStyle/>
          <a:p>
            <a:pPr algn="l">
              <a:lnSpc>
                <a:spcPts val="3312"/>
              </a:lnSpc>
            </a:pPr>
            <a:r>
              <a:rPr lang="en-US" sz="3500">
                <a:solidFill>
                  <a:srgbClr val="0C0D0F"/>
                </a:solidFill>
                <a:latin typeface="Inter"/>
                <a:ea typeface="Inter"/>
                <a:cs typeface="Inter"/>
                <a:sym typeface="Inter"/>
              </a:rPr>
              <a:t>The Institutional Attendance Gap</a:t>
            </a:r>
          </a:p>
        </p:txBody>
      </p:sp>
      <p:sp>
        <p:nvSpPr>
          <p:cNvPr id="10" name="TextBox 10"/>
          <p:cNvSpPr txBox="1"/>
          <p:nvPr/>
        </p:nvSpPr>
        <p:spPr>
          <a:xfrm>
            <a:off x="640423" y="2443724"/>
            <a:ext cx="8220770" cy="2778223"/>
          </a:xfrm>
          <a:prstGeom prst="rect">
            <a:avLst/>
          </a:prstGeom>
        </p:spPr>
        <p:txBody>
          <a:bodyPr lIns="0" tIns="0" rIns="0" bIns="0" rtlCol="0" anchor="t">
            <a:spAutoFit/>
          </a:bodyPr>
          <a:lstStyle/>
          <a:p>
            <a:pPr algn="just">
              <a:lnSpc>
                <a:spcPts val="2400"/>
              </a:lnSpc>
            </a:pPr>
            <a:r>
              <a:rPr lang="en-US" sz="2000">
                <a:solidFill>
                  <a:srgbClr val="262626"/>
                </a:solidFill>
                <a:latin typeface="Arimo"/>
                <a:ea typeface="Arimo"/>
                <a:cs typeface="Arimo"/>
                <a:sym typeface="Arimo"/>
              </a:rPr>
              <a:t>Across educational institutions, attendance management remains one of the most operationally expensive and manually intensive workflows. Biometric devices capture data reliably — but that data rarely translates directly into usable administrative output. The gap between a biometric log and a decision-ready report is filled with repetitive manual effort, inconsistent processes, and institutional risk.</a:t>
            </a:r>
          </a:p>
        </p:txBody>
      </p:sp>
      <p:grpSp>
        <p:nvGrpSpPr>
          <p:cNvPr id="11" name="Group 11"/>
          <p:cNvGrpSpPr/>
          <p:nvPr/>
        </p:nvGrpSpPr>
        <p:grpSpPr>
          <a:xfrm>
            <a:off x="789499" y="5488819"/>
            <a:ext cx="6858000" cy="4319006"/>
            <a:chOff x="0" y="0"/>
            <a:chExt cx="9144000" cy="5758675"/>
          </a:xfrm>
        </p:grpSpPr>
        <p:sp>
          <p:nvSpPr>
            <p:cNvPr id="12" name="Freeform 12"/>
            <p:cNvSpPr/>
            <p:nvPr/>
          </p:nvSpPr>
          <p:spPr>
            <a:xfrm>
              <a:off x="0" y="0"/>
              <a:ext cx="9144000" cy="5758688"/>
            </a:xfrm>
            <a:custGeom>
              <a:avLst/>
              <a:gdLst/>
              <a:ahLst/>
              <a:cxnLst/>
              <a:rect l="l" t="t" r="r" b="b"/>
              <a:pathLst>
                <a:path w="9144000" h="5758688">
                  <a:moveTo>
                    <a:pt x="0" y="588899"/>
                  </a:moveTo>
                  <a:cubicBezTo>
                    <a:pt x="0" y="263652"/>
                    <a:pt x="263652" y="0"/>
                    <a:pt x="588899" y="0"/>
                  </a:cubicBezTo>
                  <a:lnTo>
                    <a:pt x="8555101" y="0"/>
                  </a:lnTo>
                  <a:cubicBezTo>
                    <a:pt x="8880348" y="0"/>
                    <a:pt x="9144000" y="263652"/>
                    <a:pt x="9144000" y="588899"/>
                  </a:cubicBezTo>
                  <a:lnTo>
                    <a:pt x="9144000" y="5169789"/>
                  </a:lnTo>
                  <a:cubicBezTo>
                    <a:pt x="9144000" y="5495036"/>
                    <a:pt x="8880348" y="5758688"/>
                    <a:pt x="8555101" y="5758688"/>
                  </a:cubicBezTo>
                  <a:lnTo>
                    <a:pt x="588899" y="5758688"/>
                  </a:lnTo>
                  <a:cubicBezTo>
                    <a:pt x="263652" y="5758688"/>
                    <a:pt x="0" y="5495036"/>
                    <a:pt x="0" y="5169789"/>
                  </a:cubicBezTo>
                  <a:close/>
                </a:path>
              </a:pathLst>
            </a:custGeom>
            <a:solidFill>
              <a:srgbClr val="F4B183"/>
            </a:solidFill>
          </p:spPr>
        </p:sp>
      </p:grpSp>
      <p:sp>
        <p:nvSpPr>
          <p:cNvPr id="13" name="TextBox 13"/>
          <p:cNvSpPr txBox="1"/>
          <p:nvPr/>
        </p:nvSpPr>
        <p:spPr>
          <a:xfrm>
            <a:off x="1374315" y="5789333"/>
            <a:ext cx="4588135" cy="584464"/>
          </a:xfrm>
          <a:prstGeom prst="rect">
            <a:avLst/>
          </a:prstGeom>
        </p:spPr>
        <p:txBody>
          <a:bodyPr lIns="0" tIns="0" rIns="0" bIns="0" rtlCol="0" anchor="t">
            <a:spAutoFit/>
          </a:bodyPr>
          <a:lstStyle/>
          <a:p>
            <a:pPr algn="l">
              <a:lnSpc>
                <a:spcPts val="2999"/>
              </a:lnSpc>
            </a:pPr>
            <a:r>
              <a:rPr lang="en-US" sz="2499">
                <a:solidFill>
                  <a:srgbClr val="262626"/>
                </a:solidFill>
                <a:latin typeface="Inter"/>
                <a:ea typeface="Inter"/>
                <a:cs typeface="Inter"/>
                <a:sym typeface="Inter"/>
              </a:rPr>
              <a:t>Manual Attendance Workflow</a:t>
            </a:r>
          </a:p>
        </p:txBody>
      </p:sp>
      <p:sp>
        <p:nvSpPr>
          <p:cNvPr id="14" name="TextBox 14"/>
          <p:cNvSpPr txBox="1"/>
          <p:nvPr/>
        </p:nvSpPr>
        <p:spPr>
          <a:xfrm>
            <a:off x="1315679" y="6280909"/>
            <a:ext cx="6086704" cy="3526917"/>
          </a:xfrm>
          <a:prstGeom prst="rect">
            <a:avLst/>
          </a:prstGeom>
        </p:spPr>
        <p:txBody>
          <a:bodyPr lIns="0" tIns="0" rIns="0" bIns="0" rtlCol="0" anchor="t">
            <a:spAutoFit/>
          </a:bodyPr>
          <a:lstStyle/>
          <a:p>
            <a:pPr marL="263922" lvl="1" indent="-131961" algn="l">
              <a:lnSpc>
                <a:spcPts val="2100"/>
              </a:lnSpc>
              <a:buFont typeface="Arial"/>
              <a:buChar char="•"/>
            </a:pPr>
            <a:r>
              <a:rPr lang="en-US" sz="1750">
                <a:solidFill>
                  <a:srgbClr val="262626"/>
                </a:solidFill>
                <a:latin typeface="Arimo"/>
                <a:ea typeface="Arimo"/>
                <a:cs typeface="Arimo"/>
                <a:sym typeface="Arimo"/>
              </a:rPr>
              <a:t>Raw logs exported manually from biometric device</a:t>
            </a:r>
          </a:p>
          <a:p>
            <a:pPr marL="263922" lvl="1" indent="-131961" algn="l">
              <a:lnSpc>
                <a:spcPts val="2100"/>
              </a:lnSpc>
              <a:buFont typeface="Arial"/>
              <a:buChar char="•"/>
            </a:pPr>
            <a:r>
              <a:rPr lang="en-US" sz="1750">
                <a:solidFill>
                  <a:srgbClr val="262626"/>
                </a:solidFill>
                <a:latin typeface="Arimo"/>
                <a:ea typeface="Arimo"/>
                <a:cs typeface="Arimo"/>
                <a:sym typeface="Arimo"/>
              </a:rPr>
              <a:t>Faculty spend hours converting CSV data into structured formats</a:t>
            </a:r>
          </a:p>
          <a:p>
            <a:pPr marL="263922" lvl="1" indent="-131961" algn="l">
              <a:lnSpc>
                <a:spcPts val="2100"/>
              </a:lnSpc>
              <a:buFont typeface="Arial"/>
              <a:buChar char="•"/>
            </a:pPr>
            <a:r>
              <a:rPr lang="en-US" sz="1750">
                <a:solidFill>
                  <a:srgbClr val="262626"/>
                </a:solidFill>
                <a:latin typeface="Arimo"/>
                <a:ea typeface="Arimo"/>
                <a:cs typeface="Arimo"/>
                <a:sym typeface="Arimo"/>
              </a:rPr>
              <a:t>Daily, weekly, and monthly reports created from scratch each cycle</a:t>
            </a:r>
          </a:p>
          <a:p>
            <a:pPr marL="263922" lvl="1" indent="-131961" algn="l">
              <a:lnSpc>
                <a:spcPts val="2100"/>
              </a:lnSpc>
              <a:buFont typeface="Arial"/>
              <a:buChar char="•"/>
            </a:pPr>
            <a:r>
              <a:rPr lang="en-US" sz="1750">
                <a:solidFill>
                  <a:srgbClr val="262626"/>
                </a:solidFill>
                <a:latin typeface="Arimo"/>
                <a:ea typeface="Arimo"/>
                <a:cs typeface="Arimo"/>
                <a:sym typeface="Arimo"/>
              </a:rPr>
              <a:t>Historical data scattered across files, emails, and local drives</a:t>
            </a:r>
          </a:p>
          <a:p>
            <a:pPr marL="263922" lvl="1" indent="-131961" algn="l">
              <a:lnSpc>
                <a:spcPts val="2100"/>
              </a:lnSpc>
              <a:buFont typeface="Arial"/>
              <a:buChar char="•"/>
            </a:pPr>
            <a:r>
              <a:rPr lang="en-US" sz="1750">
                <a:solidFill>
                  <a:srgbClr val="262626"/>
                </a:solidFill>
                <a:latin typeface="Arimo"/>
                <a:ea typeface="Arimo"/>
                <a:cs typeface="Arimo"/>
                <a:sym typeface="Arimo"/>
              </a:rPr>
              <a:t>No automated alerts or stakeholder communication</a:t>
            </a:r>
          </a:p>
          <a:p>
            <a:pPr marL="263922" lvl="1" indent="-131961" algn="l">
              <a:lnSpc>
                <a:spcPts val="2100"/>
              </a:lnSpc>
              <a:buFont typeface="Arial"/>
              <a:buChar char="•"/>
            </a:pPr>
            <a:r>
              <a:rPr lang="en-US" sz="1750">
                <a:solidFill>
                  <a:srgbClr val="262626"/>
                </a:solidFill>
                <a:latin typeface="Arimo"/>
                <a:ea typeface="Arimo"/>
                <a:cs typeface="Arimo"/>
                <a:sym typeface="Arimo"/>
              </a:rPr>
              <a:t>Inconsistent reporting formats across departments</a:t>
            </a:r>
          </a:p>
          <a:p>
            <a:pPr marL="263922" lvl="1" indent="-131961" algn="l">
              <a:lnSpc>
                <a:spcPts val="2100"/>
              </a:lnSpc>
              <a:buFont typeface="Arial"/>
              <a:buChar char="•"/>
            </a:pPr>
            <a:r>
              <a:rPr lang="en-US" sz="1750">
                <a:solidFill>
                  <a:srgbClr val="262626"/>
                </a:solidFill>
                <a:latin typeface="Arimo"/>
                <a:ea typeface="Arimo"/>
                <a:cs typeface="Arimo"/>
                <a:sym typeface="Arimo"/>
              </a:rPr>
              <a:t>High risk of human error in data transcription</a:t>
            </a:r>
          </a:p>
          <a:p>
            <a:pPr marL="263922" lvl="1" indent="-131961" algn="l">
              <a:lnSpc>
                <a:spcPts val="2100"/>
              </a:lnSpc>
              <a:buFont typeface="Arial"/>
              <a:buChar char="•"/>
            </a:pPr>
            <a:r>
              <a:rPr lang="en-US" sz="1750">
                <a:solidFill>
                  <a:srgbClr val="262626"/>
                </a:solidFill>
                <a:latin typeface="Arimo"/>
                <a:ea typeface="Arimo"/>
                <a:cs typeface="Arimo"/>
                <a:sym typeface="Arimo"/>
              </a:rPr>
              <a:t>Administrative decisions made without timely attendance intelligence</a:t>
            </a:r>
          </a:p>
        </p:txBody>
      </p:sp>
      <p:sp>
        <p:nvSpPr>
          <p:cNvPr id="15" name="TextBox 15"/>
          <p:cNvSpPr txBox="1"/>
          <p:nvPr/>
        </p:nvSpPr>
        <p:spPr>
          <a:xfrm>
            <a:off x="9919973" y="5651525"/>
            <a:ext cx="4844758" cy="359750"/>
          </a:xfrm>
          <a:prstGeom prst="rect">
            <a:avLst/>
          </a:prstGeom>
        </p:spPr>
        <p:txBody>
          <a:bodyPr lIns="0" tIns="0" rIns="0" bIns="0" rtlCol="0" anchor="t">
            <a:spAutoFit/>
          </a:bodyPr>
          <a:lstStyle/>
          <a:p>
            <a:pPr algn="l">
              <a:lnSpc>
                <a:spcPts val="2999"/>
              </a:lnSpc>
            </a:pPr>
            <a:r>
              <a:rPr lang="en-US" sz="2499">
                <a:solidFill>
                  <a:srgbClr val="0C0D0F"/>
                </a:solidFill>
                <a:latin typeface="Inter"/>
                <a:ea typeface="Inter"/>
                <a:cs typeface="Inter"/>
                <a:sym typeface="Inter"/>
              </a:rPr>
              <a:t>Intelligent Automated Workflow</a:t>
            </a:r>
          </a:p>
        </p:txBody>
      </p:sp>
      <p:sp>
        <p:nvSpPr>
          <p:cNvPr id="16" name="TextBox 16"/>
          <p:cNvSpPr txBox="1"/>
          <p:nvPr/>
        </p:nvSpPr>
        <p:spPr>
          <a:xfrm>
            <a:off x="9908191" y="6202099"/>
            <a:ext cx="7060054" cy="3483950"/>
          </a:xfrm>
          <a:prstGeom prst="rect">
            <a:avLst/>
          </a:prstGeom>
        </p:spPr>
        <p:txBody>
          <a:bodyPr lIns="0" tIns="0" rIns="0" bIns="0" rtlCol="0" anchor="t">
            <a:spAutoFit/>
          </a:bodyPr>
          <a:lstStyle/>
          <a:p>
            <a:pPr marL="263922" lvl="1" indent="-131961" algn="l">
              <a:lnSpc>
                <a:spcPts val="2100"/>
              </a:lnSpc>
              <a:buFont typeface="Arial"/>
              <a:buChar char="•"/>
            </a:pPr>
            <a:r>
              <a:rPr lang="en-US" sz="1750" dirty="0">
                <a:solidFill>
                  <a:srgbClr val="262626"/>
                </a:solidFill>
                <a:latin typeface="Arimo"/>
                <a:ea typeface="Arimo"/>
                <a:cs typeface="Arimo"/>
                <a:sym typeface="Arimo"/>
              </a:rPr>
              <a:t>BIOSYNC automatically collects and preprocesses biometric device data</a:t>
            </a:r>
          </a:p>
          <a:p>
            <a:pPr marL="263922" lvl="1" indent="-131961" algn="l">
              <a:lnSpc>
                <a:spcPts val="2100"/>
              </a:lnSpc>
              <a:buFont typeface="Arial"/>
              <a:buChar char="•"/>
            </a:pPr>
            <a:r>
              <a:rPr lang="en-US" sz="1750" dirty="0">
                <a:solidFill>
                  <a:srgbClr val="262626"/>
                </a:solidFill>
                <a:latin typeface="Arimo"/>
                <a:ea typeface="Arimo"/>
                <a:cs typeface="Arimo"/>
                <a:sym typeface="Arimo"/>
              </a:rPr>
              <a:t>Attendance computed, validated, and structured without manual effort</a:t>
            </a:r>
          </a:p>
          <a:p>
            <a:pPr marL="263922" lvl="1" indent="-131961" algn="l">
              <a:lnSpc>
                <a:spcPts val="2100"/>
              </a:lnSpc>
              <a:buFont typeface="Arial"/>
              <a:buChar char="•"/>
            </a:pPr>
            <a:r>
              <a:rPr lang="en-US" sz="1750" dirty="0">
                <a:solidFill>
                  <a:srgbClr val="262626"/>
                </a:solidFill>
                <a:latin typeface="Arimo"/>
                <a:ea typeface="Arimo"/>
                <a:cs typeface="Arimo"/>
                <a:sym typeface="Arimo"/>
              </a:rPr>
              <a:t>Reports generated on schedule — daily, weekly, or on demand</a:t>
            </a:r>
          </a:p>
          <a:p>
            <a:pPr marL="263922" lvl="1" indent="-131961" algn="l">
              <a:lnSpc>
                <a:spcPts val="2100"/>
              </a:lnSpc>
              <a:buFont typeface="Arial"/>
              <a:buChar char="•"/>
            </a:pPr>
            <a:r>
              <a:rPr lang="en-US" sz="1750" dirty="0">
                <a:solidFill>
                  <a:srgbClr val="262626"/>
                </a:solidFill>
                <a:latin typeface="Arimo"/>
                <a:ea typeface="Arimo"/>
                <a:cs typeface="Arimo"/>
                <a:sym typeface="Arimo"/>
              </a:rPr>
              <a:t>Historical data preserved in organized, searchable backup systems</a:t>
            </a:r>
          </a:p>
          <a:p>
            <a:pPr marL="263922" lvl="1" indent="-131961" algn="l">
              <a:lnSpc>
                <a:spcPts val="2100"/>
              </a:lnSpc>
              <a:buFont typeface="Arial"/>
              <a:buChar char="•"/>
            </a:pPr>
            <a:r>
              <a:rPr lang="en-US" sz="1750" dirty="0">
                <a:solidFill>
                  <a:srgbClr val="262626"/>
                </a:solidFill>
                <a:latin typeface="Arimo"/>
                <a:ea typeface="Arimo"/>
                <a:cs typeface="Arimo"/>
                <a:sym typeface="Arimo"/>
              </a:rPr>
              <a:t>Automated WhatsApp delivery to the right stakeholders</a:t>
            </a:r>
          </a:p>
          <a:p>
            <a:pPr marL="263922" lvl="1" indent="-131961" algn="l">
              <a:lnSpc>
                <a:spcPts val="2100"/>
              </a:lnSpc>
              <a:buFont typeface="Arial"/>
              <a:buChar char="•"/>
            </a:pPr>
            <a:r>
              <a:rPr lang="en-US" sz="1750" dirty="0">
                <a:solidFill>
                  <a:srgbClr val="262626"/>
                </a:solidFill>
                <a:latin typeface="Arimo"/>
                <a:ea typeface="Arimo"/>
                <a:cs typeface="Arimo"/>
                <a:sym typeface="Arimo"/>
              </a:rPr>
              <a:t>Standardized, consistent reporting across all departments</a:t>
            </a:r>
          </a:p>
          <a:p>
            <a:pPr marL="263922" lvl="1" indent="-131961" algn="l">
              <a:lnSpc>
                <a:spcPts val="2100"/>
              </a:lnSpc>
              <a:buFont typeface="Arial"/>
              <a:buChar char="•"/>
            </a:pPr>
            <a:r>
              <a:rPr lang="en-US" sz="1750" dirty="0">
                <a:solidFill>
                  <a:srgbClr val="262626"/>
                </a:solidFill>
                <a:latin typeface="Arimo"/>
                <a:ea typeface="Arimo"/>
                <a:cs typeface="Arimo"/>
                <a:sym typeface="Arimo"/>
              </a:rPr>
              <a:t>Built-in deduplication and data normalization</a:t>
            </a:r>
          </a:p>
          <a:p>
            <a:pPr marL="263922" lvl="1" indent="-131961" algn="l">
              <a:lnSpc>
                <a:spcPts val="2100"/>
              </a:lnSpc>
              <a:buFont typeface="Arial"/>
              <a:buChar char="•"/>
            </a:pPr>
            <a:r>
              <a:rPr lang="en-US" sz="1750" dirty="0">
                <a:solidFill>
                  <a:srgbClr val="262626"/>
                </a:solidFill>
                <a:latin typeface="Arimo"/>
                <a:ea typeface="Arimo"/>
                <a:cs typeface="Arimo"/>
                <a:sym typeface="Arimo"/>
              </a:rPr>
              <a:t>Real-time dashboards and cloud-synced records for instant access</a:t>
            </a:r>
          </a:p>
        </p:txBody>
      </p:sp>
      <p:grpSp>
        <p:nvGrpSpPr>
          <p:cNvPr id="17" name="Group 17"/>
          <p:cNvGrpSpPr/>
          <p:nvPr/>
        </p:nvGrpSpPr>
        <p:grpSpPr>
          <a:xfrm>
            <a:off x="9177404" y="649091"/>
            <a:ext cx="8552659" cy="4773511"/>
            <a:chOff x="0" y="0"/>
            <a:chExt cx="11403546" cy="6364681"/>
          </a:xfrm>
        </p:grpSpPr>
        <p:sp>
          <p:nvSpPr>
            <p:cNvPr id="18" name="Freeform 18" descr="preencoded.png"/>
            <p:cNvSpPr/>
            <p:nvPr/>
          </p:nvSpPr>
          <p:spPr>
            <a:xfrm>
              <a:off x="0" y="0"/>
              <a:ext cx="11403584" cy="6364732"/>
            </a:xfrm>
            <a:custGeom>
              <a:avLst/>
              <a:gdLst/>
              <a:ahLst/>
              <a:cxnLst/>
              <a:rect l="l" t="t" r="r" b="b"/>
              <a:pathLst>
                <a:path w="11403584" h="6364732">
                  <a:moveTo>
                    <a:pt x="0" y="0"/>
                  </a:moveTo>
                  <a:lnTo>
                    <a:pt x="11403584" y="0"/>
                  </a:lnTo>
                  <a:lnTo>
                    <a:pt x="11403584" y="6364732"/>
                  </a:lnTo>
                  <a:lnTo>
                    <a:pt x="0" y="6364732"/>
                  </a:lnTo>
                  <a:lnTo>
                    <a:pt x="0" y="0"/>
                  </a:lnTo>
                  <a:close/>
                </a:path>
              </a:pathLst>
            </a:custGeom>
            <a:blipFill>
              <a:blip r:embed="rId3"/>
              <a:stretch>
                <a:fillRect t="-17" b="-16"/>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1019718" y="328222"/>
            <a:ext cx="1973294" cy="496938"/>
            <a:chOff x="0" y="0"/>
            <a:chExt cx="2631059" cy="662584"/>
          </a:xfrm>
        </p:grpSpPr>
        <p:sp>
          <p:nvSpPr>
            <p:cNvPr id="7" name="Freeform 7"/>
            <p:cNvSpPr/>
            <p:nvPr/>
          </p:nvSpPr>
          <p:spPr>
            <a:xfrm>
              <a:off x="-1524" y="-1651"/>
              <a:ext cx="2634234" cy="665861"/>
            </a:xfrm>
            <a:custGeom>
              <a:avLst/>
              <a:gdLst/>
              <a:ahLst/>
              <a:cxnLst/>
              <a:rect l="l" t="t" r="r" b="b"/>
              <a:pathLst>
                <a:path w="2634234" h="665861">
                  <a:moveTo>
                    <a:pt x="0" y="271399"/>
                  </a:moveTo>
                  <a:cubicBezTo>
                    <a:pt x="0" y="121539"/>
                    <a:pt x="121412" y="127"/>
                    <a:pt x="271272" y="0"/>
                  </a:cubicBezTo>
                  <a:lnTo>
                    <a:pt x="2362962" y="0"/>
                  </a:lnTo>
                  <a:lnTo>
                    <a:pt x="2362962" y="1651"/>
                  </a:lnTo>
                  <a:lnTo>
                    <a:pt x="2362962" y="127"/>
                  </a:lnTo>
                  <a:cubicBezTo>
                    <a:pt x="2512822" y="127"/>
                    <a:pt x="2634234" y="121539"/>
                    <a:pt x="2634234" y="271399"/>
                  </a:cubicBezTo>
                  <a:lnTo>
                    <a:pt x="2632710" y="271399"/>
                  </a:lnTo>
                  <a:lnTo>
                    <a:pt x="2634234" y="271399"/>
                  </a:lnTo>
                  <a:lnTo>
                    <a:pt x="2634234" y="394589"/>
                  </a:lnTo>
                  <a:lnTo>
                    <a:pt x="2632710" y="394589"/>
                  </a:lnTo>
                  <a:lnTo>
                    <a:pt x="2634234" y="394589"/>
                  </a:lnTo>
                  <a:cubicBezTo>
                    <a:pt x="2634234" y="544449"/>
                    <a:pt x="2512822" y="665861"/>
                    <a:pt x="2362962" y="665861"/>
                  </a:cubicBezTo>
                  <a:lnTo>
                    <a:pt x="2362962" y="664337"/>
                  </a:lnTo>
                  <a:lnTo>
                    <a:pt x="2362962" y="665861"/>
                  </a:lnTo>
                  <a:lnTo>
                    <a:pt x="271272" y="665861"/>
                  </a:lnTo>
                  <a:lnTo>
                    <a:pt x="271272" y="664337"/>
                  </a:lnTo>
                  <a:lnTo>
                    <a:pt x="271272" y="665861"/>
                  </a:lnTo>
                  <a:cubicBezTo>
                    <a:pt x="121412" y="665861"/>
                    <a:pt x="0" y="544322"/>
                    <a:pt x="0" y="394589"/>
                  </a:cubicBezTo>
                  <a:lnTo>
                    <a:pt x="0" y="271399"/>
                  </a:lnTo>
                  <a:lnTo>
                    <a:pt x="1524" y="271399"/>
                  </a:lnTo>
                  <a:lnTo>
                    <a:pt x="0" y="271399"/>
                  </a:lnTo>
                  <a:moveTo>
                    <a:pt x="3175" y="271399"/>
                  </a:moveTo>
                  <a:lnTo>
                    <a:pt x="3175" y="394589"/>
                  </a:lnTo>
                  <a:lnTo>
                    <a:pt x="1524" y="394589"/>
                  </a:lnTo>
                  <a:lnTo>
                    <a:pt x="3048" y="394589"/>
                  </a:lnTo>
                  <a:cubicBezTo>
                    <a:pt x="3048" y="542671"/>
                    <a:pt x="123063" y="662686"/>
                    <a:pt x="271145" y="662686"/>
                  </a:cubicBezTo>
                  <a:lnTo>
                    <a:pt x="2362835" y="662686"/>
                  </a:lnTo>
                  <a:cubicBezTo>
                    <a:pt x="2510917" y="662686"/>
                    <a:pt x="2630932" y="542671"/>
                    <a:pt x="2630932" y="394589"/>
                  </a:cubicBezTo>
                  <a:lnTo>
                    <a:pt x="2630932" y="271399"/>
                  </a:lnTo>
                  <a:cubicBezTo>
                    <a:pt x="2630932" y="123317"/>
                    <a:pt x="2510917" y="3302"/>
                    <a:pt x="2362835" y="3302"/>
                  </a:cubicBezTo>
                  <a:lnTo>
                    <a:pt x="271272" y="3302"/>
                  </a:lnTo>
                  <a:lnTo>
                    <a:pt x="271272" y="1651"/>
                  </a:lnTo>
                  <a:lnTo>
                    <a:pt x="271272" y="3175"/>
                  </a:lnTo>
                  <a:cubicBezTo>
                    <a:pt x="123190" y="3175"/>
                    <a:pt x="3048" y="123317"/>
                    <a:pt x="3048" y="271399"/>
                  </a:cubicBezTo>
                  <a:close/>
                </a:path>
              </a:pathLst>
            </a:custGeom>
            <a:solidFill>
              <a:srgbClr val="ED7D31"/>
            </a:solidFill>
          </p:spPr>
        </p:sp>
      </p:grpSp>
      <p:sp>
        <p:nvSpPr>
          <p:cNvPr id="8" name="TextBox 8"/>
          <p:cNvSpPr txBox="1"/>
          <p:nvPr/>
        </p:nvSpPr>
        <p:spPr>
          <a:xfrm>
            <a:off x="1178300" y="495300"/>
            <a:ext cx="1720444" cy="225323"/>
          </a:xfrm>
          <a:prstGeom prst="rect">
            <a:avLst/>
          </a:prstGeom>
        </p:spPr>
        <p:txBody>
          <a:bodyPr lIns="0" tIns="0" rIns="0" bIns="0" rtlCol="0" anchor="t">
            <a:spAutoFit/>
          </a:bodyPr>
          <a:lstStyle/>
          <a:p>
            <a:pPr algn="l">
              <a:lnSpc>
                <a:spcPts val="1875"/>
              </a:lnSpc>
            </a:pPr>
            <a:r>
              <a:rPr lang="en-US" sz="1750" b="1" spc="7" dirty="0">
                <a:solidFill>
                  <a:srgbClr val="ED7D31"/>
                </a:solidFill>
                <a:latin typeface="Merriweather Sans Bold"/>
                <a:ea typeface="Merriweather Sans Bold"/>
                <a:cs typeface="Merriweather Sans Bold"/>
                <a:sym typeface="Merriweather Sans Bold"/>
              </a:rPr>
              <a:t>THE SOLUTION</a:t>
            </a:r>
          </a:p>
        </p:txBody>
      </p:sp>
      <p:sp>
        <p:nvSpPr>
          <p:cNvPr id="9" name="TextBox 9"/>
          <p:cNvSpPr txBox="1"/>
          <p:nvPr/>
        </p:nvSpPr>
        <p:spPr>
          <a:xfrm>
            <a:off x="1036882" y="909037"/>
            <a:ext cx="14222616" cy="718099"/>
          </a:xfrm>
          <a:prstGeom prst="rect">
            <a:avLst/>
          </a:prstGeom>
        </p:spPr>
        <p:txBody>
          <a:bodyPr lIns="0" tIns="0" rIns="0" bIns="0" rtlCol="0" anchor="t">
            <a:spAutoFit/>
          </a:bodyPr>
          <a:lstStyle/>
          <a:p>
            <a:pPr algn="l">
              <a:lnSpc>
                <a:spcPts val="4999"/>
              </a:lnSpc>
            </a:pPr>
            <a:r>
              <a:rPr lang="en-US" sz="3500">
                <a:solidFill>
                  <a:srgbClr val="262626"/>
                </a:solidFill>
                <a:latin typeface="Inter"/>
                <a:ea typeface="Inter"/>
                <a:cs typeface="Inter"/>
                <a:sym typeface="Inter"/>
              </a:rPr>
              <a:t>BIOSYNC: An End-to-End Institutional Automation Platform</a:t>
            </a:r>
          </a:p>
        </p:txBody>
      </p:sp>
      <p:sp>
        <p:nvSpPr>
          <p:cNvPr id="10" name="TextBox 10"/>
          <p:cNvSpPr txBox="1"/>
          <p:nvPr/>
        </p:nvSpPr>
        <p:spPr>
          <a:xfrm>
            <a:off x="1043283" y="1695374"/>
            <a:ext cx="16201282" cy="948633"/>
          </a:xfrm>
          <a:prstGeom prst="rect">
            <a:avLst/>
          </a:prstGeom>
        </p:spPr>
        <p:txBody>
          <a:bodyPr lIns="0" tIns="0" rIns="0" bIns="0" rtlCol="0" anchor="t">
            <a:spAutoFit/>
          </a:bodyPr>
          <a:lstStyle/>
          <a:p>
            <a:pPr algn="l">
              <a:lnSpc>
                <a:spcPts val="2312"/>
              </a:lnSpc>
            </a:pPr>
            <a:r>
              <a:rPr lang="en-US" sz="1750">
                <a:solidFill>
                  <a:srgbClr val="262626"/>
                </a:solidFill>
                <a:latin typeface="Arimo"/>
                <a:ea typeface="Arimo"/>
                <a:cs typeface="Arimo"/>
                <a:sym typeface="Arimo"/>
              </a:rPr>
              <a:t>BIOSYNC is not a feature add-on or a reporting plugin. It is a complete operational pipeline — purpose-engineered to handle every stage of institutional attendance management, from the moment a biometric device records a fingerprint to the moment a structured report reaches the right stakeholder's WhatsApp. Every module is integrated, every data handoff is automated, and every output is institution-ready.</a:t>
            </a:r>
          </a:p>
        </p:txBody>
      </p:sp>
      <p:grpSp>
        <p:nvGrpSpPr>
          <p:cNvPr id="11" name="Group 11"/>
          <p:cNvGrpSpPr/>
          <p:nvPr/>
        </p:nvGrpSpPr>
        <p:grpSpPr>
          <a:xfrm>
            <a:off x="1172908" y="2988621"/>
            <a:ext cx="1711823" cy="1057866"/>
            <a:chOff x="0" y="0"/>
            <a:chExt cx="2282431" cy="1410487"/>
          </a:xfrm>
        </p:grpSpPr>
        <p:sp>
          <p:nvSpPr>
            <p:cNvPr id="12" name="Freeform 12" descr="preencoded.png"/>
            <p:cNvSpPr/>
            <p:nvPr/>
          </p:nvSpPr>
          <p:spPr>
            <a:xfrm>
              <a:off x="0" y="0"/>
              <a:ext cx="2282444" cy="1410462"/>
            </a:xfrm>
            <a:custGeom>
              <a:avLst/>
              <a:gdLst/>
              <a:ahLst/>
              <a:cxnLst/>
              <a:rect l="l" t="t" r="r" b="b"/>
              <a:pathLst>
                <a:path w="2282444" h="1410462">
                  <a:moveTo>
                    <a:pt x="0" y="0"/>
                  </a:moveTo>
                  <a:lnTo>
                    <a:pt x="2282444" y="0"/>
                  </a:lnTo>
                  <a:lnTo>
                    <a:pt x="2282444" y="1410462"/>
                  </a:lnTo>
                  <a:lnTo>
                    <a:pt x="0" y="1410462"/>
                  </a:lnTo>
                  <a:lnTo>
                    <a:pt x="0" y="0"/>
                  </a:lnTo>
                  <a:close/>
                </a:path>
              </a:pathLst>
            </a:custGeom>
            <a:blipFill>
              <a:blip r:embed="rId3"/>
              <a:stretch>
                <a:fillRect l="-106" r="-105" b="-1"/>
              </a:stretch>
            </a:blipFill>
          </p:spPr>
        </p:sp>
      </p:grpSp>
      <p:sp>
        <p:nvSpPr>
          <p:cNvPr id="13" name="TextBox 13"/>
          <p:cNvSpPr txBox="1"/>
          <p:nvPr/>
        </p:nvSpPr>
        <p:spPr>
          <a:xfrm>
            <a:off x="1172908" y="4239968"/>
            <a:ext cx="3067945" cy="340071"/>
          </a:xfrm>
          <a:prstGeom prst="rect">
            <a:avLst/>
          </a:prstGeom>
        </p:spPr>
        <p:txBody>
          <a:bodyPr lIns="0" tIns="0" rIns="0" bIns="0" rtlCol="0" anchor="t">
            <a:spAutoFit/>
          </a:bodyPr>
          <a:lstStyle/>
          <a:p>
            <a:pPr algn="l">
              <a:lnSpc>
                <a:spcPts val="2500"/>
              </a:lnSpc>
            </a:pPr>
            <a:r>
              <a:rPr lang="en-US" sz="2000">
                <a:solidFill>
                  <a:srgbClr val="262626"/>
                </a:solidFill>
                <a:latin typeface="Inter"/>
                <a:ea typeface="Inter"/>
                <a:cs typeface="Inter"/>
                <a:sym typeface="Inter"/>
              </a:rPr>
              <a:t>Biometric Data Collection</a:t>
            </a:r>
          </a:p>
        </p:txBody>
      </p:sp>
      <p:sp>
        <p:nvSpPr>
          <p:cNvPr id="14" name="TextBox 14"/>
          <p:cNvSpPr txBox="1"/>
          <p:nvPr/>
        </p:nvSpPr>
        <p:spPr>
          <a:xfrm>
            <a:off x="1172908" y="4624835"/>
            <a:ext cx="3890810" cy="1558823"/>
          </a:xfrm>
          <a:prstGeom prst="rect">
            <a:avLst/>
          </a:prstGeom>
        </p:spPr>
        <p:txBody>
          <a:bodyPr lIns="0" tIns="0" rIns="0" bIns="0" rtlCol="0" anchor="t">
            <a:spAutoFit/>
          </a:bodyPr>
          <a:lstStyle/>
          <a:p>
            <a:pPr algn="just">
              <a:lnSpc>
                <a:spcPts val="2312"/>
              </a:lnSpc>
            </a:pPr>
            <a:r>
              <a:rPr lang="en-US" sz="1562">
                <a:solidFill>
                  <a:srgbClr val="262626"/>
                </a:solidFill>
                <a:latin typeface="Arimo"/>
                <a:ea typeface="Arimo"/>
                <a:cs typeface="Arimo"/>
                <a:sym typeface="Arimo"/>
              </a:rPr>
              <a:t>BIOSYNC connects directly to biometric devices and automatically retrieves attendance logs — eliminating manual export cycles and ensuring no data is missed between collection windows.</a:t>
            </a:r>
          </a:p>
        </p:txBody>
      </p:sp>
      <p:grpSp>
        <p:nvGrpSpPr>
          <p:cNvPr id="15" name="Group 15"/>
          <p:cNvGrpSpPr/>
          <p:nvPr/>
        </p:nvGrpSpPr>
        <p:grpSpPr>
          <a:xfrm>
            <a:off x="5665099" y="2988621"/>
            <a:ext cx="1711966" cy="1058018"/>
            <a:chOff x="0" y="0"/>
            <a:chExt cx="2282622" cy="1410691"/>
          </a:xfrm>
        </p:grpSpPr>
        <p:sp>
          <p:nvSpPr>
            <p:cNvPr id="16" name="Freeform 16" descr="preencoded.png"/>
            <p:cNvSpPr/>
            <p:nvPr/>
          </p:nvSpPr>
          <p:spPr>
            <a:xfrm>
              <a:off x="0" y="0"/>
              <a:ext cx="2282571" cy="1410716"/>
            </a:xfrm>
            <a:custGeom>
              <a:avLst/>
              <a:gdLst/>
              <a:ahLst/>
              <a:cxnLst/>
              <a:rect l="l" t="t" r="r" b="b"/>
              <a:pathLst>
                <a:path w="2282571" h="1410716">
                  <a:moveTo>
                    <a:pt x="0" y="0"/>
                  </a:moveTo>
                  <a:lnTo>
                    <a:pt x="2282571" y="0"/>
                  </a:lnTo>
                  <a:lnTo>
                    <a:pt x="2282571" y="1410716"/>
                  </a:lnTo>
                  <a:lnTo>
                    <a:pt x="0" y="1410716"/>
                  </a:lnTo>
                  <a:lnTo>
                    <a:pt x="0" y="0"/>
                  </a:lnTo>
                  <a:close/>
                </a:path>
              </a:pathLst>
            </a:custGeom>
            <a:blipFill>
              <a:blip r:embed="rId4"/>
              <a:stretch>
                <a:fillRect l="-109" r="-111" b="1"/>
              </a:stretch>
            </a:blipFill>
          </p:spPr>
        </p:sp>
      </p:grpSp>
      <p:sp>
        <p:nvSpPr>
          <p:cNvPr id="17" name="TextBox 17"/>
          <p:cNvSpPr txBox="1"/>
          <p:nvPr/>
        </p:nvSpPr>
        <p:spPr>
          <a:xfrm>
            <a:off x="5665099" y="4240111"/>
            <a:ext cx="3001566" cy="340071"/>
          </a:xfrm>
          <a:prstGeom prst="rect">
            <a:avLst/>
          </a:prstGeom>
        </p:spPr>
        <p:txBody>
          <a:bodyPr lIns="0" tIns="0" rIns="0" bIns="0" rtlCol="0" anchor="t">
            <a:spAutoFit/>
          </a:bodyPr>
          <a:lstStyle/>
          <a:p>
            <a:pPr algn="l">
              <a:lnSpc>
                <a:spcPts val="2500"/>
              </a:lnSpc>
            </a:pPr>
            <a:r>
              <a:rPr lang="en-US" sz="2000">
                <a:solidFill>
                  <a:srgbClr val="262626"/>
                </a:solidFill>
                <a:latin typeface="Inter"/>
                <a:ea typeface="Inter"/>
                <a:cs typeface="Inter"/>
                <a:sym typeface="Inter"/>
              </a:rPr>
              <a:t>Intelligent Preprocessing</a:t>
            </a:r>
          </a:p>
        </p:txBody>
      </p:sp>
      <p:sp>
        <p:nvSpPr>
          <p:cNvPr id="18" name="TextBox 18"/>
          <p:cNvSpPr txBox="1"/>
          <p:nvPr/>
        </p:nvSpPr>
        <p:spPr>
          <a:xfrm>
            <a:off x="5665099" y="4624978"/>
            <a:ext cx="3890962" cy="1558823"/>
          </a:xfrm>
          <a:prstGeom prst="rect">
            <a:avLst/>
          </a:prstGeom>
        </p:spPr>
        <p:txBody>
          <a:bodyPr lIns="0" tIns="0" rIns="0" bIns="0" rtlCol="0" anchor="t">
            <a:spAutoFit/>
          </a:bodyPr>
          <a:lstStyle/>
          <a:p>
            <a:pPr algn="just">
              <a:lnSpc>
                <a:spcPts val="2312"/>
              </a:lnSpc>
            </a:pPr>
            <a:r>
              <a:rPr lang="en-US" sz="1562">
                <a:solidFill>
                  <a:srgbClr val="262626"/>
                </a:solidFill>
                <a:latin typeface="Arimo"/>
                <a:ea typeface="Arimo"/>
                <a:cs typeface="Arimo"/>
                <a:sym typeface="Arimo"/>
              </a:rPr>
              <a:t>Raw logs are cleaned, deduplicated, and normalized automatically. Dates are standardized, anomalies are flagged, and only validated records proceed to attendance computation.</a:t>
            </a:r>
          </a:p>
        </p:txBody>
      </p:sp>
      <p:grpSp>
        <p:nvGrpSpPr>
          <p:cNvPr id="19" name="Group 19"/>
          <p:cNvGrpSpPr/>
          <p:nvPr/>
        </p:nvGrpSpPr>
        <p:grpSpPr>
          <a:xfrm>
            <a:off x="9968913" y="3071108"/>
            <a:ext cx="1711966" cy="1058018"/>
            <a:chOff x="0" y="0"/>
            <a:chExt cx="2282622" cy="1410691"/>
          </a:xfrm>
        </p:grpSpPr>
        <p:sp>
          <p:nvSpPr>
            <p:cNvPr id="20" name="Freeform 20" descr="preencoded.png"/>
            <p:cNvSpPr/>
            <p:nvPr/>
          </p:nvSpPr>
          <p:spPr>
            <a:xfrm>
              <a:off x="0" y="0"/>
              <a:ext cx="2282571" cy="1410716"/>
            </a:xfrm>
            <a:custGeom>
              <a:avLst/>
              <a:gdLst/>
              <a:ahLst/>
              <a:cxnLst/>
              <a:rect l="l" t="t" r="r" b="b"/>
              <a:pathLst>
                <a:path w="2282571" h="1410716">
                  <a:moveTo>
                    <a:pt x="0" y="0"/>
                  </a:moveTo>
                  <a:lnTo>
                    <a:pt x="2282571" y="0"/>
                  </a:lnTo>
                  <a:lnTo>
                    <a:pt x="2282571" y="1410716"/>
                  </a:lnTo>
                  <a:lnTo>
                    <a:pt x="0" y="1410716"/>
                  </a:lnTo>
                  <a:lnTo>
                    <a:pt x="0" y="0"/>
                  </a:lnTo>
                  <a:close/>
                </a:path>
              </a:pathLst>
            </a:custGeom>
            <a:blipFill>
              <a:blip r:embed="rId5"/>
              <a:stretch>
                <a:fillRect l="-109" r="-111" b="1"/>
              </a:stretch>
            </a:blipFill>
          </p:spPr>
        </p:sp>
      </p:grpSp>
      <p:sp>
        <p:nvSpPr>
          <p:cNvPr id="21" name="TextBox 21"/>
          <p:cNvSpPr txBox="1"/>
          <p:nvPr/>
        </p:nvSpPr>
        <p:spPr>
          <a:xfrm>
            <a:off x="10074964" y="4216546"/>
            <a:ext cx="3565474" cy="340071"/>
          </a:xfrm>
          <a:prstGeom prst="rect">
            <a:avLst/>
          </a:prstGeom>
        </p:spPr>
        <p:txBody>
          <a:bodyPr lIns="0" tIns="0" rIns="0" bIns="0" rtlCol="0" anchor="t">
            <a:spAutoFit/>
          </a:bodyPr>
          <a:lstStyle/>
          <a:p>
            <a:pPr algn="l">
              <a:lnSpc>
                <a:spcPts val="2500"/>
              </a:lnSpc>
            </a:pPr>
            <a:r>
              <a:rPr lang="en-US" sz="2000">
                <a:solidFill>
                  <a:srgbClr val="262626"/>
                </a:solidFill>
                <a:latin typeface="Inter"/>
                <a:ea typeface="Inter"/>
                <a:cs typeface="Inter"/>
                <a:sym typeface="Inter"/>
              </a:rPr>
              <a:t>Structured Report Generation</a:t>
            </a:r>
          </a:p>
        </p:txBody>
      </p:sp>
      <p:sp>
        <p:nvSpPr>
          <p:cNvPr id="22" name="TextBox 22"/>
          <p:cNvSpPr txBox="1"/>
          <p:nvPr/>
        </p:nvSpPr>
        <p:spPr>
          <a:xfrm>
            <a:off x="10074964" y="4601413"/>
            <a:ext cx="3890962" cy="1558823"/>
          </a:xfrm>
          <a:prstGeom prst="rect">
            <a:avLst/>
          </a:prstGeom>
        </p:spPr>
        <p:txBody>
          <a:bodyPr lIns="0" tIns="0" rIns="0" bIns="0" rtlCol="0" anchor="t">
            <a:spAutoFit/>
          </a:bodyPr>
          <a:lstStyle/>
          <a:p>
            <a:pPr algn="just">
              <a:lnSpc>
                <a:spcPts val="2312"/>
              </a:lnSpc>
            </a:pPr>
            <a:r>
              <a:rPr lang="en-US" sz="1562">
                <a:solidFill>
                  <a:srgbClr val="262626"/>
                </a:solidFill>
                <a:latin typeface="Arimo"/>
                <a:ea typeface="Arimo"/>
                <a:cs typeface="Arimo"/>
                <a:sym typeface="Arimo"/>
              </a:rPr>
              <a:t>Department-wise, class-wise, student-wise, and date-range reports are generated automatically on schedule or on demand — in consistent, professional formats ready for distribution.</a:t>
            </a:r>
          </a:p>
        </p:txBody>
      </p:sp>
      <p:grpSp>
        <p:nvGrpSpPr>
          <p:cNvPr id="23" name="Group 23"/>
          <p:cNvGrpSpPr/>
          <p:nvPr/>
        </p:nvGrpSpPr>
        <p:grpSpPr>
          <a:xfrm>
            <a:off x="10030663" y="6523663"/>
            <a:ext cx="1711966" cy="1058018"/>
            <a:chOff x="0" y="0"/>
            <a:chExt cx="2282622" cy="1410691"/>
          </a:xfrm>
        </p:grpSpPr>
        <p:sp>
          <p:nvSpPr>
            <p:cNvPr id="24" name="Freeform 24" descr="preencoded.png"/>
            <p:cNvSpPr/>
            <p:nvPr/>
          </p:nvSpPr>
          <p:spPr>
            <a:xfrm>
              <a:off x="0" y="0"/>
              <a:ext cx="2282571" cy="1410716"/>
            </a:xfrm>
            <a:custGeom>
              <a:avLst/>
              <a:gdLst/>
              <a:ahLst/>
              <a:cxnLst/>
              <a:rect l="l" t="t" r="r" b="b"/>
              <a:pathLst>
                <a:path w="2282571" h="1410716">
                  <a:moveTo>
                    <a:pt x="0" y="0"/>
                  </a:moveTo>
                  <a:lnTo>
                    <a:pt x="2282571" y="0"/>
                  </a:lnTo>
                  <a:lnTo>
                    <a:pt x="2282571" y="1410716"/>
                  </a:lnTo>
                  <a:lnTo>
                    <a:pt x="0" y="1410716"/>
                  </a:lnTo>
                  <a:lnTo>
                    <a:pt x="0" y="0"/>
                  </a:lnTo>
                  <a:close/>
                </a:path>
              </a:pathLst>
            </a:custGeom>
            <a:blipFill>
              <a:blip r:embed="rId6"/>
              <a:stretch>
                <a:fillRect l="-109" r="-111" b="1"/>
              </a:stretch>
            </a:blipFill>
          </p:spPr>
        </p:sp>
      </p:grpSp>
      <p:sp>
        <p:nvSpPr>
          <p:cNvPr id="25" name="TextBox 25"/>
          <p:cNvSpPr txBox="1"/>
          <p:nvPr/>
        </p:nvSpPr>
        <p:spPr>
          <a:xfrm>
            <a:off x="10030663" y="7775162"/>
            <a:ext cx="3296098" cy="340071"/>
          </a:xfrm>
          <a:prstGeom prst="rect">
            <a:avLst/>
          </a:prstGeom>
        </p:spPr>
        <p:txBody>
          <a:bodyPr lIns="0" tIns="0" rIns="0" bIns="0" rtlCol="0" anchor="t">
            <a:spAutoFit/>
          </a:bodyPr>
          <a:lstStyle/>
          <a:p>
            <a:pPr algn="l">
              <a:lnSpc>
                <a:spcPts val="2500"/>
              </a:lnSpc>
            </a:pPr>
            <a:r>
              <a:rPr lang="en-US" sz="2000">
                <a:solidFill>
                  <a:srgbClr val="262626"/>
                </a:solidFill>
                <a:latin typeface="Inter"/>
                <a:ea typeface="Inter"/>
                <a:cs typeface="Inter"/>
                <a:sym typeface="Inter"/>
              </a:rPr>
              <a:t>Automated Communication</a:t>
            </a:r>
          </a:p>
        </p:txBody>
      </p:sp>
      <p:sp>
        <p:nvSpPr>
          <p:cNvPr id="26" name="TextBox 26"/>
          <p:cNvSpPr txBox="1"/>
          <p:nvPr/>
        </p:nvSpPr>
        <p:spPr>
          <a:xfrm>
            <a:off x="10030663" y="8160029"/>
            <a:ext cx="3890962" cy="1558823"/>
          </a:xfrm>
          <a:prstGeom prst="rect">
            <a:avLst/>
          </a:prstGeom>
        </p:spPr>
        <p:txBody>
          <a:bodyPr lIns="0" tIns="0" rIns="0" bIns="0" rtlCol="0" anchor="t">
            <a:spAutoFit/>
          </a:bodyPr>
          <a:lstStyle/>
          <a:p>
            <a:pPr algn="just">
              <a:lnSpc>
                <a:spcPts val="2312"/>
              </a:lnSpc>
            </a:pPr>
            <a:r>
              <a:rPr lang="en-US" sz="1562">
                <a:solidFill>
                  <a:srgbClr val="262626"/>
                </a:solidFill>
                <a:latin typeface="Arimo"/>
                <a:ea typeface="Arimo"/>
                <a:cs typeface="Arimo"/>
                <a:sym typeface="Arimo"/>
              </a:rPr>
              <a:t>Reports are delivered automatically via WhatsApp to the appropriate faculty groups, administrators, or parents — with intelligent message formatting and duplicate suppression.</a:t>
            </a:r>
          </a:p>
        </p:txBody>
      </p:sp>
      <p:grpSp>
        <p:nvGrpSpPr>
          <p:cNvPr id="27" name="Group 27"/>
          <p:cNvGrpSpPr/>
          <p:nvPr/>
        </p:nvGrpSpPr>
        <p:grpSpPr>
          <a:xfrm>
            <a:off x="1172908" y="6524034"/>
            <a:ext cx="1711823" cy="1057866"/>
            <a:chOff x="0" y="0"/>
            <a:chExt cx="2282431" cy="1410487"/>
          </a:xfrm>
        </p:grpSpPr>
        <p:sp>
          <p:nvSpPr>
            <p:cNvPr id="28" name="Freeform 28" descr="preencoded.png"/>
            <p:cNvSpPr/>
            <p:nvPr/>
          </p:nvSpPr>
          <p:spPr>
            <a:xfrm>
              <a:off x="0" y="0"/>
              <a:ext cx="2282444" cy="1410462"/>
            </a:xfrm>
            <a:custGeom>
              <a:avLst/>
              <a:gdLst/>
              <a:ahLst/>
              <a:cxnLst/>
              <a:rect l="l" t="t" r="r" b="b"/>
              <a:pathLst>
                <a:path w="2282444" h="1410462">
                  <a:moveTo>
                    <a:pt x="0" y="0"/>
                  </a:moveTo>
                  <a:lnTo>
                    <a:pt x="2282444" y="0"/>
                  </a:lnTo>
                  <a:lnTo>
                    <a:pt x="2282444" y="1410462"/>
                  </a:lnTo>
                  <a:lnTo>
                    <a:pt x="0" y="1410462"/>
                  </a:lnTo>
                  <a:lnTo>
                    <a:pt x="0" y="0"/>
                  </a:lnTo>
                  <a:close/>
                </a:path>
              </a:pathLst>
            </a:custGeom>
            <a:blipFill>
              <a:blip r:embed="rId7"/>
              <a:stretch>
                <a:fillRect l="-106" r="-105" b="-1"/>
              </a:stretch>
            </a:blipFill>
          </p:spPr>
        </p:sp>
      </p:grpSp>
      <p:sp>
        <p:nvSpPr>
          <p:cNvPr id="29" name="TextBox 29"/>
          <p:cNvSpPr txBox="1"/>
          <p:nvPr/>
        </p:nvSpPr>
        <p:spPr>
          <a:xfrm>
            <a:off x="1172908" y="7775372"/>
            <a:ext cx="2681583" cy="340071"/>
          </a:xfrm>
          <a:prstGeom prst="rect">
            <a:avLst/>
          </a:prstGeom>
        </p:spPr>
        <p:txBody>
          <a:bodyPr lIns="0" tIns="0" rIns="0" bIns="0" rtlCol="0" anchor="t">
            <a:spAutoFit/>
          </a:bodyPr>
          <a:lstStyle/>
          <a:p>
            <a:pPr algn="l">
              <a:lnSpc>
                <a:spcPts val="2500"/>
              </a:lnSpc>
            </a:pPr>
            <a:r>
              <a:rPr lang="en-US" sz="2000">
                <a:solidFill>
                  <a:srgbClr val="262626"/>
                </a:solidFill>
                <a:latin typeface="Inter"/>
                <a:ea typeface="Inter"/>
                <a:cs typeface="Inter"/>
                <a:sym typeface="Inter"/>
              </a:rPr>
              <a:t>Cloud Sync &amp; Archival</a:t>
            </a:r>
          </a:p>
        </p:txBody>
      </p:sp>
      <p:sp>
        <p:nvSpPr>
          <p:cNvPr id="30" name="TextBox 30"/>
          <p:cNvSpPr txBox="1"/>
          <p:nvPr/>
        </p:nvSpPr>
        <p:spPr>
          <a:xfrm>
            <a:off x="1172908" y="8160248"/>
            <a:ext cx="3890810" cy="1558823"/>
          </a:xfrm>
          <a:prstGeom prst="rect">
            <a:avLst/>
          </a:prstGeom>
        </p:spPr>
        <p:txBody>
          <a:bodyPr lIns="0" tIns="0" rIns="0" bIns="0" rtlCol="0" anchor="t">
            <a:spAutoFit/>
          </a:bodyPr>
          <a:lstStyle/>
          <a:p>
            <a:pPr algn="just">
              <a:lnSpc>
                <a:spcPts val="2312"/>
              </a:lnSpc>
            </a:pPr>
            <a:r>
              <a:rPr lang="en-US" sz="1562">
                <a:solidFill>
                  <a:srgbClr val="262626"/>
                </a:solidFill>
                <a:latin typeface="Arimo"/>
                <a:ea typeface="Arimo"/>
                <a:cs typeface="Arimo"/>
                <a:sym typeface="Arimo"/>
              </a:rPr>
              <a:t>All processed data is backed up locally and synchronized to Google Drive, ensuring institutional records are preserved, organized, and retrievable for audits and reviews.</a:t>
            </a:r>
          </a:p>
        </p:txBody>
      </p:sp>
      <p:grpSp>
        <p:nvGrpSpPr>
          <p:cNvPr id="31" name="Group 31"/>
          <p:cNvGrpSpPr/>
          <p:nvPr/>
        </p:nvGrpSpPr>
        <p:grpSpPr>
          <a:xfrm>
            <a:off x="5665099" y="6524034"/>
            <a:ext cx="1711966" cy="1058018"/>
            <a:chOff x="0" y="0"/>
            <a:chExt cx="2282622" cy="1410691"/>
          </a:xfrm>
        </p:grpSpPr>
        <p:sp>
          <p:nvSpPr>
            <p:cNvPr id="32" name="Freeform 32" descr="preencoded.png"/>
            <p:cNvSpPr/>
            <p:nvPr/>
          </p:nvSpPr>
          <p:spPr>
            <a:xfrm>
              <a:off x="0" y="0"/>
              <a:ext cx="2282571" cy="1410716"/>
            </a:xfrm>
            <a:custGeom>
              <a:avLst/>
              <a:gdLst/>
              <a:ahLst/>
              <a:cxnLst/>
              <a:rect l="l" t="t" r="r" b="b"/>
              <a:pathLst>
                <a:path w="2282571" h="1410716">
                  <a:moveTo>
                    <a:pt x="0" y="0"/>
                  </a:moveTo>
                  <a:lnTo>
                    <a:pt x="2282571" y="0"/>
                  </a:lnTo>
                  <a:lnTo>
                    <a:pt x="2282571" y="1410716"/>
                  </a:lnTo>
                  <a:lnTo>
                    <a:pt x="0" y="1410716"/>
                  </a:lnTo>
                  <a:lnTo>
                    <a:pt x="0" y="0"/>
                  </a:lnTo>
                  <a:close/>
                </a:path>
              </a:pathLst>
            </a:custGeom>
            <a:blipFill>
              <a:blip r:embed="rId8"/>
              <a:stretch>
                <a:fillRect l="-109" r="-111" b="1"/>
              </a:stretch>
            </a:blipFill>
          </p:spPr>
        </p:sp>
      </p:grpSp>
      <p:sp>
        <p:nvSpPr>
          <p:cNvPr id="33" name="TextBox 33"/>
          <p:cNvSpPr txBox="1"/>
          <p:nvPr/>
        </p:nvSpPr>
        <p:spPr>
          <a:xfrm>
            <a:off x="5665099" y="7775524"/>
            <a:ext cx="2846337" cy="340071"/>
          </a:xfrm>
          <a:prstGeom prst="rect">
            <a:avLst/>
          </a:prstGeom>
        </p:spPr>
        <p:txBody>
          <a:bodyPr lIns="0" tIns="0" rIns="0" bIns="0" rtlCol="0" anchor="t">
            <a:spAutoFit/>
          </a:bodyPr>
          <a:lstStyle/>
          <a:p>
            <a:pPr algn="l">
              <a:lnSpc>
                <a:spcPts val="2500"/>
              </a:lnSpc>
            </a:pPr>
            <a:r>
              <a:rPr lang="en-US" sz="2000">
                <a:solidFill>
                  <a:srgbClr val="262626"/>
                </a:solidFill>
                <a:latin typeface="Inter"/>
                <a:ea typeface="Inter"/>
                <a:cs typeface="Inter"/>
                <a:sym typeface="Inter"/>
              </a:rPr>
              <a:t>Monitoring &amp; Resilience</a:t>
            </a:r>
          </a:p>
        </p:txBody>
      </p:sp>
      <p:sp>
        <p:nvSpPr>
          <p:cNvPr id="34" name="TextBox 34"/>
          <p:cNvSpPr txBox="1"/>
          <p:nvPr/>
        </p:nvSpPr>
        <p:spPr>
          <a:xfrm>
            <a:off x="5653316" y="8148609"/>
            <a:ext cx="3797056" cy="1902714"/>
          </a:xfrm>
          <a:prstGeom prst="rect">
            <a:avLst/>
          </a:prstGeom>
        </p:spPr>
        <p:txBody>
          <a:bodyPr lIns="0" tIns="0" rIns="0" bIns="0" rtlCol="0" anchor="t">
            <a:spAutoFit/>
          </a:bodyPr>
          <a:lstStyle/>
          <a:p>
            <a:pPr algn="just">
              <a:lnSpc>
                <a:spcPts val="2312"/>
              </a:lnSpc>
            </a:pPr>
            <a:r>
              <a:rPr lang="en-US" sz="1562">
                <a:solidFill>
                  <a:srgbClr val="262626"/>
                </a:solidFill>
                <a:latin typeface="Arimo"/>
                <a:ea typeface="Arimo"/>
                <a:cs typeface="Arimo"/>
                <a:sym typeface="Arimo"/>
              </a:rPr>
              <a:t>BIOSYNC operates unattended with built-in watchdog monitoring, crash recovery, network interruption handling, and session continuity  designed for real world institutional stability.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grpSp>
        <p:nvGrpSpPr>
          <p:cNvPr id="6" name="Group 6"/>
          <p:cNvGrpSpPr/>
          <p:nvPr/>
        </p:nvGrpSpPr>
        <p:grpSpPr>
          <a:xfrm>
            <a:off x="445580" y="647700"/>
            <a:ext cx="2450020" cy="551717"/>
            <a:chOff x="0" y="0"/>
            <a:chExt cx="2871851" cy="459194"/>
          </a:xfrm>
        </p:grpSpPr>
        <p:sp>
          <p:nvSpPr>
            <p:cNvPr id="7" name="Freeform 7"/>
            <p:cNvSpPr/>
            <p:nvPr/>
          </p:nvSpPr>
          <p:spPr>
            <a:xfrm>
              <a:off x="0" y="0"/>
              <a:ext cx="2871851" cy="459105"/>
            </a:xfrm>
            <a:custGeom>
              <a:avLst/>
              <a:gdLst/>
              <a:ahLst/>
              <a:cxnLst/>
              <a:rect l="l" t="t" r="r" b="b"/>
              <a:pathLst>
                <a:path w="2871851" h="459105">
                  <a:moveTo>
                    <a:pt x="0" y="192278"/>
                  </a:moveTo>
                  <a:cubicBezTo>
                    <a:pt x="0" y="85979"/>
                    <a:pt x="88265" y="0"/>
                    <a:pt x="196723" y="0"/>
                  </a:cubicBezTo>
                  <a:lnTo>
                    <a:pt x="2675128" y="0"/>
                  </a:lnTo>
                  <a:lnTo>
                    <a:pt x="2675128" y="6350"/>
                  </a:lnTo>
                  <a:lnTo>
                    <a:pt x="2675128" y="0"/>
                  </a:lnTo>
                  <a:cubicBezTo>
                    <a:pt x="2783586" y="0"/>
                    <a:pt x="2871851" y="85979"/>
                    <a:pt x="2871851" y="192278"/>
                  </a:cubicBezTo>
                  <a:lnTo>
                    <a:pt x="2865501" y="192278"/>
                  </a:lnTo>
                  <a:lnTo>
                    <a:pt x="2871851" y="192278"/>
                  </a:lnTo>
                  <a:lnTo>
                    <a:pt x="2871851" y="266827"/>
                  </a:lnTo>
                  <a:lnTo>
                    <a:pt x="2865501" y="266827"/>
                  </a:lnTo>
                  <a:lnTo>
                    <a:pt x="2871851" y="266827"/>
                  </a:lnTo>
                  <a:cubicBezTo>
                    <a:pt x="2871851" y="373126"/>
                    <a:pt x="2783586" y="459105"/>
                    <a:pt x="2675128" y="459105"/>
                  </a:cubicBezTo>
                  <a:lnTo>
                    <a:pt x="2675128" y="452755"/>
                  </a:lnTo>
                  <a:lnTo>
                    <a:pt x="2675128" y="459105"/>
                  </a:lnTo>
                  <a:lnTo>
                    <a:pt x="196723" y="459105"/>
                  </a:lnTo>
                  <a:lnTo>
                    <a:pt x="196723" y="452755"/>
                  </a:lnTo>
                  <a:lnTo>
                    <a:pt x="196723" y="459105"/>
                  </a:lnTo>
                  <a:cubicBezTo>
                    <a:pt x="88265" y="459232"/>
                    <a:pt x="0" y="373253"/>
                    <a:pt x="0" y="266827"/>
                  </a:cubicBezTo>
                  <a:lnTo>
                    <a:pt x="0" y="192278"/>
                  </a:lnTo>
                  <a:lnTo>
                    <a:pt x="6350" y="192278"/>
                  </a:lnTo>
                  <a:lnTo>
                    <a:pt x="0" y="192278"/>
                  </a:lnTo>
                  <a:moveTo>
                    <a:pt x="12700" y="192278"/>
                  </a:moveTo>
                  <a:lnTo>
                    <a:pt x="12700" y="266827"/>
                  </a:lnTo>
                  <a:lnTo>
                    <a:pt x="6350" y="266827"/>
                  </a:lnTo>
                  <a:lnTo>
                    <a:pt x="12700" y="266827"/>
                  </a:lnTo>
                  <a:cubicBezTo>
                    <a:pt x="12700" y="365887"/>
                    <a:pt x="94996" y="446405"/>
                    <a:pt x="196723" y="446405"/>
                  </a:cubicBezTo>
                  <a:lnTo>
                    <a:pt x="2675128" y="446405"/>
                  </a:lnTo>
                  <a:cubicBezTo>
                    <a:pt x="2776982" y="446405"/>
                    <a:pt x="2859151" y="365887"/>
                    <a:pt x="2859151" y="266827"/>
                  </a:cubicBezTo>
                  <a:lnTo>
                    <a:pt x="2859151" y="192278"/>
                  </a:lnTo>
                  <a:cubicBezTo>
                    <a:pt x="2859151" y="93218"/>
                    <a:pt x="2776855" y="12700"/>
                    <a:pt x="2675128" y="12700"/>
                  </a:cubicBezTo>
                  <a:lnTo>
                    <a:pt x="196723" y="12700"/>
                  </a:lnTo>
                  <a:lnTo>
                    <a:pt x="196723" y="6350"/>
                  </a:lnTo>
                  <a:lnTo>
                    <a:pt x="196723" y="12700"/>
                  </a:lnTo>
                  <a:cubicBezTo>
                    <a:pt x="94996" y="12700"/>
                    <a:pt x="12700" y="93218"/>
                    <a:pt x="12700" y="192278"/>
                  </a:cubicBezTo>
                  <a:close/>
                </a:path>
              </a:pathLst>
            </a:custGeom>
            <a:solidFill>
              <a:srgbClr val="FF7047"/>
            </a:solidFill>
          </p:spPr>
        </p:sp>
      </p:grpSp>
      <p:sp>
        <p:nvSpPr>
          <p:cNvPr id="8" name="TextBox 8"/>
          <p:cNvSpPr txBox="1"/>
          <p:nvPr/>
        </p:nvSpPr>
        <p:spPr>
          <a:xfrm>
            <a:off x="609600" y="876300"/>
            <a:ext cx="2153887" cy="137923"/>
          </a:xfrm>
          <a:prstGeom prst="rect">
            <a:avLst/>
          </a:prstGeom>
        </p:spPr>
        <p:txBody>
          <a:bodyPr wrap="square" lIns="0" tIns="0" rIns="0" bIns="0" rtlCol="0" anchor="t">
            <a:spAutoFit/>
          </a:bodyPr>
          <a:lstStyle/>
          <a:p>
            <a:pPr algn="l">
              <a:lnSpc>
                <a:spcPts val="1000"/>
              </a:lnSpc>
            </a:pPr>
            <a:r>
              <a:rPr lang="en-US" sz="1249" b="1" spc="5" dirty="0">
                <a:solidFill>
                  <a:srgbClr val="FF7047"/>
                </a:solidFill>
                <a:latin typeface="Merriweather Sans Bold"/>
                <a:ea typeface="Merriweather Sans Bold"/>
                <a:cs typeface="Merriweather Sans Bold"/>
                <a:sym typeface="Merriweather Sans Bold"/>
              </a:rPr>
              <a:t>END-TO-END WORKFLOW</a:t>
            </a:r>
          </a:p>
        </p:txBody>
      </p:sp>
      <p:sp>
        <p:nvSpPr>
          <p:cNvPr id="9" name="TextBox 9"/>
          <p:cNvSpPr txBox="1"/>
          <p:nvPr/>
        </p:nvSpPr>
        <p:spPr>
          <a:xfrm>
            <a:off x="542276" y="1312774"/>
            <a:ext cx="8373123" cy="846386"/>
          </a:xfrm>
          <a:prstGeom prst="rect">
            <a:avLst/>
          </a:prstGeom>
        </p:spPr>
        <p:txBody>
          <a:bodyPr wrap="square" lIns="0" tIns="0" rIns="0" bIns="0" rtlCol="0" anchor="t">
            <a:spAutoFit/>
          </a:bodyPr>
          <a:lstStyle/>
          <a:p>
            <a:pPr algn="l">
              <a:lnSpc>
                <a:spcPts val="3312"/>
              </a:lnSpc>
            </a:pPr>
            <a:r>
              <a:rPr lang="en-US" sz="3000" dirty="0">
                <a:solidFill>
                  <a:srgbClr val="0C0D0F"/>
                </a:solidFill>
                <a:latin typeface="Inter"/>
                <a:ea typeface="Inter"/>
                <a:cs typeface="Inter"/>
                <a:sym typeface="Inter"/>
              </a:rPr>
              <a:t>From Biometric Device to Institutional Output</a:t>
            </a:r>
          </a:p>
          <a:p>
            <a:pPr algn="l">
              <a:lnSpc>
                <a:spcPts val="3312"/>
              </a:lnSpc>
            </a:pPr>
            <a:endParaRPr lang="en-US" sz="3000" dirty="0">
              <a:solidFill>
                <a:srgbClr val="0C0D0F"/>
              </a:solidFill>
              <a:latin typeface="Inter"/>
              <a:ea typeface="Inter"/>
              <a:cs typeface="Inter"/>
              <a:sym typeface="Inter"/>
            </a:endParaRPr>
          </a:p>
        </p:txBody>
      </p:sp>
      <p:sp>
        <p:nvSpPr>
          <p:cNvPr id="10" name="TextBox 10"/>
          <p:cNvSpPr txBox="1"/>
          <p:nvPr/>
        </p:nvSpPr>
        <p:spPr>
          <a:xfrm>
            <a:off x="542277" y="1998307"/>
            <a:ext cx="10698956" cy="1595657"/>
          </a:xfrm>
          <a:prstGeom prst="rect">
            <a:avLst/>
          </a:prstGeom>
        </p:spPr>
        <p:txBody>
          <a:bodyPr lIns="0" tIns="0" rIns="0" bIns="0" rtlCol="0" anchor="t">
            <a:spAutoFit/>
          </a:bodyPr>
          <a:lstStyle/>
          <a:p>
            <a:pPr algn="just">
              <a:lnSpc>
                <a:spcPts val="2400"/>
              </a:lnSpc>
            </a:pPr>
            <a:r>
              <a:rPr lang="en-US" sz="2000" dirty="0">
                <a:solidFill>
                  <a:srgbClr val="262626"/>
                </a:solidFill>
                <a:latin typeface="Arimo"/>
                <a:ea typeface="Arimo"/>
                <a:cs typeface="Arimo"/>
                <a:sym typeface="Arimo"/>
              </a:rPr>
              <a:t>BIOSYNC's operational pipeline is designed as a seamless, automated flow — from the moment a biometric device captures an attendance event to the moment a structured report is delivered to stakeholders and archived in the cloud. Every step is handled programmatically, with no manual handoffs required during normal operation. The diagram below illustrates the complete data journey through the platform.</a:t>
            </a:r>
          </a:p>
        </p:txBody>
      </p:sp>
      <p:grpSp>
        <p:nvGrpSpPr>
          <p:cNvPr id="11" name="Group 11"/>
          <p:cNvGrpSpPr/>
          <p:nvPr/>
        </p:nvGrpSpPr>
        <p:grpSpPr>
          <a:xfrm>
            <a:off x="445580" y="3707321"/>
            <a:ext cx="11267227" cy="6391151"/>
            <a:chOff x="0" y="0"/>
            <a:chExt cx="15022970" cy="8521535"/>
          </a:xfrm>
        </p:grpSpPr>
        <p:sp>
          <p:nvSpPr>
            <p:cNvPr id="12" name="Freeform 12" descr="preencoded.png"/>
            <p:cNvSpPr/>
            <p:nvPr/>
          </p:nvSpPr>
          <p:spPr>
            <a:xfrm>
              <a:off x="0" y="0"/>
              <a:ext cx="15022957" cy="8521573"/>
            </a:xfrm>
            <a:custGeom>
              <a:avLst/>
              <a:gdLst/>
              <a:ahLst/>
              <a:cxnLst/>
              <a:rect l="l" t="t" r="r" b="b"/>
              <a:pathLst>
                <a:path w="15022957" h="8521573">
                  <a:moveTo>
                    <a:pt x="0" y="0"/>
                  </a:moveTo>
                  <a:lnTo>
                    <a:pt x="15022957" y="0"/>
                  </a:lnTo>
                  <a:lnTo>
                    <a:pt x="15022957" y="8521573"/>
                  </a:lnTo>
                  <a:lnTo>
                    <a:pt x="0" y="8521573"/>
                  </a:lnTo>
                  <a:lnTo>
                    <a:pt x="0" y="0"/>
                  </a:lnTo>
                  <a:close/>
                </a:path>
              </a:pathLst>
            </a:custGeom>
            <a:blipFill>
              <a:blip r:embed="rId3"/>
              <a:stretch>
                <a:fillRect l="-797" r="-797"/>
              </a:stretch>
            </a:blipFill>
          </p:spPr>
        </p:sp>
      </p:grpSp>
      <p:sp>
        <p:nvSpPr>
          <p:cNvPr id="13" name="TextBox 13"/>
          <p:cNvSpPr txBox="1"/>
          <p:nvPr/>
        </p:nvSpPr>
        <p:spPr>
          <a:xfrm>
            <a:off x="12268200" y="1257300"/>
            <a:ext cx="3886762" cy="365228"/>
          </a:xfrm>
          <a:prstGeom prst="rect">
            <a:avLst/>
          </a:prstGeom>
        </p:spPr>
        <p:txBody>
          <a:bodyPr wrap="square" lIns="0" tIns="0" rIns="0" bIns="0" rtlCol="0" anchor="t">
            <a:spAutoFit/>
          </a:bodyPr>
          <a:lstStyle/>
          <a:p>
            <a:pPr algn="l">
              <a:lnSpc>
                <a:spcPts val="2999"/>
              </a:lnSpc>
            </a:pPr>
            <a:r>
              <a:rPr lang="en-US" sz="2499" dirty="0">
                <a:solidFill>
                  <a:srgbClr val="0C0D0F"/>
                </a:solidFill>
                <a:latin typeface="Inter"/>
                <a:ea typeface="Inter"/>
                <a:cs typeface="Inter"/>
                <a:sym typeface="Inter"/>
              </a:rPr>
              <a:t>Automated Data Flow</a:t>
            </a:r>
          </a:p>
        </p:txBody>
      </p:sp>
      <p:sp>
        <p:nvSpPr>
          <p:cNvPr id="14" name="TextBox 14"/>
          <p:cNvSpPr txBox="1"/>
          <p:nvPr/>
        </p:nvSpPr>
        <p:spPr>
          <a:xfrm>
            <a:off x="12078319" y="1726244"/>
            <a:ext cx="5183981" cy="1867719"/>
          </a:xfrm>
          <a:prstGeom prst="rect">
            <a:avLst/>
          </a:prstGeom>
        </p:spPr>
        <p:txBody>
          <a:bodyPr lIns="0" tIns="0" rIns="0" bIns="0" rtlCol="0" anchor="t">
            <a:spAutoFit/>
          </a:bodyPr>
          <a:lstStyle/>
          <a:p>
            <a:pPr marL="245070" lvl="1" indent="-122535" algn="just">
              <a:lnSpc>
                <a:spcPts val="1950"/>
              </a:lnSpc>
              <a:buFont typeface="Arial"/>
              <a:buChar char="•"/>
            </a:pPr>
            <a:r>
              <a:rPr lang="en-US" sz="1625">
                <a:solidFill>
                  <a:srgbClr val="262626"/>
                </a:solidFill>
                <a:latin typeface="Arimo"/>
                <a:ea typeface="Arimo"/>
                <a:cs typeface="Arimo"/>
                <a:sym typeface="Arimo"/>
              </a:rPr>
              <a:t>BIOSYNC polls the biometric device at configured intervals, retrieves new attendance records, and immediately begins the preprocessing cycle. There is no waiting for a staff member to export a CSV file — data moves from device to processed output entirely through the platform's automated pipeline.</a:t>
            </a:r>
          </a:p>
        </p:txBody>
      </p:sp>
      <p:sp>
        <p:nvSpPr>
          <p:cNvPr id="15" name="TextBox 15"/>
          <p:cNvSpPr txBox="1"/>
          <p:nvPr/>
        </p:nvSpPr>
        <p:spPr>
          <a:xfrm>
            <a:off x="12078319" y="3580714"/>
            <a:ext cx="5183981" cy="1615811"/>
          </a:xfrm>
          <a:prstGeom prst="rect">
            <a:avLst/>
          </a:prstGeom>
        </p:spPr>
        <p:txBody>
          <a:bodyPr lIns="0" tIns="0" rIns="0" bIns="0" rtlCol="0" anchor="t">
            <a:spAutoFit/>
          </a:bodyPr>
          <a:lstStyle/>
          <a:p>
            <a:pPr marL="245070" lvl="1" indent="-122535" algn="just">
              <a:lnSpc>
                <a:spcPts val="1950"/>
              </a:lnSpc>
              <a:buFont typeface="Arial"/>
              <a:buChar char="•"/>
            </a:pPr>
            <a:r>
              <a:rPr lang="en-US" sz="1625" dirty="0">
                <a:solidFill>
                  <a:srgbClr val="262626"/>
                </a:solidFill>
                <a:latin typeface="Arimo"/>
                <a:ea typeface="Arimo"/>
                <a:cs typeface="Arimo"/>
                <a:sym typeface="Arimo"/>
              </a:rPr>
              <a:t>Each stage in the pipeline has built-in validation. If data fails a check — for example, a malformed timestamp or a duplicate entry it is flagged and handled according to configured rules, ensuring that only clean, reliable records reach the reporting layer.</a:t>
            </a:r>
          </a:p>
        </p:txBody>
      </p:sp>
      <p:sp>
        <p:nvSpPr>
          <p:cNvPr id="16" name="TextBox 16"/>
          <p:cNvSpPr txBox="1"/>
          <p:nvPr/>
        </p:nvSpPr>
        <p:spPr>
          <a:xfrm>
            <a:off x="12377233" y="5753100"/>
            <a:ext cx="3091367" cy="230576"/>
          </a:xfrm>
          <a:prstGeom prst="rect">
            <a:avLst/>
          </a:prstGeom>
        </p:spPr>
        <p:txBody>
          <a:bodyPr wrap="square" lIns="0" tIns="0" rIns="0" bIns="0" rtlCol="0" anchor="t">
            <a:spAutoFit/>
          </a:bodyPr>
          <a:lstStyle/>
          <a:p>
            <a:pPr algn="l">
              <a:lnSpc>
                <a:spcPts val="1625"/>
              </a:lnSpc>
            </a:pPr>
            <a:r>
              <a:rPr lang="en-US" sz="2499" dirty="0">
                <a:solidFill>
                  <a:srgbClr val="0C0D0F"/>
                </a:solidFill>
                <a:latin typeface="Inter"/>
                <a:ea typeface="Inter"/>
                <a:cs typeface="Inter"/>
                <a:sym typeface="Inter"/>
              </a:rPr>
              <a:t>Output Delivery</a:t>
            </a:r>
          </a:p>
        </p:txBody>
      </p:sp>
      <p:sp>
        <p:nvSpPr>
          <p:cNvPr id="17" name="TextBox 17"/>
          <p:cNvSpPr txBox="1"/>
          <p:nvPr/>
        </p:nvSpPr>
        <p:spPr>
          <a:xfrm>
            <a:off x="12123496" y="6025077"/>
            <a:ext cx="5183981" cy="1441552"/>
          </a:xfrm>
          <a:prstGeom prst="rect">
            <a:avLst/>
          </a:prstGeom>
        </p:spPr>
        <p:txBody>
          <a:bodyPr lIns="0" tIns="0" rIns="0" bIns="0" rtlCol="0" anchor="t">
            <a:spAutoFit/>
          </a:bodyPr>
          <a:lstStyle/>
          <a:p>
            <a:pPr marL="245070" lvl="1" indent="-122535" algn="just">
              <a:lnSpc>
                <a:spcPts val="1950"/>
              </a:lnSpc>
              <a:buFont typeface="Arial"/>
              <a:buChar char="•"/>
            </a:pPr>
            <a:r>
              <a:rPr lang="en-US" sz="1625">
                <a:solidFill>
                  <a:srgbClr val="262626"/>
                </a:solidFill>
                <a:latin typeface="Arimo"/>
                <a:ea typeface="Arimo"/>
                <a:cs typeface="Arimo"/>
                <a:sym typeface="Arimo"/>
              </a:rPr>
              <a:t>Once reports are generated, BIOSYNC automatically routes them through the communication layer. WhatsApp messages are formatted, addressed to the correct group or contact, and sent without manual intervention. Simultaneously, every report and its underlying data are backed up locally and synchronized to Google Drive for long-term institutional preservation.</a:t>
            </a:r>
          </a:p>
        </p:txBody>
      </p:sp>
      <p:sp>
        <p:nvSpPr>
          <p:cNvPr id="18" name="TextBox 18"/>
          <p:cNvSpPr txBox="1"/>
          <p:nvPr/>
        </p:nvSpPr>
        <p:spPr>
          <a:xfrm>
            <a:off x="12125458" y="8338471"/>
            <a:ext cx="5183981" cy="1165879"/>
          </a:xfrm>
          <a:prstGeom prst="rect">
            <a:avLst/>
          </a:prstGeom>
        </p:spPr>
        <p:txBody>
          <a:bodyPr lIns="0" tIns="0" rIns="0" bIns="0" rtlCol="0" anchor="t">
            <a:spAutoFit/>
          </a:bodyPr>
          <a:lstStyle/>
          <a:p>
            <a:pPr marL="245070" lvl="1" indent="-122535" algn="just">
              <a:lnSpc>
                <a:spcPts val="1950"/>
              </a:lnSpc>
              <a:buFont typeface="Arial"/>
              <a:buChar char="•"/>
            </a:pPr>
            <a:r>
              <a:rPr lang="en-US" sz="1625">
                <a:solidFill>
                  <a:srgbClr val="262626"/>
                </a:solidFill>
                <a:latin typeface="Arimo"/>
                <a:ea typeface="Arimo"/>
                <a:cs typeface="Arimo"/>
                <a:sym typeface="Arimo"/>
              </a:rPr>
              <a:t>The entire pipeline — from data capture to cloud sync — operates on schedule or on trigger, making BIOSYNC suitable for unattended, production-grade institutional 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381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grpSp>
        <p:nvGrpSpPr>
          <p:cNvPr id="6" name="Group 6"/>
          <p:cNvGrpSpPr/>
          <p:nvPr/>
        </p:nvGrpSpPr>
        <p:grpSpPr>
          <a:xfrm>
            <a:off x="260147" y="231029"/>
            <a:ext cx="2450059" cy="529047"/>
            <a:chOff x="0" y="0"/>
            <a:chExt cx="3266745" cy="705396"/>
          </a:xfrm>
        </p:grpSpPr>
        <p:sp>
          <p:nvSpPr>
            <p:cNvPr id="7" name="Freeform 7"/>
            <p:cNvSpPr/>
            <p:nvPr/>
          </p:nvSpPr>
          <p:spPr>
            <a:xfrm>
              <a:off x="-1524" y="-1651"/>
              <a:ext cx="3269869" cy="708660"/>
            </a:xfrm>
            <a:custGeom>
              <a:avLst/>
              <a:gdLst/>
              <a:ahLst/>
              <a:cxnLst/>
              <a:rect l="l" t="t" r="r" b="b"/>
              <a:pathLst>
                <a:path w="3269869" h="708660">
                  <a:moveTo>
                    <a:pt x="0" y="317246"/>
                  </a:moveTo>
                  <a:cubicBezTo>
                    <a:pt x="0" y="142113"/>
                    <a:pt x="141986" y="127"/>
                    <a:pt x="317119" y="0"/>
                  </a:cubicBezTo>
                  <a:lnTo>
                    <a:pt x="2952750" y="0"/>
                  </a:lnTo>
                  <a:lnTo>
                    <a:pt x="2952750" y="1651"/>
                  </a:lnTo>
                  <a:lnTo>
                    <a:pt x="2952750" y="127"/>
                  </a:lnTo>
                  <a:cubicBezTo>
                    <a:pt x="3127883" y="127"/>
                    <a:pt x="3269869" y="142113"/>
                    <a:pt x="3269869" y="317246"/>
                  </a:cubicBezTo>
                  <a:lnTo>
                    <a:pt x="3268345" y="317246"/>
                  </a:lnTo>
                  <a:lnTo>
                    <a:pt x="3269869" y="317246"/>
                  </a:lnTo>
                  <a:lnTo>
                    <a:pt x="3269869" y="391541"/>
                  </a:lnTo>
                  <a:lnTo>
                    <a:pt x="3268345" y="391541"/>
                  </a:lnTo>
                  <a:lnTo>
                    <a:pt x="3269869" y="391541"/>
                  </a:lnTo>
                  <a:cubicBezTo>
                    <a:pt x="3269869" y="566674"/>
                    <a:pt x="3127883" y="708660"/>
                    <a:pt x="2952750" y="708660"/>
                  </a:cubicBezTo>
                  <a:lnTo>
                    <a:pt x="2952750" y="707136"/>
                  </a:lnTo>
                  <a:lnTo>
                    <a:pt x="2952750" y="708660"/>
                  </a:lnTo>
                  <a:lnTo>
                    <a:pt x="317119" y="708660"/>
                  </a:lnTo>
                  <a:lnTo>
                    <a:pt x="317119" y="707136"/>
                  </a:lnTo>
                  <a:lnTo>
                    <a:pt x="317119" y="708660"/>
                  </a:lnTo>
                  <a:cubicBezTo>
                    <a:pt x="141986" y="708660"/>
                    <a:pt x="0" y="566674"/>
                    <a:pt x="0" y="391414"/>
                  </a:cubicBezTo>
                  <a:lnTo>
                    <a:pt x="0" y="317246"/>
                  </a:lnTo>
                  <a:lnTo>
                    <a:pt x="1524" y="317246"/>
                  </a:lnTo>
                  <a:lnTo>
                    <a:pt x="0" y="317246"/>
                  </a:lnTo>
                  <a:moveTo>
                    <a:pt x="3175" y="317246"/>
                  </a:moveTo>
                  <a:lnTo>
                    <a:pt x="3175" y="391541"/>
                  </a:lnTo>
                  <a:lnTo>
                    <a:pt x="1524" y="391541"/>
                  </a:lnTo>
                  <a:lnTo>
                    <a:pt x="3048" y="391541"/>
                  </a:lnTo>
                  <a:cubicBezTo>
                    <a:pt x="3048" y="564896"/>
                    <a:pt x="143637" y="705485"/>
                    <a:pt x="316992" y="705485"/>
                  </a:cubicBezTo>
                  <a:lnTo>
                    <a:pt x="2952750" y="705485"/>
                  </a:lnTo>
                  <a:cubicBezTo>
                    <a:pt x="3126105" y="705485"/>
                    <a:pt x="3266694" y="564896"/>
                    <a:pt x="3266694" y="391541"/>
                  </a:cubicBezTo>
                  <a:lnTo>
                    <a:pt x="3266694" y="317246"/>
                  </a:lnTo>
                  <a:cubicBezTo>
                    <a:pt x="3266694" y="143764"/>
                    <a:pt x="3126105" y="3175"/>
                    <a:pt x="2952750" y="3175"/>
                  </a:cubicBezTo>
                  <a:lnTo>
                    <a:pt x="317119" y="3175"/>
                  </a:lnTo>
                  <a:lnTo>
                    <a:pt x="317119" y="1651"/>
                  </a:lnTo>
                  <a:lnTo>
                    <a:pt x="317119" y="3175"/>
                  </a:lnTo>
                  <a:cubicBezTo>
                    <a:pt x="143637" y="3175"/>
                    <a:pt x="3048" y="143764"/>
                    <a:pt x="3048" y="317246"/>
                  </a:cubicBezTo>
                  <a:close/>
                </a:path>
              </a:pathLst>
            </a:custGeom>
            <a:solidFill>
              <a:srgbClr val="ED7D31"/>
            </a:solidFill>
          </p:spPr>
        </p:sp>
      </p:grpSp>
      <p:sp>
        <p:nvSpPr>
          <p:cNvPr id="8" name="TextBox 8"/>
          <p:cNvSpPr txBox="1"/>
          <p:nvPr/>
        </p:nvSpPr>
        <p:spPr>
          <a:xfrm>
            <a:off x="381000" y="495300"/>
            <a:ext cx="2282752" cy="155940"/>
          </a:xfrm>
          <a:prstGeom prst="rect">
            <a:avLst/>
          </a:prstGeom>
        </p:spPr>
        <p:txBody>
          <a:bodyPr wrap="square" lIns="0" tIns="0" rIns="0" bIns="0" rtlCol="0" anchor="t">
            <a:spAutoFit/>
          </a:bodyPr>
          <a:lstStyle/>
          <a:p>
            <a:pPr algn="l">
              <a:lnSpc>
                <a:spcPts val="1124"/>
              </a:lnSpc>
            </a:pPr>
            <a:r>
              <a:rPr lang="en-US" sz="1500" b="1" spc="6" dirty="0">
                <a:solidFill>
                  <a:srgbClr val="C55A11"/>
                </a:solidFill>
                <a:latin typeface="Merriweather Sans Bold"/>
                <a:ea typeface="Merriweather Sans Bold"/>
                <a:cs typeface="Merriweather Sans Bold"/>
                <a:sym typeface="Merriweather Sans Bold"/>
              </a:rPr>
              <a:t>SYSTEM ARCHITECTURE</a:t>
            </a:r>
          </a:p>
        </p:txBody>
      </p:sp>
      <p:sp>
        <p:nvSpPr>
          <p:cNvPr id="9" name="TextBox 9"/>
          <p:cNvSpPr txBox="1"/>
          <p:nvPr/>
        </p:nvSpPr>
        <p:spPr>
          <a:xfrm>
            <a:off x="333070" y="1019375"/>
            <a:ext cx="5302453" cy="457648"/>
          </a:xfrm>
          <a:prstGeom prst="rect">
            <a:avLst/>
          </a:prstGeom>
        </p:spPr>
        <p:txBody>
          <a:bodyPr lIns="0" tIns="0" rIns="0" bIns="0" rtlCol="0" anchor="t">
            <a:spAutoFit/>
          </a:bodyPr>
          <a:lstStyle/>
          <a:p>
            <a:pPr algn="l">
              <a:lnSpc>
                <a:spcPts val="3499"/>
              </a:lnSpc>
            </a:pPr>
            <a:r>
              <a:rPr lang="en-US" sz="2812">
                <a:solidFill>
                  <a:srgbClr val="0C0D0F"/>
                </a:solidFill>
                <a:latin typeface="Inter"/>
                <a:ea typeface="Inter"/>
                <a:cs typeface="Inter"/>
                <a:sym typeface="Inter"/>
              </a:rPr>
              <a:t>BIOSYNC Platform Architecture</a:t>
            </a:r>
          </a:p>
        </p:txBody>
      </p:sp>
      <p:sp>
        <p:nvSpPr>
          <p:cNvPr id="10" name="TextBox 10"/>
          <p:cNvSpPr txBox="1"/>
          <p:nvPr/>
        </p:nvSpPr>
        <p:spPr>
          <a:xfrm>
            <a:off x="333070" y="1635528"/>
            <a:ext cx="8282892" cy="1987582"/>
          </a:xfrm>
          <a:prstGeom prst="rect">
            <a:avLst/>
          </a:prstGeom>
        </p:spPr>
        <p:txBody>
          <a:bodyPr lIns="0" tIns="0" rIns="0" bIns="0" rtlCol="0" anchor="t">
            <a:spAutoFit/>
          </a:bodyPr>
          <a:lstStyle/>
          <a:p>
            <a:pPr algn="just">
              <a:lnSpc>
                <a:spcPts val="2100"/>
              </a:lnSpc>
            </a:pPr>
            <a:r>
              <a:rPr lang="en-US" sz="1750" dirty="0">
                <a:solidFill>
                  <a:srgbClr val="262626"/>
                </a:solidFill>
                <a:latin typeface="Arimo"/>
                <a:ea typeface="Arimo"/>
                <a:cs typeface="Arimo"/>
                <a:sym typeface="Arimo"/>
              </a:rPr>
              <a:t>BIOSYNC is engineered as a modular, layered platform — each component has a clearly defined responsibility, communicates through structured interfaces, and can be maintained or extended independently. This architecture ensures that the platform remains stable under load, resilient to failures, and adaptable to evolving institutional requirements. The diagram below presents the full system architecture with all integrated modules and their relationships.</a:t>
            </a:r>
          </a:p>
        </p:txBody>
      </p:sp>
      <p:grpSp>
        <p:nvGrpSpPr>
          <p:cNvPr id="11" name="Group 11"/>
          <p:cNvGrpSpPr/>
          <p:nvPr/>
        </p:nvGrpSpPr>
        <p:grpSpPr>
          <a:xfrm>
            <a:off x="0" y="3673002"/>
            <a:ext cx="9403232" cy="6319409"/>
            <a:chOff x="0" y="0"/>
            <a:chExt cx="12537643" cy="8425878"/>
          </a:xfrm>
        </p:grpSpPr>
        <p:sp>
          <p:nvSpPr>
            <p:cNvPr id="12" name="Freeform 12" descr="preencoded.png"/>
            <p:cNvSpPr/>
            <p:nvPr/>
          </p:nvSpPr>
          <p:spPr>
            <a:xfrm>
              <a:off x="0" y="0"/>
              <a:ext cx="12537694" cy="8425942"/>
            </a:xfrm>
            <a:custGeom>
              <a:avLst/>
              <a:gdLst/>
              <a:ahLst/>
              <a:cxnLst/>
              <a:rect l="l" t="t" r="r" b="b"/>
              <a:pathLst>
                <a:path w="12537694" h="8425942">
                  <a:moveTo>
                    <a:pt x="0" y="0"/>
                  </a:moveTo>
                  <a:lnTo>
                    <a:pt x="12537694" y="0"/>
                  </a:lnTo>
                  <a:lnTo>
                    <a:pt x="12537694" y="8425942"/>
                  </a:lnTo>
                  <a:lnTo>
                    <a:pt x="0" y="8425942"/>
                  </a:lnTo>
                  <a:lnTo>
                    <a:pt x="0" y="0"/>
                  </a:lnTo>
                  <a:close/>
                </a:path>
              </a:pathLst>
            </a:custGeom>
            <a:blipFill>
              <a:blip r:embed="rId3"/>
              <a:stretch>
                <a:fillRect l="-20409" b="-73"/>
              </a:stretch>
            </a:blipFill>
          </p:spPr>
        </p:sp>
      </p:grpSp>
      <p:sp>
        <p:nvSpPr>
          <p:cNvPr id="13" name="TextBox 13"/>
          <p:cNvSpPr txBox="1"/>
          <p:nvPr/>
        </p:nvSpPr>
        <p:spPr>
          <a:xfrm>
            <a:off x="10876436" y="1257300"/>
            <a:ext cx="4820764" cy="249812"/>
          </a:xfrm>
          <a:prstGeom prst="rect">
            <a:avLst/>
          </a:prstGeom>
        </p:spPr>
        <p:txBody>
          <a:bodyPr wrap="square" lIns="0" tIns="0" rIns="0" bIns="0" rtlCol="0" anchor="t">
            <a:spAutoFit/>
          </a:bodyPr>
          <a:lstStyle/>
          <a:p>
            <a:pPr algn="l">
              <a:lnSpc>
                <a:spcPts val="1750"/>
              </a:lnSpc>
            </a:pPr>
            <a:r>
              <a:rPr lang="en-US" sz="2499" dirty="0">
                <a:solidFill>
                  <a:srgbClr val="0C0D0F"/>
                </a:solidFill>
                <a:latin typeface="Inter"/>
                <a:ea typeface="Inter"/>
                <a:cs typeface="Inter"/>
                <a:sym typeface="Inter"/>
              </a:rPr>
              <a:t>Modularity &amp; Maintainability</a:t>
            </a:r>
          </a:p>
        </p:txBody>
      </p:sp>
      <p:sp>
        <p:nvSpPr>
          <p:cNvPr id="14" name="TextBox 14"/>
          <p:cNvSpPr txBox="1"/>
          <p:nvPr/>
        </p:nvSpPr>
        <p:spPr>
          <a:xfrm>
            <a:off x="10888218" y="1471841"/>
            <a:ext cx="6115383" cy="2624242"/>
          </a:xfrm>
          <a:prstGeom prst="rect">
            <a:avLst/>
          </a:prstGeom>
        </p:spPr>
        <p:txBody>
          <a:bodyPr lIns="0" tIns="0" rIns="0" bIns="0" rtlCol="0" anchor="t">
            <a:spAutoFit/>
          </a:bodyPr>
          <a:lstStyle/>
          <a:p>
            <a:pPr algn="just">
              <a:lnSpc>
                <a:spcPts val="2100"/>
              </a:lnSpc>
            </a:pPr>
            <a:r>
              <a:rPr lang="en-US" sz="1750">
                <a:solidFill>
                  <a:srgbClr val="262626"/>
                </a:solidFill>
                <a:latin typeface="Arimo"/>
                <a:ea typeface="Arimo"/>
                <a:cs typeface="Arimo"/>
                <a:sym typeface="Arimo"/>
              </a:rPr>
              <a:t>Each architectural layer operates as an independent module with a well-defined interface. The preprocessing engine does not depend on the communication layer the report generator does not depend on cloud sync. This separation means that individual modules can be updated, debugged, or replaced without affecting the stability of the entire platform — a critical requirement for institutions that cannot afford system-wide downtime during maintenance.</a:t>
            </a:r>
          </a:p>
        </p:txBody>
      </p:sp>
      <p:sp>
        <p:nvSpPr>
          <p:cNvPr id="15" name="TextBox 15"/>
          <p:cNvSpPr txBox="1"/>
          <p:nvPr/>
        </p:nvSpPr>
        <p:spPr>
          <a:xfrm>
            <a:off x="10891322" y="5808088"/>
            <a:ext cx="3510477" cy="249812"/>
          </a:xfrm>
          <a:prstGeom prst="rect">
            <a:avLst/>
          </a:prstGeom>
        </p:spPr>
        <p:txBody>
          <a:bodyPr wrap="square" lIns="0" tIns="0" rIns="0" bIns="0" rtlCol="0" anchor="t">
            <a:spAutoFit/>
          </a:bodyPr>
          <a:lstStyle/>
          <a:p>
            <a:pPr algn="l">
              <a:lnSpc>
                <a:spcPts val="1750"/>
              </a:lnSpc>
            </a:pPr>
            <a:r>
              <a:rPr lang="en-US" sz="2499" dirty="0">
                <a:solidFill>
                  <a:srgbClr val="0C0D0F"/>
                </a:solidFill>
                <a:latin typeface="Inter"/>
                <a:ea typeface="Inter"/>
                <a:cs typeface="Inter"/>
                <a:sym typeface="Inter"/>
              </a:rPr>
              <a:t>Reliability by Design</a:t>
            </a:r>
          </a:p>
        </p:txBody>
      </p:sp>
      <p:sp>
        <p:nvSpPr>
          <p:cNvPr id="16" name="TextBox 16"/>
          <p:cNvSpPr txBox="1"/>
          <p:nvPr/>
        </p:nvSpPr>
        <p:spPr>
          <a:xfrm>
            <a:off x="10867758" y="6031325"/>
            <a:ext cx="6462408" cy="3074289"/>
          </a:xfrm>
          <a:prstGeom prst="rect">
            <a:avLst/>
          </a:prstGeom>
        </p:spPr>
        <p:txBody>
          <a:bodyPr lIns="0" tIns="0" rIns="0" bIns="0" rtlCol="0" anchor="t">
            <a:spAutoFit/>
          </a:bodyPr>
          <a:lstStyle/>
          <a:p>
            <a:pPr algn="just">
              <a:lnSpc>
                <a:spcPts val="2100"/>
              </a:lnSpc>
            </a:pPr>
            <a:r>
              <a:rPr lang="en-US" sz="1750" dirty="0">
                <a:solidFill>
                  <a:srgbClr val="262626"/>
                </a:solidFill>
                <a:latin typeface="Arimo"/>
                <a:ea typeface="Arimo"/>
                <a:cs typeface="Arimo"/>
                <a:sym typeface="Arimo"/>
              </a:rPr>
              <a:t>The monitoring and recovery subsystem sits as a supervisory layer across all other modules. It continuously checks the health of each component, detects stalls or crashes, and initiates recovery procedures automatically. Combined with the backup and archival system, this ensures that BIOSYNC can operate unattended for extended periods while maintaining data integrity and operational continuity — even in the event of network interruptions or unexpected system behavior.</a:t>
            </a:r>
          </a:p>
        </p:txBody>
      </p:sp>
      <p:sp>
        <p:nvSpPr>
          <p:cNvPr id="17" name="AutoShape 17"/>
          <p:cNvSpPr/>
          <p:nvPr/>
        </p:nvSpPr>
        <p:spPr>
          <a:xfrm rot="5397360">
            <a:off x="4597489" y="5138738"/>
            <a:ext cx="10294944" cy="0"/>
          </a:xfrm>
          <a:prstGeom prst="line">
            <a:avLst/>
          </a:prstGeom>
          <a:ln w="9525" cap="rnd">
            <a:solidFill>
              <a:srgbClr val="000000"/>
            </a:solidFill>
            <a:prstDash val="solid"/>
            <a:headEnd type="none" w="sm" len="sm"/>
            <a:tailEnd type="none" w="sm" len="sm"/>
          </a:ln>
        </p:spPr>
      </p:sp>
      <p:grpSp>
        <p:nvGrpSpPr>
          <p:cNvPr id="18" name="Group 18"/>
          <p:cNvGrpSpPr/>
          <p:nvPr/>
        </p:nvGrpSpPr>
        <p:grpSpPr>
          <a:xfrm>
            <a:off x="10396899" y="5082540"/>
            <a:ext cx="7404125" cy="3892648"/>
            <a:chOff x="0" y="0"/>
            <a:chExt cx="9872167" cy="5190198"/>
          </a:xfrm>
        </p:grpSpPr>
        <p:sp>
          <p:nvSpPr>
            <p:cNvPr id="19" name="Freeform 19"/>
            <p:cNvSpPr/>
            <p:nvPr/>
          </p:nvSpPr>
          <p:spPr>
            <a:xfrm>
              <a:off x="0" y="0"/>
              <a:ext cx="9872091" cy="5190236"/>
            </a:xfrm>
            <a:custGeom>
              <a:avLst/>
              <a:gdLst/>
              <a:ahLst/>
              <a:cxnLst/>
              <a:rect l="l" t="t" r="r" b="b"/>
              <a:pathLst>
                <a:path w="9872091" h="5190236">
                  <a:moveTo>
                    <a:pt x="0" y="872109"/>
                  </a:moveTo>
                  <a:cubicBezTo>
                    <a:pt x="0" y="390398"/>
                    <a:pt x="391160" y="0"/>
                    <a:pt x="873760" y="0"/>
                  </a:cubicBezTo>
                  <a:lnTo>
                    <a:pt x="8998331" y="0"/>
                  </a:lnTo>
                  <a:lnTo>
                    <a:pt x="8998331" y="10541"/>
                  </a:lnTo>
                  <a:lnTo>
                    <a:pt x="8998331" y="0"/>
                  </a:lnTo>
                  <a:cubicBezTo>
                    <a:pt x="9480931" y="0"/>
                    <a:pt x="9872091" y="390398"/>
                    <a:pt x="9872091" y="872109"/>
                  </a:cubicBezTo>
                  <a:lnTo>
                    <a:pt x="9872091" y="4318127"/>
                  </a:lnTo>
                  <a:lnTo>
                    <a:pt x="9861551" y="4318127"/>
                  </a:lnTo>
                  <a:lnTo>
                    <a:pt x="9872091" y="4318127"/>
                  </a:lnTo>
                  <a:cubicBezTo>
                    <a:pt x="9872091" y="4799838"/>
                    <a:pt x="9480931" y="5190236"/>
                    <a:pt x="8998331" y="5190236"/>
                  </a:cubicBezTo>
                  <a:lnTo>
                    <a:pt x="8998331" y="5179695"/>
                  </a:lnTo>
                  <a:lnTo>
                    <a:pt x="8998331" y="5190236"/>
                  </a:lnTo>
                  <a:lnTo>
                    <a:pt x="873760" y="5190236"/>
                  </a:lnTo>
                  <a:lnTo>
                    <a:pt x="873760" y="5179695"/>
                  </a:lnTo>
                  <a:lnTo>
                    <a:pt x="873760" y="5190236"/>
                  </a:lnTo>
                  <a:cubicBezTo>
                    <a:pt x="391160" y="5190236"/>
                    <a:pt x="0" y="4799838"/>
                    <a:pt x="0" y="4318127"/>
                  </a:cubicBezTo>
                  <a:lnTo>
                    <a:pt x="0" y="872109"/>
                  </a:lnTo>
                  <a:lnTo>
                    <a:pt x="10541" y="872109"/>
                  </a:lnTo>
                  <a:lnTo>
                    <a:pt x="0" y="872109"/>
                  </a:lnTo>
                  <a:moveTo>
                    <a:pt x="21209" y="872109"/>
                  </a:moveTo>
                  <a:lnTo>
                    <a:pt x="21209" y="4318127"/>
                  </a:lnTo>
                  <a:lnTo>
                    <a:pt x="10541" y="4318127"/>
                  </a:lnTo>
                  <a:lnTo>
                    <a:pt x="21082" y="4318127"/>
                  </a:lnTo>
                  <a:cubicBezTo>
                    <a:pt x="21082" y="4788027"/>
                    <a:pt x="402844" y="5169027"/>
                    <a:pt x="873633" y="5169027"/>
                  </a:cubicBezTo>
                  <a:lnTo>
                    <a:pt x="8998331" y="5169027"/>
                  </a:lnTo>
                  <a:cubicBezTo>
                    <a:pt x="9469248" y="5169027"/>
                    <a:pt x="9850882" y="4788027"/>
                    <a:pt x="9850882" y="4318127"/>
                  </a:cubicBezTo>
                  <a:lnTo>
                    <a:pt x="9850882" y="872109"/>
                  </a:lnTo>
                  <a:lnTo>
                    <a:pt x="9861424" y="872109"/>
                  </a:lnTo>
                  <a:lnTo>
                    <a:pt x="9850882" y="872109"/>
                  </a:lnTo>
                  <a:cubicBezTo>
                    <a:pt x="9850882" y="402209"/>
                    <a:pt x="9469120" y="21209"/>
                    <a:pt x="8998331" y="21209"/>
                  </a:cubicBezTo>
                  <a:lnTo>
                    <a:pt x="873760" y="21209"/>
                  </a:lnTo>
                  <a:lnTo>
                    <a:pt x="873760" y="10541"/>
                  </a:lnTo>
                  <a:lnTo>
                    <a:pt x="873760" y="21082"/>
                  </a:lnTo>
                  <a:cubicBezTo>
                    <a:pt x="402844" y="21082"/>
                    <a:pt x="21209" y="402082"/>
                    <a:pt x="21209" y="871982"/>
                  </a:cubicBezTo>
                  <a:close/>
                </a:path>
              </a:pathLst>
            </a:custGeom>
            <a:solidFill>
              <a:srgbClr val="172C51"/>
            </a:solidFill>
          </p:spPr>
        </p:sp>
      </p:grpSp>
      <p:grpSp>
        <p:nvGrpSpPr>
          <p:cNvPr id="20" name="Group 20"/>
          <p:cNvGrpSpPr/>
          <p:nvPr/>
        </p:nvGrpSpPr>
        <p:grpSpPr>
          <a:xfrm>
            <a:off x="10385117" y="665245"/>
            <a:ext cx="7215597" cy="3764966"/>
            <a:chOff x="0" y="0"/>
            <a:chExt cx="9620796" cy="5019954"/>
          </a:xfrm>
        </p:grpSpPr>
        <p:sp>
          <p:nvSpPr>
            <p:cNvPr id="21" name="Freeform 21"/>
            <p:cNvSpPr/>
            <p:nvPr/>
          </p:nvSpPr>
          <p:spPr>
            <a:xfrm>
              <a:off x="0" y="0"/>
              <a:ext cx="9620758" cy="5020056"/>
            </a:xfrm>
            <a:custGeom>
              <a:avLst/>
              <a:gdLst/>
              <a:ahLst/>
              <a:cxnLst/>
              <a:rect l="l" t="t" r="r" b="b"/>
              <a:pathLst>
                <a:path w="9620758" h="5020056">
                  <a:moveTo>
                    <a:pt x="0" y="843788"/>
                  </a:moveTo>
                  <a:cubicBezTo>
                    <a:pt x="0" y="377698"/>
                    <a:pt x="378587" y="0"/>
                    <a:pt x="845439" y="0"/>
                  </a:cubicBezTo>
                  <a:lnTo>
                    <a:pt x="8775319" y="0"/>
                  </a:lnTo>
                  <a:lnTo>
                    <a:pt x="8775319" y="10541"/>
                  </a:lnTo>
                  <a:lnTo>
                    <a:pt x="8775319" y="0"/>
                  </a:lnTo>
                  <a:cubicBezTo>
                    <a:pt x="9242171" y="0"/>
                    <a:pt x="9620758" y="377698"/>
                    <a:pt x="9620758" y="843788"/>
                  </a:cubicBezTo>
                  <a:lnTo>
                    <a:pt x="9610217" y="843788"/>
                  </a:lnTo>
                  <a:lnTo>
                    <a:pt x="9620758" y="843788"/>
                  </a:lnTo>
                  <a:lnTo>
                    <a:pt x="9620758" y="4176268"/>
                  </a:lnTo>
                  <a:lnTo>
                    <a:pt x="9610217" y="4176268"/>
                  </a:lnTo>
                  <a:lnTo>
                    <a:pt x="9620758" y="4176268"/>
                  </a:lnTo>
                  <a:cubicBezTo>
                    <a:pt x="9620758" y="4642231"/>
                    <a:pt x="9242171" y="5020056"/>
                    <a:pt x="8775319" y="5020056"/>
                  </a:cubicBezTo>
                  <a:lnTo>
                    <a:pt x="8775319" y="5009515"/>
                  </a:lnTo>
                  <a:lnTo>
                    <a:pt x="8775319" y="5020056"/>
                  </a:lnTo>
                  <a:lnTo>
                    <a:pt x="845439" y="5020056"/>
                  </a:lnTo>
                  <a:lnTo>
                    <a:pt x="845439" y="5009515"/>
                  </a:lnTo>
                  <a:lnTo>
                    <a:pt x="845439" y="5020056"/>
                  </a:lnTo>
                  <a:cubicBezTo>
                    <a:pt x="378587" y="5019929"/>
                    <a:pt x="0" y="4642231"/>
                    <a:pt x="0" y="4176268"/>
                  </a:cubicBezTo>
                  <a:lnTo>
                    <a:pt x="0" y="843788"/>
                  </a:lnTo>
                  <a:lnTo>
                    <a:pt x="10541" y="843788"/>
                  </a:lnTo>
                  <a:lnTo>
                    <a:pt x="0" y="843788"/>
                  </a:lnTo>
                  <a:moveTo>
                    <a:pt x="21209" y="843788"/>
                  </a:moveTo>
                  <a:lnTo>
                    <a:pt x="21209" y="4176268"/>
                  </a:lnTo>
                  <a:lnTo>
                    <a:pt x="10541" y="4176268"/>
                  </a:lnTo>
                  <a:lnTo>
                    <a:pt x="21082" y="4176268"/>
                  </a:lnTo>
                  <a:cubicBezTo>
                    <a:pt x="21082" y="4630547"/>
                    <a:pt x="390144" y="4998847"/>
                    <a:pt x="845312" y="4998847"/>
                  </a:cubicBezTo>
                  <a:lnTo>
                    <a:pt x="8775319" y="4998847"/>
                  </a:lnTo>
                  <a:cubicBezTo>
                    <a:pt x="9230613" y="4998847"/>
                    <a:pt x="9599549" y="4630547"/>
                    <a:pt x="9599549" y="4176268"/>
                  </a:cubicBezTo>
                  <a:lnTo>
                    <a:pt x="9599549" y="843788"/>
                  </a:lnTo>
                  <a:cubicBezTo>
                    <a:pt x="9599549" y="389509"/>
                    <a:pt x="9230487" y="21209"/>
                    <a:pt x="8775319" y="21209"/>
                  </a:cubicBezTo>
                  <a:lnTo>
                    <a:pt x="845439" y="21209"/>
                  </a:lnTo>
                  <a:lnTo>
                    <a:pt x="845439" y="10541"/>
                  </a:lnTo>
                  <a:lnTo>
                    <a:pt x="845439" y="21082"/>
                  </a:lnTo>
                  <a:cubicBezTo>
                    <a:pt x="390144" y="21082"/>
                    <a:pt x="21209" y="389382"/>
                    <a:pt x="21209" y="843661"/>
                  </a:cubicBezTo>
                  <a:close/>
                </a:path>
              </a:pathLst>
            </a:custGeom>
            <a:solidFill>
              <a:srgbClr val="172C51"/>
            </a:solid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839934" y="720100"/>
            <a:ext cx="2688098" cy="495005"/>
            <a:chOff x="0" y="0"/>
            <a:chExt cx="3584130" cy="660006"/>
          </a:xfrm>
        </p:grpSpPr>
        <p:sp>
          <p:nvSpPr>
            <p:cNvPr id="7" name="Freeform 7"/>
            <p:cNvSpPr/>
            <p:nvPr/>
          </p:nvSpPr>
          <p:spPr>
            <a:xfrm>
              <a:off x="0" y="0"/>
              <a:ext cx="3584067" cy="660019"/>
            </a:xfrm>
            <a:custGeom>
              <a:avLst/>
              <a:gdLst/>
              <a:ahLst/>
              <a:cxnLst/>
              <a:rect l="l" t="t" r="r" b="b"/>
              <a:pathLst>
                <a:path w="3584067" h="660019">
                  <a:moveTo>
                    <a:pt x="0" y="253365"/>
                  </a:moveTo>
                  <a:cubicBezTo>
                    <a:pt x="0" y="113284"/>
                    <a:pt x="115316" y="0"/>
                    <a:pt x="257302" y="0"/>
                  </a:cubicBezTo>
                  <a:lnTo>
                    <a:pt x="3326765" y="0"/>
                  </a:lnTo>
                  <a:lnTo>
                    <a:pt x="3326765" y="6350"/>
                  </a:lnTo>
                  <a:lnTo>
                    <a:pt x="3326765" y="0"/>
                  </a:lnTo>
                  <a:cubicBezTo>
                    <a:pt x="3468751" y="0"/>
                    <a:pt x="3584067" y="113284"/>
                    <a:pt x="3584067" y="253365"/>
                  </a:cubicBezTo>
                  <a:lnTo>
                    <a:pt x="3577717" y="253365"/>
                  </a:lnTo>
                  <a:lnTo>
                    <a:pt x="3584067" y="253365"/>
                  </a:lnTo>
                  <a:lnTo>
                    <a:pt x="3584067" y="406654"/>
                  </a:lnTo>
                  <a:lnTo>
                    <a:pt x="3577717" y="406654"/>
                  </a:lnTo>
                  <a:lnTo>
                    <a:pt x="3584067" y="406654"/>
                  </a:lnTo>
                  <a:cubicBezTo>
                    <a:pt x="3584067" y="546735"/>
                    <a:pt x="3468751" y="660019"/>
                    <a:pt x="3326765" y="660019"/>
                  </a:cubicBezTo>
                  <a:lnTo>
                    <a:pt x="3326765" y="653669"/>
                  </a:lnTo>
                  <a:lnTo>
                    <a:pt x="3326765" y="660019"/>
                  </a:lnTo>
                  <a:lnTo>
                    <a:pt x="257302" y="660019"/>
                  </a:lnTo>
                  <a:lnTo>
                    <a:pt x="257302" y="653669"/>
                  </a:lnTo>
                  <a:lnTo>
                    <a:pt x="257302" y="660019"/>
                  </a:lnTo>
                  <a:cubicBezTo>
                    <a:pt x="115316" y="660019"/>
                    <a:pt x="0" y="546608"/>
                    <a:pt x="0" y="406654"/>
                  </a:cubicBezTo>
                  <a:lnTo>
                    <a:pt x="0" y="253365"/>
                  </a:lnTo>
                  <a:lnTo>
                    <a:pt x="6350" y="253365"/>
                  </a:lnTo>
                  <a:lnTo>
                    <a:pt x="0" y="253365"/>
                  </a:lnTo>
                  <a:moveTo>
                    <a:pt x="12700" y="253365"/>
                  </a:moveTo>
                  <a:lnTo>
                    <a:pt x="12700" y="406654"/>
                  </a:lnTo>
                  <a:lnTo>
                    <a:pt x="6350" y="406654"/>
                  </a:lnTo>
                  <a:lnTo>
                    <a:pt x="12700" y="406654"/>
                  </a:lnTo>
                  <a:cubicBezTo>
                    <a:pt x="12700" y="539496"/>
                    <a:pt x="122174" y="647319"/>
                    <a:pt x="257302" y="647319"/>
                  </a:cubicBezTo>
                  <a:lnTo>
                    <a:pt x="3326765" y="647319"/>
                  </a:lnTo>
                  <a:cubicBezTo>
                    <a:pt x="3462020" y="647319"/>
                    <a:pt x="3571367" y="539496"/>
                    <a:pt x="3571367" y="406654"/>
                  </a:cubicBezTo>
                  <a:lnTo>
                    <a:pt x="3571367" y="253365"/>
                  </a:lnTo>
                  <a:cubicBezTo>
                    <a:pt x="3571367" y="120523"/>
                    <a:pt x="3462020" y="12700"/>
                    <a:pt x="3326765" y="12700"/>
                  </a:cubicBezTo>
                  <a:lnTo>
                    <a:pt x="257302" y="12700"/>
                  </a:lnTo>
                  <a:lnTo>
                    <a:pt x="257302" y="6350"/>
                  </a:lnTo>
                  <a:lnTo>
                    <a:pt x="257302" y="12700"/>
                  </a:lnTo>
                  <a:cubicBezTo>
                    <a:pt x="122174" y="12700"/>
                    <a:pt x="12700" y="120523"/>
                    <a:pt x="12700" y="253365"/>
                  </a:cubicBezTo>
                  <a:close/>
                </a:path>
              </a:pathLst>
            </a:custGeom>
            <a:solidFill>
              <a:srgbClr val="FF7047"/>
            </a:solidFill>
          </p:spPr>
        </p:sp>
      </p:grpSp>
      <p:sp>
        <p:nvSpPr>
          <p:cNvPr id="8" name="TextBox 8"/>
          <p:cNvSpPr txBox="1"/>
          <p:nvPr/>
        </p:nvSpPr>
        <p:spPr>
          <a:xfrm>
            <a:off x="1102281" y="876300"/>
            <a:ext cx="2425704" cy="256480"/>
          </a:xfrm>
          <a:prstGeom prst="rect">
            <a:avLst/>
          </a:prstGeom>
        </p:spPr>
        <p:txBody>
          <a:bodyPr wrap="square" lIns="0" tIns="0" rIns="0" bIns="0" rtlCol="0" anchor="t">
            <a:spAutoFit/>
          </a:bodyPr>
          <a:lstStyle/>
          <a:p>
            <a:pPr algn="l">
              <a:lnSpc>
                <a:spcPts val="2000"/>
              </a:lnSpc>
            </a:pPr>
            <a:r>
              <a:rPr lang="en-US" sz="1750" b="1" spc="7" dirty="0">
                <a:solidFill>
                  <a:srgbClr val="FF7047"/>
                </a:solidFill>
                <a:latin typeface="Merriweather Sans Bold"/>
                <a:ea typeface="Merriweather Sans Bold"/>
                <a:cs typeface="Merriweather Sans Bold"/>
                <a:sym typeface="Merriweather Sans Bold"/>
              </a:rPr>
              <a:t>DATA INTELLIGENCE</a:t>
            </a:r>
          </a:p>
        </p:txBody>
      </p:sp>
      <p:sp>
        <p:nvSpPr>
          <p:cNvPr id="9" name="TextBox 9"/>
          <p:cNvSpPr txBox="1"/>
          <p:nvPr/>
        </p:nvSpPr>
        <p:spPr>
          <a:xfrm>
            <a:off x="868261" y="1426959"/>
            <a:ext cx="16462029" cy="697411"/>
          </a:xfrm>
          <a:prstGeom prst="rect">
            <a:avLst/>
          </a:prstGeom>
        </p:spPr>
        <p:txBody>
          <a:bodyPr lIns="0" tIns="0" rIns="0" bIns="0" rtlCol="0" anchor="t">
            <a:spAutoFit/>
          </a:bodyPr>
          <a:lstStyle/>
          <a:p>
            <a:pPr algn="l">
              <a:lnSpc>
                <a:spcPts val="5312"/>
              </a:lnSpc>
            </a:pPr>
            <a:r>
              <a:rPr lang="en-US" sz="4250">
                <a:solidFill>
                  <a:srgbClr val="0C0D0F"/>
                </a:solidFill>
                <a:latin typeface="Inter"/>
                <a:ea typeface="Inter"/>
                <a:cs typeface="Inter"/>
                <a:sym typeface="Inter"/>
              </a:rPr>
              <a:t>The Intelligence Layer: From Raw Data to Report-Ready Records</a:t>
            </a:r>
          </a:p>
        </p:txBody>
      </p:sp>
      <p:sp>
        <p:nvSpPr>
          <p:cNvPr id="10" name="TextBox 10"/>
          <p:cNvSpPr txBox="1"/>
          <p:nvPr/>
        </p:nvSpPr>
        <p:spPr>
          <a:xfrm>
            <a:off x="868261" y="2390184"/>
            <a:ext cx="16551478" cy="995953"/>
          </a:xfrm>
          <a:prstGeom prst="rect">
            <a:avLst/>
          </a:prstGeom>
        </p:spPr>
        <p:txBody>
          <a:bodyPr lIns="0" tIns="0" rIns="0" bIns="0" rtlCol="0" anchor="t">
            <a:spAutoFit/>
          </a:bodyPr>
          <a:lstStyle/>
          <a:p>
            <a:pPr algn="just">
              <a:lnSpc>
                <a:spcPts val="2562"/>
              </a:lnSpc>
            </a:pPr>
            <a:r>
              <a:rPr lang="en-US" sz="2000">
                <a:solidFill>
                  <a:srgbClr val="262626"/>
                </a:solidFill>
                <a:latin typeface="Arimo"/>
                <a:ea typeface="Arimo"/>
                <a:cs typeface="Arimo"/>
                <a:sym typeface="Arimo"/>
              </a:rPr>
              <a:t>The true value of BIOSYNC lies not in collecting biometric data, but in transforming it. Raw attendance logs from a biometric device are often inconsistent  duplicate entries, malformed timestamps, missing department mappings, and unnormalized date formats are common. BIOSYNC's two-stage intelligence layer addresses this directly, converting unreliable raw input into structured, validated, analysis-ready institutional records.</a:t>
            </a:r>
          </a:p>
        </p:txBody>
      </p:sp>
      <p:grpSp>
        <p:nvGrpSpPr>
          <p:cNvPr id="11" name="Group 11"/>
          <p:cNvGrpSpPr/>
          <p:nvPr/>
        </p:nvGrpSpPr>
        <p:grpSpPr>
          <a:xfrm>
            <a:off x="5511984" y="4412552"/>
            <a:ext cx="6632524" cy="5726611"/>
            <a:chOff x="0" y="0"/>
            <a:chExt cx="8843366" cy="7635481"/>
          </a:xfrm>
        </p:grpSpPr>
        <p:sp>
          <p:nvSpPr>
            <p:cNvPr id="12" name="Freeform 12" descr="preencoded.png"/>
            <p:cNvSpPr/>
            <p:nvPr/>
          </p:nvSpPr>
          <p:spPr>
            <a:xfrm>
              <a:off x="0" y="0"/>
              <a:ext cx="8843391" cy="7635494"/>
            </a:xfrm>
            <a:custGeom>
              <a:avLst/>
              <a:gdLst/>
              <a:ahLst/>
              <a:cxnLst/>
              <a:rect l="l" t="t" r="r" b="b"/>
              <a:pathLst>
                <a:path w="8843391" h="7635494">
                  <a:moveTo>
                    <a:pt x="0" y="0"/>
                  </a:moveTo>
                  <a:lnTo>
                    <a:pt x="8843391" y="0"/>
                  </a:lnTo>
                  <a:lnTo>
                    <a:pt x="8843391" y="7635494"/>
                  </a:lnTo>
                  <a:lnTo>
                    <a:pt x="0" y="7635494"/>
                  </a:lnTo>
                  <a:lnTo>
                    <a:pt x="0" y="0"/>
                  </a:lnTo>
                  <a:close/>
                </a:path>
              </a:pathLst>
            </a:custGeom>
            <a:blipFill>
              <a:blip r:embed="rId3"/>
              <a:stretch>
                <a:fillRect t="-5" b="-5"/>
              </a:stretch>
            </a:blipFill>
          </p:spPr>
        </p:sp>
      </p:grpSp>
      <p:sp>
        <p:nvSpPr>
          <p:cNvPr id="13" name="TextBox 13"/>
          <p:cNvSpPr txBox="1"/>
          <p:nvPr/>
        </p:nvSpPr>
        <p:spPr>
          <a:xfrm>
            <a:off x="9260119" y="8337347"/>
            <a:ext cx="2416426" cy="494071"/>
          </a:xfrm>
          <a:prstGeom prst="rect">
            <a:avLst/>
          </a:prstGeom>
        </p:spPr>
        <p:txBody>
          <a:bodyPr lIns="0" tIns="0" rIns="0" bIns="0" rtlCol="0" anchor="t">
            <a:spAutoFit/>
          </a:bodyPr>
          <a:lstStyle/>
          <a:p>
            <a:pPr algn="ctr">
              <a:lnSpc>
                <a:spcPts val="3625"/>
              </a:lnSpc>
            </a:pPr>
            <a:r>
              <a:rPr lang="en-US" sz="2874">
                <a:solidFill>
                  <a:srgbClr val="55575A"/>
                </a:solidFill>
                <a:latin typeface="Inter"/>
                <a:ea typeface="Inter"/>
                <a:cs typeface="Inter"/>
                <a:sym typeface="Inter"/>
              </a:rPr>
              <a:t>Attendance</a:t>
            </a:r>
          </a:p>
        </p:txBody>
      </p:sp>
      <p:sp>
        <p:nvSpPr>
          <p:cNvPr id="14" name="TextBox 14"/>
          <p:cNvSpPr txBox="1"/>
          <p:nvPr/>
        </p:nvSpPr>
        <p:spPr>
          <a:xfrm>
            <a:off x="6021686" y="8337347"/>
            <a:ext cx="2728741" cy="959558"/>
          </a:xfrm>
          <a:prstGeom prst="rect">
            <a:avLst/>
          </a:prstGeom>
        </p:spPr>
        <p:txBody>
          <a:bodyPr lIns="0" tIns="0" rIns="0" bIns="0" rtlCol="0" anchor="t">
            <a:spAutoFit/>
          </a:bodyPr>
          <a:lstStyle/>
          <a:p>
            <a:pPr algn="ctr">
              <a:lnSpc>
                <a:spcPts val="3625"/>
              </a:lnSpc>
            </a:pPr>
            <a:r>
              <a:rPr lang="en-US" sz="2874">
                <a:solidFill>
                  <a:srgbClr val="55575A"/>
                </a:solidFill>
                <a:latin typeface="Inter"/>
                <a:ea typeface="Inter"/>
                <a:cs typeface="Inter"/>
                <a:sym typeface="Inter"/>
              </a:rPr>
              <a:t>Preprocessing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648091" y="184623"/>
            <a:ext cx="1873577" cy="391363"/>
            <a:chOff x="0" y="0"/>
            <a:chExt cx="2498103" cy="521818"/>
          </a:xfrm>
        </p:grpSpPr>
        <p:sp>
          <p:nvSpPr>
            <p:cNvPr id="7" name="Freeform 7"/>
            <p:cNvSpPr/>
            <p:nvPr/>
          </p:nvSpPr>
          <p:spPr>
            <a:xfrm>
              <a:off x="-1524" y="-1651"/>
              <a:ext cx="2501265" cy="525272"/>
            </a:xfrm>
            <a:custGeom>
              <a:avLst/>
              <a:gdLst/>
              <a:ahLst/>
              <a:cxnLst/>
              <a:rect l="l" t="t" r="r" b="b"/>
              <a:pathLst>
                <a:path w="2501265" h="525272">
                  <a:moveTo>
                    <a:pt x="0" y="229616"/>
                  </a:moveTo>
                  <a:cubicBezTo>
                    <a:pt x="0" y="102870"/>
                    <a:pt x="102743" y="127"/>
                    <a:pt x="229489" y="0"/>
                  </a:cubicBezTo>
                  <a:lnTo>
                    <a:pt x="2271649" y="0"/>
                  </a:lnTo>
                  <a:lnTo>
                    <a:pt x="2271649" y="1651"/>
                  </a:lnTo>
                  <a:lnTo>
                    <a:pt x="2271649" y="127"/>
                  </a:lnTo>
                  <a:cubicBezTo>
                    <a:pt x="2398395" y="127"/>
                    <a:pt x="2501265" y="102870"/>
                    <a:pt x="2501265" y="229743"/>
                  </a:cubicBezTo>
                  <a:lnTo>
                    <a:pt x="2499741" y="229743"/>
                  </a:lnTo>
                  <a:lnTo>
                    <a:pt x="2501265" y="229743"/>
                  </a:lnTo>
                  <a:lnTo>
                    <a:pt x="2501265" y="295656"/>
                  </a:lnTo>
                  <a:lnTo>
                    <a:pt x="2499741" y="295656"/>
                  </a:lnTo>
                  <a:lnTo>
                    <a:pt x="2501265" y="295656"/>
                  </a:lnTo>
                  <a:cubicBezTo>
                    <a:pt x="2501265" y="422402"/>
                    <a:pt x="2398522" y="525272"/>
                    <a:pt x="2271649" y="525272"/>
                  </a:cubicBezTo>
                  <a:lnTo>
                    <a:pt x="2271649" y="523748"/>
                  </a:lnTo>
                  <a:lnTo>
                    <a:pt x="2271649" y="525272"/>
                  </a:lnTo>
                  <a:lnTo>
                    <a:pt x="229489" y="525272"/>
                  </a:lnTo>
                  <a:lnTo>
                    <a:pt x="229489" y="523748"/>
                  </a:lnTo>
                  <a:lnTo>
                    <a:pt x="229489" y="525272"/>
                  </a:lnTo>
                  <a:cubicBezTo>
                    <a:pt x="102743" y="525018"/>
                    <a:pt x="0" y="422275"/>
                    <a:pt x="0" y="295529"/>
                  </a:cubicBezTo>
                  <a:lnTo>
                    <a:pt x="0" y="229616"/>
                  </a:lnTo>
                  <a:lnTo>
                    <a:pt x="1524" y="229616"/>
                  </a:lnTo>
                  <a:lnTo>
                    <a:pt x="0" y="229616"/>
                  </a:lnTo>
                  <a:moveTo>
                    <a:pt x="3175" y="229616"/>
                  </a:moveTo>
                  <a:lnTo>
                    <a:pt x="3175" y="295529"/>
                  </a:lnTo>
                  <a:lnTo>
                    <a:pt x="1524" y="295529"/>
                  </a:lnTo>
                  <a:lnTo>
                    <a:pt x="3048" y="295529"/>
                  </a:lnTo>
                  <a:cubicBezTo>
                    <a:pt x="3048" y="420497"/>
                    <a:pt x="104394" y="521970"/>
                    <a:pt x="229489" y="521970"/>
                  </a:cubicBezTo>
                  <a:lnTo>
                    <a:pt x="2271649" y="521970"/>
                  </a:lnTo>
                  <a:cubicBezTo>
                    <a:pt x="2396617" y="521970"/>
                    <a:pt x="2498090" y="420624"/>
                    <a:pt x="2498090" y="295529"/>
                  </a:cubicBezTo>
                  <a:lnTo>
                    <a:pt x="2498090" y="229616"/>
                  </a:lnTo>
                  <a:cubicBezTo>
                    <a:pt x="2498090" y="104648"/>
                    <a:pt x="2396744" y="3175"/>
                    <a:pt x="2271649" y="3175"/>
                  </a:cubicBezTo>
                  <a:lnTo>
                    <a:pt x="229489" y="3175"/>
                  </a:lnTo>
                  <a:lnTo>
                    <a:pt x="229489" y="1651"/>
                  </a:lnTo>
                  <a:lnTo>
                    <a:pt x="229489" y="3175"/>
                  </a:lnTo>
                  <a:cubicBezTo>
                    <a:pt x="104521" y="3175"/>
                    <a:pt x="3048" y="104648"/>
                    <a:pt x="3048" y="229616"/>
                  </a:cubicBezTo>
                  <a:close/>
                </a:path>
              </a:pathLst>
            </a:custGeom>
            <a:solidFill>
              <a:srgbClr val="ED7D31"/>
            </a:solidFill>
          </p:spPr>
        </p:sp>
      </p:grpSp>
      <p:sp>
        <p:nvSpPr>
          <p:cNvPr id="8" name="TextBox 8"/>
          <p:cNvSpPr txBox="1"/>
          <p:nvPr/>
        </p:nvSpPr>
        <p:spPr>
          <a:xfrm>
            <a:off x="881510" y="336375"/>
            <a:ext cx="1641386" cy="166777"/>
          </a:xfrm>
          <a:prstGeom prst="rect">
            <a:avLst/>
          </a:prstGeom>
        </p:spPr>
        <p:txBody>
          <a:bodyPr wrap="square" lIns="0" tIns="0" rIns="0" bIns="0" rtlCol="0" anchor="t">
            <a:spAutoFit/>
          </a:bodyPr>
          <a:lstStyle/>
          <a:p>
            <a:pPr algn="l">
              <a:lnSpc>
                <a:spcPts val="1312"/>
              </a:lnSpc>
            </a:pPr>
            <a:r>
              <a:rPr lang="en-US" sz="1249" b="1" spc="5" dirty="0">
                <a:solidFill>
                  <a:srgbClr val="262626"/>
                </a:solidFill>
                <a:latin typeface="Merriweather Sans Bold"/>
                <a:ea typeface="Merriweather Sans Bold"/>
                <a:cs typeface="Merriweather Sans Bold"/>
                <a:sym typeface="Merriweather Sans Bold"/>
              </a:rPr>
              <a:t>REPORTING ENGINE</a:t>
            </a:r>
          </a:p>
        </p:txBody>
      </p:sp>
      <p:sp>
        <p:nvSpPr>
          <p:cNvPr id="9" name="TextBox 9"/>
          <p:cNvSpPr txBox="1"/>
          <p:nvPr/>
        </p:nvSpPr>
        <p:spPr>
          <a:xfrm>
            <a:off x="721052" y="697182"/>
            <a:ext cx="8798871" cy="506168"/>
          </a:xfrm>
          <a:prstGeom prst="rect">
            <a:avLst/>
          </a:prstGeom>
        </p:spPr>
        <p:txBody>
          <a:bodyPr lIns="0" tIns="0" rIns="0" bIns="0" rtlCol="0" anchor="t">
            <a:spAutoFit/>
          </a:bodyPr>
          <a:lstStyle/>
          <a:p>
            <a:pPr algn="l">
              <a:lnSpc>
                <a:spcPts val="3875"/>
              </a:lnSpc>
            </a:pPr>
            <a:r>
              <a:rPr lang="en-US" sz="3125">
                <a:solidFill>
                  <a:srgbClr val="0C0D0F"/>
                </a:solidFill>
                <a:latin typeface="Inter"/>
                <a:ea typeface="Inter"/>
                <a:cs typeface="Inter"/>
                <a:sym typeface="Inter"/>
              </a:rPr>
              <a:t>Reporting Depth: Far Beyond Basic Attendance</a:t>
            </a:r>
          </a:p>
        </p:txBody>
      </p:sp>
      <p:sp>
        <p:nvSpPr>
          <p:cNvPr id="10" name="TextBox 10"/>
          <p:cNvSpPr txBox="1"/>
          <p:nvPr/>
        </p:nvSpPr>
        <p:spPr>
          <a:xfrm>
            <a:off x="744626" y="1285342"/>
            <a:ext cx="12533109" cy="625526"/>
          </a:xfrm>
          <a:prstGeom prst="rect">
            <a:avLst/>
          </a:prstGeom>
        </p:spPr>
        <p:txBody>
          <a:bodyPr lIns="0" tIns="0" rIns="0" bIns="0" rtlCol="0" anchor="t">
            <a:spAutoFit/>
          </a:bodyPr>
          <a:lstStyle/>
          <a:p>
            <a:pPr algn="just">
              <a:lnSpc>
                <a:spcPts val="1625"/>
              </a:lnSpc>
            </a:pPr>
            <a:r>
              <a:rPr lang="en-US" sz="1500">
                <a:solidFill>
                  <a:srgbClr val="262626"/>
                </a:solidFill>
                <a:latin typeface="Arimo"/>
                <a:ea typeface="Arimo"/>
                <a:cs typeface="Arimo"/>
                <a:sym typeface="Arimo"/>
              </a:rPr>
              <a:t>BIOSYNC's reporting engine is one of its most powerful differentiators. Where most attendance tools produce a single flat export, BIOSYNC generates a comprehensive library of structured reports — covering every dimension an institution needs for administration, auditing, parent communication, and strategic planning. Reports are generated automatically on schedule or on demand, in consistent professional formats.</a:t>
            </a:r>
          </a:p>
        </p:txBody>
      </p:sp>
      <p:grpSp>
        <p:nvGrpSpPr>
          <p:cNvPr id="11" name="Group 11"/>
          <p:cNvGrpSpPr/>
          <p:nvPr/>
        </p:nvGrpSpPr>
        <p:grpSpPr>
          <a:xfrm>
            <a:off x="699745" y="2227898"/>
            <a:ext cx="12552159" cy="1101033"/>
            <a:chOff x="0" y="0"/>
            <a:chExt cx="16736212" cy="1468044"/>
          </a:xfrm>
        </p:grpSpPr>
        <p:sp>
          <p:nvSpPr>
            <p:cNvPr id="12" name="Freeform 12"/>
            <p:cNvSpPr/>
            <p:nvPr/>
          </p:nvSpPr>
          <p:spPr>
            <a:xfrm>
              <a:off x="12700" y="12700"/>
              <a:ext cx="16710915" cy="1442720"/>
            </a:xfrm>
            <a:custGeom>
              <a:avLst/>
              <a:gdLst/>
              <a:ahLst/>
              <a:cxnLst/>
              <a:rect l="l" t="t" r="r" b="b"/>
              <a:pathLst>
                <a:path w="16710915" h="1442720">
                  <a:moveTo>
                    <a:pt x="0" y="190754"/>
                  </a:moveTo>
                  <a:cubicBezTo>
                    <a:pt x="0" y="85344"/>
                    <a:pt x="86741" y="0"/>
                    <a:pt x="193802" y="0"/>
                  </a:cubicBezTo>
                  <a:lnTo>
                    <a:pt x="16517113" y="0"/>
                  </a:lnTo>
                  <a:cubicBezTo>
                    <a:pt x="16624173" y="0"/>
                    <a:pt x="16710915" y="85344"/>
                    <a:pt x="16710915" y="190754"/>
                  </a:cubicBezTo>
                  <a:lnTo>
                    <a:pt x="16710915" y="1251966"/>
                  </a:lnTo>
                  <a:cubicBezTo>
                    <a:pt x="16710915" y="1357249"/>
                    <a:pt x="16624173" y="1442720"/>
                    <a:pt x="16517113" y="1442720"/>
                  </a:cubicBezTo>
                  <a:lnTo>
                    <a:pt x="193802" y="1442720"/>
                  </a:lnTo>
                  <a:cubicBezTo>
                    <a:pt x="86741" y="1442593"/>
                    <a:pt x="0" y="1357249"/>
                    <a:pt x="0" y="1251966"/>
                  </a:cubicBezTo>
                  <a:close/>
                </a:path>
              </a:pathLst>
            </a:custGeom>
            <a:solidFill>
              <a:srgbClr val="FFFFFF"/>
            </a:solidFill>
          </p:spPr>
        </p:sp>
        <p:sp>
          <p:nvSpPr>
            <p:cNvPr id="13" name="Freeform 13"/>
            <p:cNvSpPr/>
            <p:nvPr/>
          </p:nvSpPr>
          <p:spPr>
            <a:xfrm>
              <a:off x="0" y="0"/>
              <a:ext cx="16736315" cy="1468120"/>
            </a:xfrm>
            <a:custGeom>
              <a:avLst/>
              <a:gdLst/>
              <a:ahLst/>
              <a:cxnLst/>
              <a:rect l="l" t="t" r="r" b="b"/>
              <a:pathLst>
                <a:path w="16736315" h="1468120">
                  <a:moveTo>
                    <a:pt x="0" y="203454"/>
                  </a:moveTo>
                  <a:cubicBezTo>
                    <a:pt x="0" y="90932"/>
                    <a:pt x="92583" y="0"/>
                    <a:pt x="206502" y="0"/>
                  </a:cubicBezTo>
                  <a:lnTo>
                    <a:pt x="16529813" y="0"/>
                  </a:lnTo>
                  <a:lnTo>
                    <a:pt x="16529813" y="12700"/>
                  </a:lnTo>
                  <a:lnTo>
                    <a:pt x="16529813" y="0"/>
                  </a:lnTo>
                  <a:cubicBezTo>
                    <a:pt x="16643604" y="0"/>
                    <a:pt x="16736315" y="90932"/>
                    <a:pt x="16736315" y="203454"/>
                  </a:cubicBezTo>
                  <a:lnTo>
                    <a:pt x="16723615" y="203454"/>
                  </a:lnTo>
                  <a:lnTo>
                    <a:pt x="16736315" y="203454"/>
                  </a:lnTo>
                  <a:lnTo>
                    <a:pt x="16736315" y="1264666"/>
                  </a:lnTo>
                  <a:lnTo>
                    <a:pt x="16723615" y="1264666"/>
                  </a:lnTo>
                  <a:lnTo>
                    <a:pt x="16736315" y="1264666"/>
                  </a:lnTo>
                  <a:cubicBezTo>
                    <a:pt x="16736315" y="1377188"/>
                    <a:pt x="16643731" y="1468120"/>
                    <a:pt x="16529813" y="1468120"/>
                  </a:cubicBezTo>
                  <a:lnTo>
                    <a:pt x="16529813" y="1455420"/>
                  </a:lnTo>
                  <a:lnTo>
                    <a:pt x="16529813" y="1468120"/>
                  </a:lnTo>
                  <a:lnTo>
                    <a:pt x="206502" y="1468120"/>
                  </a:lnTo>
                  <a:lnTo>
                    <a:pt x="206502" y="1455420"/>
                  </a:lnTo>
                  <a:lnTo>
                    <a:pt x="206502" y="1468120"/>
                  </a:lnTo>
                  <a:cubicBezTo>
                    <a:pt x="92583" y="1467993"/>
                    <a:pt x="0" y="1377188"/>
                    <a:pt x="0" y="1264666"/>
                  </a:cubicBezTo>
                  <a:lnTo>
                    <a:pt x="0" y="203454"/>
                  </a:lnTo>
                  <a:lnTo>
                    <a:pt x="12700" y="203454"/>
                  </a:lnTo>
                  <a:lnTo>
                    <a:pt x="0" y="203454"/>
                  </a:lnTo>
                  <a:moveTo>
                    <a:pt x="25400" y="203454"/>
                  </a:moveTo>
                  <a:lnTo>
                    <a:pt x="25400" y="1264666"/>
                  </a:lnTo>
                  <a:lnTo>
                    <a:pt x="12700" y="1264666"/>
                  </a:lnTo>
                  <a:lnTo>
                    <a:pt x="25400" y="1264666"/>
                  </a:lnTo>
                  <a:cubicBezTo>
                    <a:pt x="25400" y="1362837"/>
                    <a:pt x="106299" y="1442720"/>
                    <a:pt x="206502" y="1442720"/>
                  </a:cubicBezTo>
                  <a:lnTo>
                    <a:pt x="16529813" y="1442720"/>
                  </a:lnTo>
                  <a:cubicBezTo>
                    <a:pt x="16630016" y="1442720"/>
                    <a:pt x="16710915" y="1362837"/>
                    <a:pt x="16710915" y="1264666"/>
                  </a:cubicBezTo>
                  <a:lnTo>
                    <a:pt x="16710915" y="203454"/>
                  </a:lnTo>
                  <a:cubicBezTo>
                    <a:pt x="16710915" y="105283"/>
                    <a:pt x="16630016" y="25400"/>
                    <a:pt x="16529813" y="25400"/>
                  </a:cubicBezTo>
                  <a:lnTo>
                    <a:pt x="206502" y="25400"/>
                  </a:lnTo>
                  <a:lnTo>
                    <a:pt x="206502" y="12700"/>
                  </a:lnTo>
                  <a:lnTo>
                    <a:pt x="206502" y="25400"/>
                  </a:lnTo>
                  <a:cubicBezTo>
                    <a:pt x="106299" y="25400"/>
                    <a:pt x="25400" y="105283"/>
                    <a:pt x="25400" y="203454"/>
                  </a:cubicBezTo>
                  <a:close/>
                </a:path>
              </a:pathLst>
            </a:custGeom>
            <a:solidFill>
              <a:srgbClr val="FF7047"/>
            </a:solidFill>
          </p:spPr>
        </p:sp>
      </p:grpSp>
      <p:grpSp>
        <p:nvGrpSpPr>
          <p:cNvPr id="14" name="Group 14"/>
          <p:cNvGrpSpPr/>
          <p:nvPr/>
        </p:nvGrpSpPr>
        <p:grpSpPr>
          <a:xfrm>
            <a:off x="728320" y="2256472"/>
            <a:ext cx="635641" cy="1043883"/>
            <a:chOff x="0" y="0"/>
            <a:chExt cx="847522" cy="1391844"/>
          </a:xfrm>
        </p:grpSpPr>
        <p:sp>
          <p:nvSpPr>
            <p:cNvPr id="15" name="Freeform 15"/>
            <p:cNvSpPr/>
            <p:nvPr/>
          </p:nvSpPr>
          <p:spPr>
            <a:xfrm>
              <a:off x="0" y="0"/>
              <a:ext cx="847598" cy="1391920"/>
            </a:xfrm>
            <a:custGeom>
              <a:avLst/>
              <a:gdLst/>
              <a:ahLst/>
              <a:cxnLst/>
              <a:rect l="l" t="t" r="r" b="b"/>
              <a:pathLst>
                <a:path w="847598" h="1391920">
                  <a:moveTo>
                    <a:pt x="0" y="160274"/>
                  </a:moveTo>
                  <a:cubicBezTo>
                    <a:pt x="0" y="71755"/>
                    <a:pt x="71755" y="0"/>
                    <a:pt x="160274" y="0"/>
                  </a:cubicBezTo>
                  <a:lnTo>
                    <a:pt x="687324" y="0"/>
                  </a:lnTo>
                  <a:cubicBezTo>
                    <a:pt x="775843" y="0"/>
                    <a:pt x="847598" y="71755"/>
                    <a:pt x="847598" y="160274"/>
                  </a:cubicBezTo>
                  <a:lnTo>
                    <a:pt x="847598" y="1231646"/>
                  </a:lnTo>
                  <a:cubicBezTo>
                    <a:pt x="847598" y="1320165"/>
                    <a:pt x="775843" y="1391920"/>
                    <a:pt x="687324" y="1391920"/>
                  </a:cubicBezTo>
                  <a:lnTo>
                    <a:pt x="160274" y="1391920"/>
                  </a:lnTo>
                  <a:cubicBezTo>
                    <a:pt x="71755" y="1391793"/>
                    <a:pt x="0" y="1320038"/>
                    <a:pt x="0" y="1231646"/>
                  </a:cubicBezTo>
                  <a:close/>
                </a:path>
              </a:pathLst>
            </a:custGeom>
            <a:solidFill>
              <a:srgbClr val="FFFFFF"/>
            </a:solidFill>
          </p:spPr>
        </p:sp>
      </p:grpSp>
      <p:sp>
        <p:nvSpPr>
          <p:cNvPr id="16" name="TextBox 16"/>
          <p:cNvSpPr txBox="1"/>
          <p:nvPr/>
        </p:nvSpPr>
        <p:spPr>
          <a:xfrm>
            <a:off x="1465764" y="2405748"/>
            <a:ext cx="2433047" cy="257766"/>
          </a:xfrm>
          <a:prstGeom prst="rect">
            <a:avLst/>
          </a:prstGeom>
        </p:spPr>
        <p:txBody>
          <a:bodyPr lIns="0" tIns="0" rIns="0" bIns="0" rtlCol="0" anchor="t">
            <a:spAutoFit/>
          </a:bodyPr>
          <a:lstStyle/>
          <a:p>
            <a:pPr algn="l">
              <a:lnSpc>
                <a:spcPts val="1937"/>
              </a:lnSpc>
            </a:pPr>
            <a:r>
              <a:rPr lang="en-US" sz="1562">
                <a:solidFill>
                  <a:srgbClr val="262626"/>
                </a:solidFill>
                <a:latin typeface="Inter"/>
                <a:ea typeface="Inter"/>
                <a:cs typeface="Inter"/>
                <a:sym typeface="Inter"/>
              </a:rPr>
              <a:t>Department-Wise Reports</a:t>
            </a:r>
          </a:p>
        </p:txBody>
      </p:sp>
      <p:sp>
        <p:nvSpPr>
          <p:cNvPr id="17" name="TextBox 17"/>
          <p:cNvSpPr txBox="1"/>
          <p:nvPr/>
        </p:nvSpPr>
        <p:spPr>
          <a:xfrm>
            <a:off x="1465764" y="2695966"/>
            <a:ext cx="11598773" cy="445589"/>
          </a:xfrm>
          <a:prstGeom prst="rect">
            <a:avLst/>
          </a:prstGeom>
        </p:spPr>
        <p:txBody>
          <a:bodyPr lIns="0" tIns="0" rIns="0" bIns="0" rtlCol="0" anchor="t">
            <a:spAutoFit/>
          </a:bodyPr>
          <a:lstStyle/>
          <a:p>
            <a:pPr algn="l">
              <a:lnSpc>
                <a:spcPts val="1624"/>
              </a:lnSpc>
            </a:pPr>
            <a:r>
              <a:rPr lang="en-US" sz="1312">
                <a:solidFill>
                  <a:srgbClr val="262626"/>
                </a:solidFill>
                <a:latin typeface="Arimo"/>
                <a:ea typeface="Arimo"/>
                <a:cs typeface="Arimo"/>
                <a:sym typeface="Arimo"/>
              </a:rPr>
              <a:t>Complete attendance summaries for each academic department — including total students, present counts, absence rates, and department level trends across any date range.</a:t>
            </a:r>
          </a:p>
        </p:txBody>
      </p:sp>
      <p:grpSp>
        <p:nvGrpSpPr>
          <p:cNvPr id="18" name="Group 18"/>
          <p:cNvGrpSpPr/>
          <p:nvPr/>
        </p:nvGrpSpPr>
        <p:grpSpPr>
          <a:xfrm>
            <a:off x="699745" y="3411674"/>
            <a:ext cx="12552159" cy="972588"/>
            <a:chOff x="0" y="0"/>
            <a:chExt cx="16736212" cy="1296784"/>
          </a:xfrm>
        </p:grpSpPr>
        <p:sp>
          <p:nvSpPr>
            <p:cNvPr id="19" name="Freeform 19"/>
            <p:cNvSpPr/>
            <p:nvPr/>
          </p:nvSpPr>
          <p:spPr>
            <a:xfrm>
              <a:off x="12700" y="12700"/>
              <a:ext cx="16710788" cy="1271397"/>
            </a:xfrm>
            <a:custGeom>
              <a:avLst/>
              <a:gdLst/>
              <a:ahLst/>
              <a:cxnLst/>
              <a:rect l="l" t="t" r="r" b="b"/>
              <a:pathLst>
                <a:path w="16710788" h="1271397">
                  <a:moveTo>
                    <a:pt x="0" y="190754"/>
                  </a:moveTo>
                  <a:cubicBezTo>
                    <a:pt x="0" y="85344"/>
                    <a:pt x="86995" y="0"/>
                    <a:pt x="194183" y="0"/>
                  </a:cubicBezTo>
                  <a:lnTo>
                    <a:pt x="16516604" y="0"/>
                  </a:lnTo>
                  <a:cubicBezTo>
                    <a:pt x="16623919" y="0"/>
                    <a:pt x="16710788" y="85344"/>
                    <a:pt x="16710788" y="190754"/>
                  </a:cubicBezTo>
                  <a:lnTo>
                    <a:pt x="16710788" y="1080643"/>
                  </a:lnTo>
                  <a:cubicBezTo>
                    <a:pt x="16710788" y="1185926"/>
                    <a:pt x="16623792" y="1271397"/>
                    <a:pt x="16516604" y="1271397"/>
                  </a:cubicBezTo>
                  <a:lnTo>
                    <a:pt x="194183" y="1271397"/>
                  </a:lnTo>
                  <a:cubicBezTo>
                    <a:pt x="86995" y="1271397"/>
                    <a:pt x="0" y="1186053"/>
                    <a:pt x="0" y="1080643"/>
                  </a:cubicBezTo>
                  <a:close/>
                </a:path>
              </a:pathLst>
            </a:custGeom>
            <a:solidFill>
              <a:srgbClr val="FFFFFF"/>
            </a:solidFill>
          </p:spPr>
        </p:sp>
        <p:sp>
          <p:nvSpPr>
            <p:cNvPr id="20" name="Freeform 20"/>
            <p:cNvSpPr/>
            <p:nvPr/>
          </p:nvSpPr>
          <p:spPr>
            <a:xfrm>
              <a:off x="0" y="0"/>
              <a:ext cx="16736188" cy="1296797"/>
            </a:xfrm>
            <a:custGeom>
              <a:avLst/>
              <a:gdLst/>
              <a:ahLst/>
              <a:cxnLst/>
              <a:rect l="l" t="t" r="r" b="b"/>
              <a:pathLst>
                <a:path w="16736188" h="1296797">
                  <a:moveTo>
                    <a:pt x="0" y="203454"/>
                  </a:moveTo>
                  <a:cubicBezTo>
                    <a:pt x="0" y="90805"/>
                    <a:pt x="92837" y="0"/>
                    <a:pt x="206883" y="0"/>
                  </a:cubicBezTo>
                  <a:lnTo>
                    <a:pt x="16529304" y="0"/>
                  </a:lnTo>
                  <a:lnTo>
                    <a:pt x="16529304" y="12700"/>
                  </a:lnTo>
                  <a:lnTo>
                    <a:pt x="16529304" y="0"/>
                  </a:lnTo>
                  <a:cubicBezTo>
                    <a:pt x="16643350" y="0"/>
                    <a:pt x="16736188" y="90805"/>
                    <a:pt x="16736188" y="203454"/>
                  </a:cubicBezTo>
                  <a:lnTo>
                    <a:pt x="16723488" y="203454"/>
                  </a:lnTo>
                  <a:lnTo>
                    <a:pt x="16736188" y="203454"/>
                  </a:lnTo>
                  <a:lnTo>
                    <a:pt x="16736188" y="1093343"/>
                  </a:lnTo>
                  <a:lnTo>
                    <a:pt x="16723488" y="1093343"/>
                  </a:lnTo>
                  <a:lnTo>
                    <a:pt x="16736188" y="1093343"/>
                  </a:lnTo>
                  <a:cubicBezTo>
                    <a:pt x="16736188" y="1205865"/>
                    <a:pt x="16643350" y="1296797"/>
                    <a:pt x="16529304" y="1296797"/>
                  </a:cubicBezTo>
                  <a:lnTo>
                    <a:pt x="16529304" y="1284097"/>
                  </a:lnTo>
                  <a:lnTo>
                    <a:pt x="16529304" y="1296797"/>
                  </a:lnTo>
                  <a:lnTo>
                    <a:pt x="206883" y="1296797"/>
                  </a:lnTo>
                  <a:lnTo>
                    <a:pt x="206883" y="1284097"/>
                  </a:lnTo>
                  <a:lnTo>
                    <a:pt x="206883" y="1296797"/>
                  </a:lnTo>
                  <a:cubicBezTo>
                    <a:pt x="92837" y="1296797"/>
                    <a:pt x="0" y="1205992"/>
                    <a:pt x="0" y="1093343"/>
                  </a:cubicBezTo>
                  <a:lnTo>
                    <a:pt x="0" y="203454"/>
                  </a:lnTo>
                  <a:lnTo>
                    <a:pt x="12700" y="203454"/>
                  </a:lnTo>
                  <a:lnTo>
                    <a:pt x="0" y="203454"/>
                  </a:lnTo>
                  <a:moveTo>
                    <a:pt x="25400" y="203454"/>
                  </a:moveTo>
                  <a:lnTo>
                    <a:pt x="25400" y="1093343"/>
                  </a:lnTo>
                  <a:lnTo>
                    <a:pt x="12700" y="1093343"/>
                  </a:lnTo>
                  <a:lnTo>
                    <a:pt x="25400" y="1093343"/>
                  </a:lnTo>
                  <a:cubicBezTo>
                    <a:pt x="25400" y="1191387"/>
                    <a:pt x="106426" y="1271397"/>
                    <a:pt x="206883" y="1271397"/>
                  </a:cubicBezTo>
                  <a:lnTo>
                    <a:pt x="16529304" y="1271397"/>
                  </a:lnTo>
                  <a:cubicBezTo>
                    <a:pt x="16629762" y="1271397"/>
                    <a:pt x="16710788" y="1191514"/>
                    <a:pt x="16710788" y="1093343"/>
                  </a:cubicBezTo>
                  <a:lnTo>
                    <a:pt x="16710788" y="203454"/>
                  </a:lnTo>
                  <a:cubicBezTo>
                    <a:pt x="16710788" y="105410"/>
                    <a:pt x="16629762" y="25400"/>
                    <a:pt x="16529304" y="25400"/>
                  </a:cubicBezTo>
                  <a:lnTo>
                    <a:pt x="206883" y="25400"/>
                  </a:lnTo>
                  <a:lnTo>
                    <a:pt x="206883" y="12700"/>
                  </a:lnTo>
                  <a:lnTo>
                    <a:pt x="206883" y="25400"/>
                  </a:lnTo>
                  <a:cubicBezTo>
                    <a:pt x="106426" y="25400"/>
                    <a:pt x="25400" y="105283"/>
                    <a:pt x="25400" y="203454"/>
                  </a:cubicBezTo>
                  <a:close/>
                </a:path>
              </a:pathLst>
            </a:custGeom>
            <a:solidFill>
              <a:srgbClr val="FF7047"/>
            </a:solidFill>
          </p:spPr>
        </p:sp>
      </p:grpSp>
      <p:grpSp>
        <p:nvGrpSpPr>
          <p:cNvPr id="21" name="Group 21"/>
          <p:cNvGrpSpPr/>
          <p:nvPr/>
        </p:nvGrpSpPr>
        <p:grpSpPr>
          <a:xfrm>
            <a:off x="728320" y="3440249"/>
            <a:ext cx="635641" cy="915438"/>
            <a:chOff x="0" y="0"/>
            <a:chExt cx="847522" cy="1220584"/>
          </a:xfrm>
        </p:grpSpPr>
        <p:sp>
          <p:nvSpPr>
            <p:cNvPr id="22" name="Freeform 22"/>
            <p:cNvSpPr/>
            <p:nvPr/>
          </p:nvSpPr>
          <p:spPr>
            <a:xfrm>
              <a:off x="0" y="0"/>
              <a:ext cx="847598" cy="1220597"/>
            </a:xfrm>
            <a:custGeom>
              <a:avLst/>
              <a:gdLst/>
              <a:ahLst/>
              <a:cxnLst/>
              <a:rect l="l" t="t" r="r" b="b"/>
              <a:pathLst>
                <a:path w="847598" h="1220597">
                  <a:moveTo>
                    <a:pt x="0" y="160274"/>
                  </a:moveTo>
                  <a:cubicBezTo>
                    <a:pt x="0" y="71755"/>
                    <a:pt x="71755" y="0"/>
                    <a:pt x="160274" y="0"/>
                  </a:cubicBezTo>
                  <a:lnTo>
                    <a:pt x="687324" y="0"/>
                  </a:lnTo>
                  <a:cubicBezTo>
                    <a:pt x="775843" y="0"/>
                    <a:pt x="847598" y="71755"/>
                    <a:pt x="847598" y="160274"/>
                  </a:cubicBezTo>
                  <a:lnTo>
                    <a:pt x="847598" y="1060323"/>
                  </a:lnTo>
                  <a:cubicBezTo>
                    <a:pt x="847598" y="1148842"/>
                    <a:pt x="775843" y="1220597"/>
                    <a:pt x="687324" y="1220597"/>
                  </a:cubicBezTo>
                  <a:lnTo>
                    <a:pt x="160274" y="1220597"/>
                  </a:lnTo>
                  <a:cubicBezTo>
                    <a:pt x="71755" y="1220597"/>
                    <a:pt x="0" y="1148842"/>
                    <a:pt x="0" y="1060323"/>
                  </a:cubicBezTo>
                  <a:close/>
                </a:path>
              </a:pathLst>
            </a:custGeom>
            <a:solidFill>
              <a:srgbClr val="FFFFFF"/>
            </a:solidFill>
          </p:spPr>
        </p:sp>
      </p:grpSp>
      <p:sp>
        <p:nvSpPr>
          <p:cNvPr id="23" name="TextBox 23"/>
          <p:cNvSpPr txBox="1"/>
          <p:nvPr/>
        </p:nvSpPr>
        <p:spPr>
          <a:xfrm>
            <a:off x="1465764" y="3589525"/>
            <a:ext cx="2242395" cy="257766"/>
          </a:xfrm>
          <a:prstGeom prst="rect">
            <a:avLst/>
          </a:prstGeom>
        </p:spPr>
        <p:txBody>
          <a:bodyPr lIns="0" tIns="0" rIns="0" bIns="0" rtlCol="0" anchor="t">
            <a:spAutoFit/>
          </a:bodyPr>
          <a:lstStyle/>
          <a:p>
            <a:pPr algn="l">
              <a:lnSpc>
                <a:spcPts val="1937"/>
              </a:lnSpc>
            </a:pPr>
            <a:r>
              <a:rPr lang="en-US" sz="1562">
                <a:solidFill>
                  <a:srgbClr val="262626"/>
                </a:solidFill>
                <a:latin typeface="Inter"/>
                <a:ea typeface="Inter"/>
                <a:cs typeface="Inter"/>
                <a:sym typeface="Inter"/>
              </a:rPr>
              <a:t>Class &amp; Section Reports</a:t>
            </a:r>
          </a:p>
        </p:txBody>
      </p:sp>
      <p:sp>
        <p:nvSpPr>
          <p:cNvPr id="24" name="TextBox 24"/>
          <p:cNvSpPr txBox="1"/>
          <p:nvPr/>
        </p:nvSpPr>
        <p:spPr>
          <a:xfrm>
            <a:off x="1465764" y="3856177"/>
            <a:ext cx="11598773" cy="237087"/>
          </a:xfrm>
          <a:prstGeom prst="rect">
            <a:avLst/>
          </a:prstGeom>
        </p:spPr>
        <p:txBody>
          <a:bodyPr lIns="0" tIns="0" rIns="0" bIns="0" rtlCol="0" anchor="t">
            <a:spAutoFit/>
          </a:bodyPr>
          <a:lstStyle/>
          <a:p>
            <a:pPr algn="l">
              <a:lnSpc>
                <a:spcPts val="1624"/>
              </a:lnSpc>
            </a:pPr>
            <a:r>
              <a:rPr lang="en-US" sz="1312">
                <a:solidFill>
                  <a:srgbClr val="262626"/>
                </a:solidFill>
                <a:latin typeface="Arimo"/>
                <a:ea typeface="Arimo"/>
                <a:cs typeface="Arimo"/>
                <a:sym typeface="Arimo"/>
              </a:rPr>
              <a:t>Granular attendance breakdowns by class and section, enabling faculty and coordinators to identify patterns at the group level without </a:t>
            </a:r>
          </a:p>
          <a:p>
            <a:pPr algn="l">
              <a:lnSpc>
                <a:spcPts val="1624"/>
              </a:lnSpc>
            </a:pPr>
            <a:r>
              <a:rPr lang="en-US" sz="1312">
                <a:solidFill>
                  <a:srgbClr val="262626"/>
                </a:solidFill>
                <a:latin typeface="Arimo"/>
                <a:ea typeface="Arimo"/>
                <a:cs typeface="Arimo"/>
                <a:sym typeface="Arimo"/>
              </a:rPr>
              <a:t>manual data filtering.</a:t>
            </a:r>
          </a:p>
        </p:txBody>
      </p:sp>
      <p:grpSp>
        <p:nvGrpSpPr>
          <p:cNvPr id="25" name="Group 25"/>
          <p:cNvGrpSpPr/>
          <p:nvPr/>
        </p:nvGrpSpPr>
        <p:grpSpPr>
          <a:xfrm>
            <a:off x="699745" y="4467015"/>
            <a:ext cx="12552159" cy="1101033"/>
            <a:chOff x="0" y="0"/>
            <a:chExt cx="16736212" cy="1468044"/>
          </a:xfrm>
        </p:grpSpPr>
        <p:sp>
          <p:nvSpPr>
            <p:cNvPr id="26" name="Freeform 26"/>
            <p:cNvSpPr/>
            <p:nvPr/>
          </p:nvSpPr>
          <p:spPr>
            <a:xfrm>
              <a:off x="12700" y="12700"/>
              <a:ext cx="16710915" cy="1442720"/>
            </a:xfrm>
            <a:custGeom>
              <a:avLst/>
              <a:gdLst/>
              <a:ahLst/>
              <a:cxnLst/>
              <a:rect l="l" t="t" r="r" b="b"/>
              <a:pathLst>
                <a:path w="16710915" h="1442720">
                  <a:moveTo>
                    <a:pt x="0" y="190754"/>
                  </a:moveTo>
                  <a:cubicBezTo>
                    <a:pt x="0" y="85344"/>
                    <a:pt x="86741" y="0"/>
                    <a:pt x="193802" y="0"/>
                  </a:cubicBezTo>
                  <a:lnTo>
                    <a:pt x="16517113" y="0"/>
                  </a:lnTo>
                  <a:cubicBezTo>
                    <a:pt x="16624173" y="0"/>
                    <a:pt x="16710915" y="85344"/>
                    <a:pt x="16710915" y="190754"/>
                  </a:cubicBezTo>
                  <a:lnTo>
                    <a:pt x="16710915" y="1251966"/>
                  </a:lnTo>
                  <a:cubicBezTo>
                    <a:pt x="16710915" y="1357249"/>
                    <a:pt x="16624173" y="1442720"/>
                    <a:pt x="16517113" y="1442720"/>
                  </a:cubicBezTo>
                  <a:lnTo>
                    <a:pt x="193802" y="1442720"/>
                  </a:lnTo>
                  <a:cubicBezTo>
                    <a:pt x="86741" y="1442593"/>
                    <a:pt x="0" y="1357249"/>
                    <a:pt x="0" y="1251966"/>
                  </a:cubicBezTo>
                  <a:close/>
                </a:path>
              </a:pathLst>
            </a:custGeom>
            <a:solidFill>
              <a:srgbClr val="FFFFFF"/>
            </a:solidFill>
          </p:spPr>
        </p:sp>
        <p:sp>
          <p:nvSpPr>
            <p:cNvPr id="27" name="Freeform 27"/>
            <p:cNvSpPr/>
            <p:nvPr/>
          </p:nvSpPr>
          <p:spPr>
            <a:xfrm>
              <a:off x="0" y="0"/>
              <a:ext cx="16736315" cy="1468120"/>
            </a:xfrm>
            <a:custGeom>
              <a:avLst/>
              <a:gdLst/>
              <a:ahLst/>
              <a:cxnLst/>
              <a:rect l="l" t="t" r="r" b="b"/>
              <a:pathLst>
                <a:path w="16736315" h="1468120">
                  <a:moveTo>
                    <a:pt x="0" y="203454"/>
                  </a:moveTo>
                  <a:cubicBezTo>
                    <a:pt x="0" y="90932"/>
                    <a:pt x="92583" y="0"/>
                    <a:pt x="206502" y="0"/>
                  </a:cubicBezTo>
                  <a:lnTo>
                    <a:pt x="16529813" y="0"/>
                  </a:lnTo>
                  <a:lnTo>
                    <a:pt x="16529813" y="12700"/>
                  </a:lnTo>
                  <a:lnTo>
                    <a:pt x="16529813" y="0"/>
                  </a:lnTo>
                  <a:cubicBezTo>
                    <a:pt x="16643604" y="0"/>
                    <a:pt x="16736315" y="90932"/>
                    <a:pt x="16736315" y="203454"/>
                  </a:cubicBezTo>
                  <a:lnTo>
                    <a:pt x="16723615" y="203454"/>
                  </a:lnTo>
                  <a:lnTo>
                    <a:pt x="16736315" y="203454"/>
                  </a:lnTo>
                  <a:lnTo>
                    <a:pt x="16736315" y="1264666"/>
                  </a:lnTo>
                  <a:lnTo>
                    <a:pt x="16723615" y="1264666"/>
                  </a:lnTo>
                  <a:lnTo>
                    <a:pt x="16736315" y="1264666"/>
                  </a:lnTo>
                  <a:cubicBezTo>
                    <a:pt x="16736315" y="1377188"/>
                    <a:pt x="16643731" y="1468120"/>
                    <a:pt x="16529813" y="1468120"/>
                  </a:cubicBezTo>
                  <a:lnTo>
                    <a:pt x="16529813" y="1455420"/>
                  </a:lnTo>
                  <a:lnTo>
                    <a:pt x="16529813" y="1468120"/>
                  </a:lnTo>
                  <a:lnTo>
                    <a:pt x="206502" y="1468120"/>
                  </a:lnTo>
                  <a:lnTo>
                    <a:pt x="206502" y="1455420"/>
                  </a:lnTo>
                  <a:lnTo>
                    <a:pt x="206502" y="1468120"/>
                  </a:lnTo>
                  <a:cubicBezTo>
                    <a:pt x="92583" y="1467993"/>
                    <a:pt x="0" y="1377188"/>
                    <a:pt x="0" y="1264666"/>
                  </a:cubicBezTo>
                  <a:lnTo>
                    <a:pt x="0" y="203454"/>
                  </a:lnTo>
                  <a:lnTo>
                    <a:pt x="12700" y="203454"/>
                  </a:lnTo>
                  <a:lnTo>
                    <a:pt x="0" y="203454"/>
                  </a:lnTo>
                  <a:moveTo>
                    <a:pt x="25400" y="203454"/>
                  </a:moveTo>
                  <a:lnTo>
                    <a:pt x="25400" y="1264666"/>
                  </a:lnTo>
                  <a:lnTo>
                    <a:pt x="12700" y="1264666"/>
                  </a:lnTo>
                  <a:lnTo>
                    <a:pt x="25400" y="1264666"/>
                  </a:lnTo>
                  <a:cubicBezTo>
                    <a:pt x="25400" y="1362837"/>
                    <a:pt x="106299" y="1442720"/>
                    <a:pt x="206502" y="1442720"/>
                  </a:cubicBezTo>
                  <a:lnTo>
                    <a:pt x="16529813" y="1442720"/>
                  </a:lnTo>
                  <a:cubicBezTo>
                    <a:pt x="16630016" y="1442720"/>
                    <a:pt x="16710915" y="1362837"/>
                    <a:pt x="16710915" y="1264666"/>
                  </a:cubicBezTo>
                  <a:lnTo>
                    <a:pt x="16710915" y="203454"/>
                  </a:lnTo>
                  <a:cubicBezTo>
                    <a:pt x="16710915" y="105283"/>
                    <a:pt x="16630016" y="25400"/>
                    <a:pt x="16529813" y="25400"/>
                  </a:cubicBezTo>
                  <a:lnTo>
                    <a:pt x="206502" y="25400"/>
                  </a:lnTo>
                  <a:lnTo>
                    <a:pt x="206502" y="12700"/>
                  </a:lnTo>
                  <a:lnTo>
                    <a:pt x="206502" y="25400"/>
                  </a:lnTo>
                  <a:cubicBezTo>
                    <a:pt x="106299" y="25400"/>
                    <a:pt x="25400" y="105283"/>
                    <a:pt x="25400" y="203454"/>
                  </a:cubicBezTo>
                  <a:close/>
                </a:path>
              </a:pathLst>
            </a:custGeom>
            <a:solidFill>
              <a:srgbClr val="FF7047"/>
            </a:solidFill>
          </p:spPr>
        </p:sp>
      </p:grpSp>
      <p:grpSp>
        <p:nvGrpSpPr>
          <p:cNvPr id="28" name="Group 28"/>
          <p:cNvGrpSpPr/>
          <p:nvPr/>
        </p:nvGrpSpPr>
        <p:grpSpPr>
          <a:xfrm>
            <a:off x="728320" y="4495590"/>
            <a:ext cx="635641" cy="1043883"/>
            <a:chOff x="0" y="0"/>
            <a:chExt cx="847522" cy="1391844"/>
          </a:xfrm>
        </p:grpSpPr>
        <p:sp>
          <p:nvSpPr>
            <p:cNvPr id="29" name="Freeform 29"/>
            <p:cNvSpPr/>
            <p:nvPr/>
          </p:nvSpPr>
          <p:spPr>
            <a:xfrm>
              <a:off x="0" y="0"/>
              <a:ext cx="847598" cy="1391920"/>
            </a:xfrm>
            <a:custGeom>
              <a:avLst/>
              <a:gdLst/>
              <a:ahLst/>
              <a:cxnLst/>
              <a:rect l="l" t="t" r="r" b="b"/>
              <a:pathLst>
                <a:path w="847598" h="1391920">
                  <a:moveTo>
                    <a:pt x="0" y="160274"/>
                  </a:moveTo>
                  <a:cubicBezTo>
                    <a:pt x="0" y="71755"/>
                    <a:pt x="71755" y="0"/>
                    <a:pt x="160274" y="0"/>
                  </a:cubicBezTo>
                  <a:lnTo>
                    <a:pt x="687324" y="0"/>
                  </a:lnTo>
                  <a:cubicBezTo>
                    <a:pt x="775843" y="0"/>
                    <a:pt x="847598" y="71755"/>
                    <a:pt x="847598" y="160274"/>
                  </a:cubicBezTo>
                  <a:lnTo>
                    <a:pt x="847598" y="1231646"/>
                  </a:lnTo>
                  <a:cubicBezTo>
                    <a:pt x="847598" y="1320165"/>
                    <a:pt x="775843" y="1391920"/>
                    <a:pt x="687324" y="1391920"/>
                  </a:cubicBezTo>
                  <a:lnTo>
                    <a:pt x="160274" y="1391920"/>
                  </a:lnTo>
                  <a:cubicBezTo>
                    <a:pt x="71755" y="1391793"/>
                    <a:pt x="0" y="1320038"/>
                    <a:pt x="0" y="1231646"/>
                  </a:cubicBezTo>
                  <a:close/>
                </a:path>
              </a:pathLst>
            </a:custGeom>
            <a:solidFill>
              <a:srgbClr val="FFFFFF"/>
            </a:solidFill>
          </p:spPr>
        </p:sp>
      </p:grpSp>
      <p:sp>
        <p:nvSpPr>
          <p:cNvPr id="30" name="TextBox 30"/>
          <p:cNvSpPr txBox="1"/>
          <p:nvPr/>
        </p:nvSpPr>
        <p:spPr>
          <a:xfrm>
            <a:off x="1465764" y="4644866"/>
            <a:ext cx="2466384" cy="257766"/>
          </a:xfrm>
          <a:prstGeom prst="rect">
            <a:avLst/>
          </a:prstGeom>
        </p:spPr>
        <p:txBody>
          <a:bodyPr lIns="0" tIns="0" rIns="0" bIns="0" rtlCol="0" anchor="t">
            <a:spAutoFit/>
          </a:bodyPr>
          <a:lstStyle/>
          <a:p>
            <a:pPr algn="l">
              <a:lnSpc>
                <a:spcPts val="1937"/>
              </a:lnSpc>
            </a:pPr>
            <a:r>
              <a:rPr lang="en-US" sz="1562">
                <a:solidFill>
                  <a:srgbClr val="262626"/>
                </a:solidFill>
                <a:latin typeface="Inter"/>
                <a:ea typeface="Inter"/>
                <a:cs typeface="Inter"/>
                <a:sym typeface="Inter"/>
              </a:rPr>
              <a:t>Individual Student Reports</a:t>
            </a:r>
          </a:p>
        </p:txBody>
      </p:sp>
      <p:sp>
        <p:nvSpPr>
          <p:cNvPr id="31" name="TextBox 31"/>
          <p:cNvSpPr txBox="1"/>
          <p:nvPr/>
        </p:nvSpPr>
        <p:spPr>
          <a:xfrm>
            <a:off x="1465764" y="4935083"/>
            <a:ext cx="11598773" cy="445589"/>
          </a:xfrm>
          <a:prstGeom prst="rect">
            <a:avLst/>
          </a:prstGeom>
        </p:spPr>
        <p:txBody>
          <a:bodyPr lIns="0" tIns="0" rIns="0" bIns="0" rtlCol="0" anchor="t">
            <a:spAutoFit/>
          </a:bodyPr>
          <a:lstStyle/>
          <a:p>
            <a:pPr algn="l">
              <a:lnSpc>
                <a:spcPts val="1624"/>
              </a:lnSpc>
            </a:pPr>
            <a:r>
              <a:rPr lang="en-US" sz="1312">
                <a:solidFill>
                  <a:srgbClr val="262626"/>
                </a:solidFill>
                <a:latin typeface="Arimo"/>
                <a:ea typeface="Arimo"/>
                <a:cs typeface="Arimo"/>
                <a:sym typeface="Arimo"/>
              </a:rPr>
              <a:t>Full attendance history for any single student — including daily status, monthly percentages, and trend indicators — useful for counseling, parent meetings, and academic review.</a:t>
            </a:r>
          </a:p>
        </p:txBody>
      </p:sp>
      <p:grpSp>
        <p:nvGrpSpPr>
          <p:cNvPr id="32" name="Group 32"/>
          <p:cNvGrpSpPr/>
          <p:nvPr/>
        </p:nvGrpSpPr>
        <p:grpSpPr>
          <a:xfrm>
            <a:off x="699745" y="5650792"/>
            <a:ext cx="12552159" cy="1101033"/>
            <a:chOff x="0" y="0"/>
            <a:chExt cx="16736212" cy="1468044"/>
          </a:xfrm>
        </p:grpSpPr>
        <p:sp>
          <p:nvSpPr>
            <p:cNvPr id="33" name="Freeform 33"/>
            <p:cNvSpPr/>
            <p:nvPr/>
          </p:nvSpPr>
          <p:spPr>
            <a:xfrm>
              <a:off x="12700" y="12700"/>
              <a:ext cx="16710915" cy="1442720"/>
            </a:xfrm>
            <a:custGeom>
              <a:avLst/>
              <a:gdLst/>
              <a:ahLst/>
              <a:cxnLst/>
              <a:rect l="l" t="t" r="r" b="b"/>
              <a:pathLst>
                <a:path w="16710915" h="1442720">
                  <a:moveTo>
                    <a:pt x="0" y="190754"/>
                  </a:moveTo>
                  <a:cubicBezTo>
                    <a:pt x="0" y="85344"/>
                    <a:pt x="86741" y="0"/>
                    <a:pt x="193802" y="0"/>
                  </a:cubicBezTo>
                  <a:lnTo>
                    <a:pt x="16517113" y="0"/>
                  </a:lnTo>
                  <a:cubicBezTo>
                    <a:pt x="16624173" y="0"/>
                    <a:pt x="16710915" y="85344"/>
                    <a:pt x="16710915" y="190754"/>
                  </a:cubicBezTo>
                  <a:lnTo>
                    <a:pt x="16710915" y="1251966"/>
                  </a:lnTo>
                  <a:cubicBezTo>
                    <a:pt x="16710915" y="1357249"/>
                    <a:pt x="16624173" y="1442720"/>
                    <a:pt x="16517113" y="1442720"/>
                  </a:cubicBezTo>
                  <a:lnTo>
                    <a:pt x="193802" y="1442720"/>
                  </a:lnTo>
                  <a:cubicBezTo>
                    <a:pt x="86741" y="1442593"/>
                    <a:pt x="0" y="1357249"/>
                    <a:pt x="0" y="1251966"/>
                  </a:cubicBezTo>
                  <a:close/>
                </a:path>
              </a:pathLst>
            </a:custGeom>
            <a:solidFill>
              <a:srgbClr val="FFFFFF"/>
            </a:solidFill>
          </p:spPr>
        </p:sp>
        <p:sp>
          <p:nvSpPr>
            <p:cNvPr id="34" name="Freeform 34"/>
            <p:cNvSpPr/>
            <p:nvPr/>
          </p:nvSpPr>
          <p:spPr>
            <a:xfrm>
              <a:off x="0" y="0"/>
              <a:ext cx="16736315" cy="1468120"/>
            </a:xfrm>
            <a:custGeom>
              <a:avLst/>
              <a:gdLst/>
              <a:ahLst/>
              <a:cxnLst/>
              <a:rect l="l" t="t" r="r" b="b"/>
              <a:pathLst>
                <a:path w="16736315" h="1468120">
                  <a:moveTo>
                    <a:pt x="0" y="203454"/>
                  </a:moveTo>
                  <a:cubicBezTo>
                    <a:pt x="0" y="90932"/>
                    <a:pt x="92583" y="0"/>
                    <a:pt x="206502" y="0"/>
                  </a:cubicBezTo>
                  <a:lnTo>
                    <a:pt x="16529813" y="0"/>
                  </a:lnTo>
                  <a:lnTo>
                    <a:pt x="16529813" y="12700"/>
                  </a:lnTo>
                  <a:lnTo>
                    <a:pt x="16529813" y="0"/>
                  </a:lnTo>
                  <a:cubicBezTo>
                    <a:pt x="16643604" y="0"/>
                    <a:pt x="16736315" y="90932"/>
                    <a:pt x="16736315" y="203454"/>
                  </a:cubicBezTo>
                  <a:lnTo>
                    <a:pt x="16723615" y="203454"/>
                  </a:lnTo>
                  <a:lnTo>
                    <a:pt x="16736315" y="203454"/>
                  </a:lnTo>
                  <a:lnTo>
                    <a:pt x="16736315" y="1264666"/>
                  </a:lnTo>
                  <a:lnTo>
                    <a:pt x="16723615" y="1264666"/>
                  </a:lnTo>
                  <a:lnTo>
                    <a:pt x="16736315" y="1264666"/>
                  </a:lnTo>
                  <a:cubicBezTo>
                    <a:pt x="16736315" y="1377188"/>
                    <a:pt x="16643731" y="1468120"/>
                    <a:pt x="16529813" y="1468120"/>
                  </a:cubicBezTo>
                  <a:lnTo>
                    <a:pt x="16529813" y="1455420"/>
                  </a:lnTo>
                  <a:lnTo>
                    <a:pt x="16529813" y="1468120"/>
                  </a:lnTo>
                  <a:lnTo>
                    <a:pt x="206502" y="1468120"/>
                  </a:lnTo>
                  <a:lnTo>
                    <a:pt x="206502" y="1455420"/>
                  </a:lnTo>
                  <a:lnTo>
                    <a:pt x="206502" y="1468120"/>
                  </a:lnTo>
                  <a:cubicBezTo>
                    <a:pt x="92583" y="1467993"/>
                    <a:pt x="0" y="1377188"/>
                    <a:pt x="0" y="1264666"/>
                  </a:cubicBezTo>
                  <a:lnTo>
                    <a:pt x="0" y="203454"/>
                  </a:lnTo>
                  <a:lnTo>
                    <a:pt x="12700" y="203454"/>
                  </a:lnTo>
                  <a:lnTo>
                    <a:pt x="0" y="203454"/>
                  </a:lnTo>
                  <a:moveTo>
                    <a:pt x="25400" y="203454"/>
                  </a:moveTo>
                  <a:lnTo>
                    <a:pt x="25400" y="1264666"/>
                  </a:lnTo>
                  <a:lnTo>
                    <a:pt x="12700" y="1264666"/>
                  </a:lnTo>
                  <a:lnTo>
                    <a:pt x="25400" y="1264666"/>
                  </a:lnTo>
                  <a:cubicBezTo>
                    <a:pt x="25400" y="1362837"/>
                    <a:pt x="106299" y="1442720"/>
                    <a:pt x="206502" y="1442720"/>
                  </a:cubicBezTo>
                  <a:lnTo>
                    <a:pt x="16529813" y="1442720"/>
                  </a:lnTo>
                  <a:cubicBezTo>
                    <a:pt x="16630016" y="1442720"/>
                    <a:pt x="16710915" y="1362837"/>
                    <a:pt x="16710915" y="1264666"/>
                  </a:cubicBezTo>
                  <a:lnTo>
                    <a:pt x="16710915" y="203454"/>
                  </a:lnTo>
                  <a:cubicBezTo>
                    <a:pt x="16710915" y="105283"/>
                    <a:pt x="16630016" y="25400"/>
                    <a:pt x="16529813" y="25400"/>
                  </a:cubicBezTo>
                  <a:lnTo>
                    <a:pt x="206502" y="25400"/>
                  </a:lnTo>
                  <a:lnTo>
                    <a:pt x="206502" y="12700"/>
                  </a:lnTo>
                  <a:lnTo>
                    <a:pt x="206502" y="25400"/>
                  </a:lnTo>
                  <a:cubicBezTo>
                    <a:pt x="106299" y="25400"/>
                    <a:pt x="25400" y="105283"/>
                    <a:pt x="25400" y="203454"/>
                  </a:cubicBezTo>
                  <a:close/>
                </a:path>
              </a:pathLst>
            </a:custGeom>
            <a:solidFill>
              <a:srgbClr val="FF7047"/>
            </a:solidFill>
          </p:spPr>
        </p:sp>
      </p:grpSp>
      <p:grpSp>
        <p:nvGrpSpPr>
          <p:cNvPr id="35" name="Group 35"/>
          <p:cNvGrpSpPr/>
          <p:nvPr/>
        </p:nvGrpSpPr>
        <p:grpSpPr>
          <a:xfrm>
            <a:off x="728320" y="5679367"/>
            <a:ext cx="635641" cy="1043883"/>
            <a:chOff x="0" y="0"/>
            <a:chExt cx="847522" cy="1391844"/>
          </a:xfrm>
        </p:grpSpPr>
        <p:sp>
          <p:nvSpPr>
            <p:cNvPr id="36" name="Freeform 36"/>
            <p:cNvSpPr/>
            <p:nvPr/>
          </p:nvSpPr>
          <p:spPr>
            <a:xfrm>
              <a:off x="0" y="0"/>
              <a:ext cx="847598" cy="1391920"/>
            </a:xfrm>
            <a:custGeom>
              <a:avLst/>
              <a:gdLst/>
              <a:ahLst/>
              <a:cxnLst/>
              <a:rect l="l" t="t" r="r" b="b"/>
              <a:pathLst>
                <a:path w="847598" h="1391920">
                  <a:moveTo>
                    <a:pt x="0" y="160274"/>
                  </a:moveTo>
                  <a:cubicBezTo>
                    <a:pt x="0" y="71755"/>
                    <a:pt x="71755" y="0"/>
                    <a:pt x="160274" y="0"/>
                  </a:cubicBezTo>
                  <a:lnTo>
                    <a:pt x="687324" y="0"/>
                  </a:lnTo>
                  <a:cubicBezTo>
                    <a:pt x="775843" y="0"/>
                    <a:pt x="847598" y="71755"/>
                    <a:pt x="847598" y="160274"/>
                  </a:cubicBezTo>
                  <a:lnTo>
                    <a:pt x="847598" y="1231646"/>
                  </a:lnTo>
                  <a:cubicBezTo>
                    <a:pt x="847598" y="1320165"/>
                    <a:pt x="775843" y="1391920"/>
                    <a:pt x="687324" y="1391920"/>
                  </a:cubicBezTo>
                  <a:lnTo>
                    <a:pt x="160274" y="1391920"/>
                  </a:lnTo>
                  <a:cubicBezTo>
                    <a:pt x="71755" y="1391793"/>
                    <a:pt x="0" y="1320038"/>
                    <a:pt x="0" y="1231646"/>
                  </a:cubicBezTo>
                  <a:close/>
                </a:path>
              </a:pathLst>
            </a:custGeom>
            <a:solidFill>
              <a:srgbClr val="FFFFFF"/>
            </a:solidFill>
          </p:spPr>
        </p:sp>
      </p:grpSp>
      <p:sp>
        <p:nvSpPr>
          <p:cNvPr id="37" name="TextBox 37"/>
          <p:cNvSpPr txBox="1"/>
          <p:nvPr/>
        </p:nvSpPr>
        <p:spPr>
          <a:xfrm>
            <a:off x="1465764" y="5828643"/>
            <a:ext cx="3035351" cy="257766"/>
          </a:xfrm>
          <a:prstGeom prst="rect">
            <a:avLst/>
          </a:prstGeom>
        </p:spPr>
        <p:txBody>
          <a:bodyPr lIns="0" tIns="0" rIns="0" bIns="0" rtlCol="0" anchor="t">
            <a:spAutoFit/>
          </a:bodyPr>
          <a:lstStyle/>
          <a:p>
            <a:pPr algn="l">
              <a:lnSpc>
                <a:spcPts val="1937"/>
              </a:lnSpc>
            </a:pPr>
            <a:r>
              <a:rPr lang="en-US" sz="1562">
                <a:solidFill>
                  <a:srgbClr val="262626"/>
                </a:solidFill>
                <a:latin typeface="Inter"/>
                <a:ea typeface="Inter"/>
                <a:cs typeface="Inter"/>
                <a:sym typeface="Inter"/>
              </a:rPr>
              <a:t>Daily, Weekly &amp; Monthly Reports</a:t>
            </a:r>
          </a:p>
        </p:txBody>
      </p:sp>
      <p:sp>
        <p:nvSpPr>
          <p:cNvPr id="38" name="TextBox 38"/>
          <p:cNvSpPr txBox="1"/>
          <p:nvPr/>
        </p:nvSpPr>
        <p:spPr>
          <a:xfrm>
            <a:off x="1465764" y="6118860"/>
            <a:ext cx="11598773" cy="445589"/>
          </a:xfrm>
          <a:prstGeom prst="rect">
            <a:avLst/>
          </a:prstGeom>
        </p:spPr>
        <p:txBody>
          <a:bodyPr lIns="0" tIns="0" rIns="0" bIns="0" rtlCol="0" anchor="t">
            <a:spAutoFit/>
          </a:bodyPr>
          <a:lstStyle/>
          <a:p>
            <a:pPr algn="l">
              <a:lnSpc>
                <a:spcPts val="1624"/>
              </a:lnSpc>
            </a:pPr>
            <a:r>
              <a:rPr lang="en-US" sz="1312">
                <a:solidFill>
                  <a:srgbClr val="262626"/>
                </a:solidFill>
                <a:latin typeface="Arimo"/>
                <a:ea typeface="Arimo"/>
                <a:cs typeface="Arimo"/>
                <a:sym typeface="Arimo"/>
              </a:rPr>
              <a:t>Scheduled reports generated automatically for each time period — delivered to stakeholders without manual triggering, ensuring consistent institutional visibility.</a:t>
            </a:r>
          </a:p>
        </p:txBody>
      </p:sp>
      <p:grpSp>
        <p:nvGrpSpPr>
          <p:cNvPr id="39" name="Group 39"/>
          <p:cNvGrpSpPr/>
          <p:nvPr/>
        </p:nvGrpSpPr>
        <p:grpSpPr>
          <a:xfrm>
            <a:off x="699745" y="6834578"/>
            <a:ext cx="12552159" cy="1101033"/>
            <a:chOff x="0" y="0"/>
            <a:chExt cx="16736212" cy="1468044"/>
          </a:xfrm>
        </p:grpSpPr>
        <p:sp>
          <p:nvSpPr>
            <p:cNvPr id="40" name="Freeform 40"/>
            <p:cNvSpPr/>
            <p:nvPr/>
          </p:nvSpPr>
          <p:spPr>
            <a:xfrm>
              <a:off x="12700" y="12700"/>
              <a:ext cx="16710915" cy="1442720"/>
            </a:xfrm>
            <a:custGeom>
              <a:avLst/>
              <a:gdLst/>
              <a:ahLst/>
              <a:cxnLst/>
              <a:rect l="l" t="t" r="r" b="b"/>
              <a:pathLst>
                <a:path w="16710915" h="1442720">
                  <a:moveTo>
                    <a:pt x="0" y="190754"/>
                  </a:moveTo>
                  <a:cubicBezTo>
                    <a:pt x="0" y="85344"/>
                    <a:pt x="86741" y="0"/>
                    <a:pt x="193802" y="0"/>
                  </a:cubicBezTo>
                  <a:lnTo>
                    <a:pt x="16517113" y="0"/>
                  </a:lnTo>
                  <a:cubicBezTo>
                    <a:pt x="16624173" y="0"/>
                    <a:pt x="16710915" y="85344"/>
                    <a:pt x="16710915" y="190754"/>
                  </a:cubicBezTo>
                  <a:lnTo>
                    <a:pt x="16710915" y="1251966"/>
                  </a:lnTo>
                  <a:cubicBezTo>
                    <a:pt x="16710915" y="1357249"/>
                    <a:pt x="16624173" y="1442720"/>
                    <a:pt x="16517113" y="1442720"/>
                  </a:cubicBezTo>
                  <a:lnTo>
                    <a:pt x="193802" y="1442720"/>
                  </a:lnTo>
                  <a:cubicBezTo>
                    <a:pt x="86741" y="1442593"/>
                    <a:pt x="0" y="1357249"/>
                    <a:pt x="0" y="1251966"/>
                  </a:cubicBezTo>
                  <a:close/>
                </a:path>
              </a:pathLst>
            </a:custGeom>
            <a:solidFill>
              <a:srgbClr val="FFFFFF"/>
            </a:solidFill>
          </p:spPr>
        </p:sp>
        <p:sp>
          <p:nvSpPr>
            <p:cNvPr id="41" name="Freeform 41"/>
            <p:cNvSpPr/>
            <p:nvPr/>
          </p:nvSpPr>
          <p:spPr>
            <a:xfrm>
              <a:off x="0" y="0"/>
              <a:ext cx="16736315" cy="1468120"/>
            </a:xfrm>
            <a:custGeom>
              <a:avLst/>
              <a:gdLst/>
              <a:ahLst/>
              <a:cxnLst/>
              <a:rect l="l" t="t" r="r" b="b"/>
              <a:pathLst>
                <a:path w="16736315" h="1468120">
                  <a:moveTo>
                    <a:pt x="0" y="203454"/>
                  </a:moveTo>
                  <a:cubicBezTo>
                    <a:pt x="0" y="90932"/>
                    <a:pt x="92583" y="0"/>
                    <a:pt x="206502" y="0"/>
                  </a:cubicBezTo>
                  <a:lnTo>
                    <a:pt x="16529813" y="0"/>
                  </a:lnTo>
                  <a:lnTo>
                    <a:pt x="16529813" y="12700"/>
                  </a:lnTo>
                  <a:lnTo>
                    <a:pt x="16529813" y="0"/>
                  </a:lnTo>
                  <a:cubicBezTo>
                    <a:pt x="16643604" y="0"/>
                    <a:pt x="16736315" y="90932"/>
                    <a:pt x="16736315" y="203454"/>
                  </a:cubicBezTo>
                  <a:lnTo>
                    <a:pt x="16723615" y="203454"/>
                  </a:lnTo>
                  <a:lnTo>
                    <a:pt x="16736315" y="203454"/>
                  </a:lnTo>
                  <a:lnTo>
                    <a:pt x="16736315" y="1264666"/>
                  </a:lnTo>
                  <a:lnTo>
                    <a:pt x="16723615" y="1264666"/>
                  </a:lnTo>
                  <a:lnTo>
                    <a:pt x="16736315" y="1264666"/>
                  </a:lnTo>
                  <a:cubicBezTo>
                    <a:pt x="16736315" y="1377188"/>
                    <a:pt x="16643731" y="1468120"/>
                    <a:pt x="16529813" y="1468120"/>
                  </a:cubicBezTo>
                  <a:lnTo>
                    <a:pt x="16529813" y="1455420"/>
                  </a:lnTo>
                  <a:lnTo>
                    <a:pt x="16529813" y="1468120"/>
                  </a:lnTo>
                  <a:lnTo>
                    <a:pt x="206502" y="1468120"/>
                  </a:lnTo>
                  <a:lnTo>
                    <a:pt x="206502" y="1455420"/>
                  </a:lnTo>
                  <a:lnTo>
                    <a:pt x="206502" y="1468120"/>
                  </a:lnTo>
                  <a:cubicBezTo>
                    <a:pt x="92583" y="1467993"/>
                    <a:pt x="0" y="1377188"/>
                    <a:pt x="0" y="1264666"/>
                  </a:cubicBezTo>
                  <a:lnTo>
                    <a:pt x="0" y="203454"/>
                  </a:lnTo>
                  <a:lnTo>
                    <a:pt x="12700" y="203454"/>
                  </a:lnTo>
                  <a:lnTo>
                    <a:pt x="0" y="203454"/>
                  </a:lnTo>
                  <a:moveTo>
                    <a:pt x="25400" y="203454"/>
                  </a:moveTo>
                  <a:lnTo>
                    <a:pt x="25400" y="1264666"/>
                  </a:lnTo>
                  <a:lnTo>
                    <a:pt x="12700" y="1264666"/>
                  </a:lnTo>
                  <a:lnTo>
                    <a:pt x="25400" y="1264666"/>
                  </a:lnTo>
                  <a:cubicBezTo>
                    <a:pt x="25400" y="1362837"/>
                    <a:pt x="106299" y="1442720"/>
                    <a:pt x="206502" y="1442720"/>
                  </a:cubicBezTo>
                  <a:lnTo>
                    <a:pt x="16529813" y="1442720"/>
                  </a:lnTo>
                  <a:cubicBezTo>
                    <a:pt x="16630016" y="1442720"/>
                    <a:pt x="16710915" y="1362837"/>
                    <a:pt x="16710915" y="1264666"/>
                  </a:cubicBezTo>
                  <a:lnTo>
                    <a:pt x="16710915" y="203454"/>
                  </a:lnTo>
                  <a:cubicBezTo>
                    <a:pt x="16710915" y="105283"/>
                    <a:pt x="16630016" y="25400"/>
                    <a:pt x="16529813" y="25400"/>
                  </a:cubicBezTo>
                  <a:lnTo>
                    <a:pt x="206502" y="25400"/>
                  </a:lnTo>
                  <a:lnTo>
                    <a:pt x="206502" y="12700"/>
                  </a:lnTo>
                  <a:lnTo>
                    <a:pt x="206502" y="25400"/>
                  </a:lnTo>
                  <a:cubicBezTo>
                    <a:pt x="106299" y="25400"/>
                    <a:pt x="25400" y="105283"/>
                    <a:pt x="25400" y="203454"/>
                  </a:cubicBezTo>
                  <a:close/>
                </a:path>
              </a:pathLst>
            </a:custGeom>
            <a:solidFill>
              <a:srgbClr val="FF7047"/>
            </a:solidFill>
          </p:spPr>
        </p:sp>
      </p:grpSp>
      <p:grpSp>
        <p:nvGrpSpPr>
          <p:cNvPr id="42" name="Group 42"/>
          <p:cNvGrpSpPr/>
          <p:nvPr/>
        </p:nvGrpSpPr>
        <p:grpSpPr>
          <a:xfrm>
            <a:off x="728320" y="6863153"/>
            <a:ext cx="635641" cy="1043883"/>
            <a:chOff x="0" y="0"/>
            <a:chExt cx="847522" cy="1391844"/>
          </a:xfrm>
        </p:grpSpPr>
        <p:sp>
          <p:nvSpPr>
            <p:cNvPr id="43" name="Freeform 43"/>
            <p:cNvSpPr/>
            <p:nvPr/>
          </p:nvSpPr>
          <p:spPr>
            <a:xfrm>
              <a:off x="0" y="0"/>
              <a:ext cx="847598" cy="1391920"/>
            </a:xfrm>
            <a:custGeom>
              <a:avLst/>
              <a:gdLst/>
              <a:ahLst/>
              <a:cxnLst/>
              <a:rect l="l" t="t" r="r" b="b"/>
              <a:pathLst>
                <a:path w="847598" h="1391920">
                  <a:moveTo>
                    <a:pt x="0" y="160274"/>
                  </a:moveTo>
                  <a:cubicBezTo>
                    <a:pt x="0" y="71755"/>
                    <a:pt x="71755" y="0"/>
                    <a:pt x="160274" y="0"/>
                  </a:cubicBezTo>
                  <a:lnTo>
                    <a:pt x="687324" y="0"/>
                  </a:lnTo>
                  <a:cubicBezTo>
                    <a:pt x="775843" y="0"/>
                    <a:pt x="847598" y="71755"/>
                    <a:pt x="847598" y="160274"/>
                  </a:cubicBezTo>
                  <a:lnTo>
                    <a:pt x="847598" y="1231646"/>
                  </a:lnTo>
                  <a:cubicBezTo>
                    <a:pt x="847598" y="1320165"/>
                    <a:pt x="775843" y="1391920"/>
                    <a:pt x="687324" y="1391920"/>
                  </a:cubicBezTo>
                  <a:lnTo>
                    <a:pt x="160274" y="1391920"/>
                  </a:lnTo>
                  <a:cubicBezTo>
                    <a:pt x="71755" y="1391793"/>
                    <a:pt x="0" y="1320038"/>
                    <a:pt x="0" y="1231646"/>
                  </a:cubicBezTo>
                  <a:close/>
                </a:path>
              </a:pathLst>
            </a:custGeom>
            <a:solidFill>
              <a:srgbClr val="FFFFFF"/>
            </a:solidFill>
          </p:spPr>
        </p:sp>
      </p:grpSp>
      <p:sp>
        <p:nvSpPr>
          <p:cNvPr id="44" name="TextBox 44"/>
          <p:cNvSpPr txBox="1"/>
          <p:nvPr/>
        </p:nvSpPr>
        <p:spPr>
          <a:xfrm>
            <a:off x="1465764" y="7012419"/>
            <a:ext cx="2679802" cy="257766"/>
          </a:xfrm>
          <a:prstGeom prst="rect">
            <a:avLst/>
          </a:prstGeom>
        </p:spPr>
        <p:txBody>
          <a:bodyPr lIns="0" tIns="0" rIns="0" bIns="0" rtlCol="0" anchor="t">
            <a:spAutoFit/>
          </a:bodyPr>
          <a:lstStyle/>
          <a:p>
            <a:pPr algn="l">
              <a:lnSpc>
                <a:spcPts val="1937"/>
              </a:lnSpc>
            </a:pPr>
            <a:r>
              <a:rPr lang="en-US" sz="1562">
                <a:solidFill>
                  <a:srgbClr val="262626"/>
                </a:solidFill>
                <a:latin typeface="Inter"/>
                <a:ea typeface="Inter"/>
                <a:cs typeface="Inter"/>
                <a:sym typeface="Inter"/>
              </a:rPr>
              <a:t>Custom Date-Range Reports</a:t>
            </a:r>
          </a:p>
        </p:txBody>
      </p:sp>
      <p:sp>
        <p:nvSpPr>
          <p:cNvPr id="45" name="TextBox 45"/>
          <p:cNvSpPr txBox="1"/>
          <p:nvPr/>
        </p:nvSpPr>
        <p:spPr>
          <a:xfrm>
            <a:off x="1465764" y="7302637"/>
            <a:ext cx="11598773" cy="445589"/>
          </a:xfrm>
          <a:prstGeom prst="rect">
            <a:avLst/>
          </a:prstGeom>
        </p:spPr>
        <p:txBody>
          <a:bodyPr lIns="0" tIns="0" rIns="0" bIns="0" rtlCol="0" anchor="t">
            <a:spAutoFit/>
          </a:bodyPr>
          <a:lstStyle/>
          <a:p>
            <a:pPr algn="l">
              <a:lnSpc>
                <a:spcPts val="1624"/>
              </a:lnSpc>
            </a:pPr>
            <a:r>
              <a:rPr lang="en-US" sz="1312">
                <a:solidFill>
                  <a:srgbClr val="262626"/>
                </a:solidFill>
                <a:latin typeface="Arimo"/>
                <a:ea typeface="Arimo"/>
                <a:cs typeface="Arimo"/>
                <a:sym typeface="Arimo"/>
              </a:rPr>
              <a:t>On-demand reports for any arbitrary date range — essential for audits, attendance verification requests, and administrative reviews outside standard reporting cycles.</a:t>
            </a:r>
          </a:p>
        </p:txBody>
      </p:sp>
      <p:grpSp>
        <p:nvGrpSpPr>
          <p:cNvPr id="46" name="Group 46"/>
          <p:cNvGrpSpPr/>
          <p:nvPr/>
        </p:nvGrpSpPr>
        <p:grpSpPr>
          <a:xfrm>
            <a:off x="699745" y="8018355"/>
            <a:ext cx="12552159" cy="1101033"/>
            <a:chOff x="0" y="0"/>
            <a:chExt cx="16736212" cy="1468044"/>
          </a:xfrm>
        </p:grpSpPr>
        <p:sp>
          <p:nvSpPr>
            <p:cNvPr id="47" name="Freeform 47"/>
            <p:cNvSpPr/>
            <p:nvPr/>
          </p:nvSpPr>
          <p:spPr>
            <a:xfrm>
              <a:off x="12700" y="12700"/>
              <a:ext cx="16710915" cy="1442720"/>
            </a:xfrm>
            <a:custGeom>
              <a:avLst/>
              <a:gdLst/>
              <a:ahLst/>
              <a:cxnLst/>
              <a:rect l="l" t="t" r="r" b="b"/>
              <a:pathLst>
                <a:path w="16710915" h="1442720">
                  <a:moveTo>
                    <a:pt x="0" y="190754"/>
                  </a:moveTo>
                  <a:cubicBezTo>
                    <a:pt x="0" y="85344"/>
                    <a:pt x="86741" y="0"/>
                    <a:pt x="193802" y="0"/>
                  </a:cubicBezTo>
                  <a:lnTo>
                    <a:pt x="16517113" y="0"/>
                  </a:lnTo>
                  <a:cubicBezTo>
                    <a:pt x="16624173" y="0"/>
                    <a:pt x="16710915" y="85344"/>
                    <a:pt x="16710915" y="190754"/>
                  </a:cubicBezTo>
                  <a:lnTo>
                    <a:pt x="16710915" y="1251966"/>
                  </a:lnTo>
                  <a:cubicBezTo>
                    <a:pt x="16710915" y="1357249"/>
                    <a:pt x="16624173" y="1442720"/>
                    <a:pt x="16517113" y="1442720"/>
                  </a:cubicBezTo>
                  <a:lnTo>
                    <a:pt x="193802" y="1442720"/>
                  </a:lnTo>
                  <a:cubicBezTo>
                    <a:pt x="86741" y="1442593"/>
                    <a:pt x="0" y="1357249"/>
                    <a:pt x="0" y="1251966"/>
                  </a:cubicBezTo>
                  <a:close/>
                </a:path>
              </a:pathLst>
            </a:custGeom>
            <a:solidFill>
              <a:srgbClr val="FFFFFF"/>
            </a:solidFill>
          </p:spPr>
        </p:sp>
        <p:sp>
          <p:nvSpPr>
            <p:cNvPr id="48" name="Freeform 48"/>
            <p:cNvSpPr/>
            <p:nvPr/>
          </p:nvSpPr>
          <p:spPr>
            <a:xfrm>
              <a:off x="0" y="0"/>
              <a:ext cx="16736315" cy="1468120"/>
            </a:xfrm>
            <a:custGeom>
              <a:avLst/>
              <a:gdLst/>
              <a:ahLst/>
              <a:cxnLst/>
              <a:rect l="l" t="t" r="r" b="b"/>
              <a:pathLst>
                <a:path w="16736315" h="1468120">
                  <a:moveTo>
                    <a:pt x="0" y="203454"/>
                  </a:moveTo>
                  <a:cubicBezTo>
                    <a:pt x="0" y="90932"/>
                    <a:pt x="92583" y="0"/>
                    <a:pt x="206502" y="0"/>
                  </a:cubicBezTo>
                  <a:lnTo>
                    <a:pt x="16529813" y="0"/>
                  </a:lnTo>
                  <a:lnTo>
                    <a:pt x="16529813" y="12700"/>
                  </a:lnTo>
                  <a:lnTo>
                    <a:pt x="16529813" y="0"/>
                  </a:lnTo>
                  <a:cubicBezTo>
                    <a:pt x="16643604" y="0"/>
                    <a:pt x="16736315" y="90932"/>
                    <a:pt x="16736315" y="203454"/>
                  </a:cubicBezTo>
                  <a:lnTo>
                    <a:pt x="16723615" y="203454"/>
                  </a:lnTo>
                  <a:lnTo>
                    <a:pt x="16736315" y="203454"/>
                  </a:lnTo>
                  <a:lnTo>
                    <a:pt x="16736315" y="1264666"/>
                  </a:lnTo>
                  <a:lnTo>
                    <a:pt x="16723615" y="1264666"/>
                  </a:lnTo>
                  <a:lnTo>
                    <a:pt x="16736315" y="1264666"/>
                  </a:lnTo>
                  <a:cubicBezTo>
                    <a:pt x="16736315" y="1377188"/>
                    <a:pt x="16643731" y="1468120"/>
                    <a:pt x="16529813" y="1468120"/>
                  </a:cubicBezTo>
                  <a:lnTo>
                    <a:pt x="16529813" y="1455420"/>
                  </a:lnTo>
                  <a:lnTo>
                    <a:pt x="16529813" y="1468120"/>
                  </a:lnTo>
                  <a:lnTo>
                    <a:pt x="206502" y="1468120"/>
                  </a:lnTo>
                  <a:lnTo>
                    <a:pt x="206502" y="1455420"/>
                  </a:lnTo>
                  <a:lnTo>
                    <a:pt x="206502" y="1468120"/>
                  </a:lnTo>
                  <a:cubicBezTo>
                    <a:pt x="92583" y="1467993"/>
                    <a:pt x="0" y="1377188"/>
                    <a:pt x="0" y="1264666"/>
                  </a:cubicBezTo>
                  <a:lnTo>
                    <a:pt x="0" y="203454"/>
                  </a:lnTo>
                  <a:lnTo>
                    <a:pt x="12700" y="203454"/>
                  </a:lnTo>
                  <a:lnTo>
                    <a:pt x="0" y="203454"/>
                  </a:lnTo>
                  <a:moveTo>
                    <a:pt x="25400" y="203454"/>
                  </a:moveTo>
                  <a:lnTo>
                    <a:pt x="25400" y="1264666"/>
                  </a:lnTo>
                  <a:lnTo>
                    <a:pt x="12700" y="1264666"/>
                  </a:lnTo>
                  <a:lnTo>
                    <a:pt x="25400" y="1264666"/>
                  </a:lnTo>
                  <a:cubicBezTo>
                    <a:pt x="25400" y="1362837"/>
                    <a:pt x="106299" y="1442720"/>
                    <a:pt x="206502" y="1442720"/>
                  </a:cubicBezTo>
                  <a:lnTo>
                    <a:pt x="16529813" y="1442720"/>
                  </a:lnTo>
                  <a:cubicBezTo>
                    <a:pt x="16630016" y="1442720"/>
                    <a:pt x="16710915" y="1362837"/>
                    <a:pt x="16710915" y="1264666"/>
                  </a:cubicBezTo>
                  <a:lnTo>
                    <a:pt x="16710915" y="203454"/>
                  </a:lnTo>
                  <a:cubicBezTo>
                    <a:pt x="16710915" y="105283"/>
                    <a:pt x="16630016" y="25400"/>
                    <a:pt x="16529813" y="25400"/>
                  </a:cubicBezTo>
                  <a:lnTo>
                    <a:pt x="206502" y="25400"/>
                  </a:lnTo>
                  <a:lnTo>
                    <a:pt x="206502" y="12700"/>
                  </a:lnTo>
                  <a:lnTo>
                    <a:pt x="206502" y="25400"/>
                  </a:lnTo>
                  <a:cubicBezTo>
                    <a:pt x="106299" y="25400"/>
                    <a:pt x="25400" y="105283"/>
                    <a:pt x="25400" y="203454"/>
                  </a:cubicBezTo>
                  <a:close/>
                </a:path>
              </a:pathLst>
            </a:custGeom>
            <a:solidFill>
              <a:srgbClr val="FF7047"/>
            </a:solidFill>
          </p:spPr>
        </p:sp>
      </p:grpSp>
      <p:grpSp>
        <p:nvGrpSpPr>
          <p:cNvPr id="49" name="Group 49"/>
          <p:cNvGrpSpPr/>
          <p:nvPr/>
        </p:nvGrpSpPr>
        <p:grpSpPr>
          <a:xfrm>
            <a:off x="728320" y="8046930"/>
            <a:ext cx="635641" cy="1043883"/>
            <a:chOff x="0" y="0"/>
            <a:chExt cx="847522" cy="1391844"/>
          </a:xfrm>
        </p:grpSpPr>
        <p:sp>
          <p:nvSpPr>
            <p:cNvPr id="50" name="Freeform 50"/>
            <p:cNvSpPr/>
            <p:nvPr/>
          </p:nvSpPr>
          <p:spPr>
            <a:xfrm>
              <a:off x="0" y="0"/>
              <a:ext cx="847598" cy="1391920"/>
            </a:xfrm>
            <a:custGeom>
              <a:avLst/>
              <a:gdLst/>
              <a:ahLst/>
              <a:cxnLst/>
              <a:rect l="l" t="t" r="r" b="b"/>
              <a:pathLst>
                <a:path w="847598" h="1391920">
                  <a:moveTo>
                    <a:pt x="0" y="160274"/>
                  </a:moveTo>
                  <a:cubicBezTo>
                    <a:pt x="0" y="71755"/>
                    <a:pt x="71755" y="0"/>
                    <a:pt x="160274" y="0"/>
                  </a:cubicBezTo>
                  <a:lnTo>
                    <a:pt x="687324" y="0"/>
                  </a:lnTo>
                  <a:cubicBezTo>
                    <a:pt x="775843" y="0"/>
                    <a:pt x="847598" y="71755"/>
                    <a:pt x="847598" y="160274"/>
                  </a:cubicBezTo>
                  <a:lnTo>
                    <a:pt x="847598" y="1231646"/>
                  </a:lnTo>
                  <a:cubicBezTo>
                    <a:pt x="847598" y="1320165"/>
                    <a:pt x="775843" y="1391920"/>
                    <a:pt x="687324" y="1391920"/>
                  </a:cubicBezTo>
                  <a:lnTo>
                    <a:pt x="160274" y="1391920"/>
                  </a:lnTo>
                  <a:cubicBezTo>
                    <a:pt x="71755" y="1391793"/>
                    <a:pt x="0" y="1320038"/>
                    <a:pt x="0" y="1231646"/>
                  </a:cubicBezTo>
                  <a:close/>
                </a:path>
              </a:pathLst>
            </a:custGeom>
            <a:solidFill>
              <a:srgbClr val="FFFFFF"/>
            </a:solidFill>
          </p:spPr>
        </p:sp>
      </p:grpSp>
      <p:sp>
        <p:nvSpPr>
          <p:cNvPr id="51" name="TextBox 51"/>
          <p:cNvSpPr txBox="1"/>
          <p:nvPr/>
        </p:nvSpPr>
        <p:spPr>
          <a:xfrm>
            <a:off x="1465764" y="8196205"/>
            <a:ext cx="2533202" cy="257766"/>
          </a:xfrm>
          <a:prstGeom prst="rect">
            <a:avLst/>
          </a:prstGeom>
        </p:spPr>
        <p:txBody>
          <a:bodyPr lIns="0" tIns="0" rIns="0" bIns="0" rtlCol="0" anchor="t">
            <a:spAutoFit/>
          </a:bodyPr>
          <a:lstStyle/>
          <a:p>
            <a:pPr algn="l">
              <a:lnSpc>
                <a:spcPts val="1937"/>
              </a:lnSpc>
            </a:pPr>
            <a:r>
              <a:rPr lang="en-US" sz="1562">
                <a:solidFill>
                  <a:srgbClr val="262626"/>
                </a:solidFill>
                <a:latin typeface="Inter"/>
                <a:ea typeface="Inter"/>
                <a:cs typeface="Inter"/>
                <a:sym typeface="Inter"/>
              </a:rPr>
              <a:t>Historical Retrieval Reports</a:t>
            </a:r>
          </a:p>
        </p:txBody>
      </p:sp>
      <p:sp>
        <p:nvSpPr>
          <p:cNvPr id="52" name="TextBox 52"/>
          <p:cNvSpPr txBox="1"/>
          <p:nvPr/>
        </p:nvSpPr>
        <p:spPr>
          <a:xfrm>
            <a:off x="1465764" y="8486413"/>
            <a:ext cx="11598773" cy="445589"/>
          </a:xfrm>
          <a:prstGeom prst="rect">
            <a:avLst/>
          </a:prstGeom>
        </p:spPr>
        <p:txBody>
          <a:bodyPr lIns="0" tIns="0" rIns="0" bIns="0" rtlCol="0" anchor="t">
            <a:spAutoFit/>
          </a:bodyPr>
          <a:lstStyle/>
          <a:p>
            <a:pPr algn="l">
              <a:lnSpc>
                <a:spcPts val="1624"/>
              </a:lnSpc>
            </a:pPr>
            <a:r>
              <a:rPr lang="en-US" sz="1312">
                <a:solidFill>
                  <a:srgbClr val="262626"/>
                </a:solidFill>
                <a:latin typeface="Arimo"/>
                <a:ea typeface="Arimo"/>
                <a:cs typeface="Arimo"/>
                <a:sym typeface="Arimo"/>
              </a:rPr>
              <a:t>Access to preserved attendance records from previous terms and academic years — surfaced efficiently from structured backups for longitudinal analysis and compliance.</a:t>
            </a:r>
          </a:p>
        </p:txBody>
      </p:sp>
      <p:grpSp>
        <p:nvGrpSpPr>
          <p:cNvPr id="53" name="Group 53"/>
          <p:cNvGrpSpPr/>
          <p:nvPr/>
        </p:nvGrpSpPr>
        <p:grpSpPr>
          <a:xfrm>
            <a:off x="709270" y="9224305"/>
            <a:ext cx="12533109" cy="729253"/>
            <a:chOff x="0" y="0"/>
            <a:chExt cx="16710812" cy="972337"/>
          </a:xfrm>
        </p:grpSpPr>
        <p:sp>
          <p:nvSpPr>
            <p:cNvPr id="54" name="Freeform 54"/>
            <p:cNvSpPr/>
            <p:nvPr/>
          </p:nvSpPr>
          <p:spPr>
            <a:xfrm>
              <a:off x="0" y="0"/>
              <a:ext cx="16710788" cy="972312"/>
            </a:xfrm>
            <a:custGeom>
              <a:avLst/>
              <a:gdLst/>
              <a:ahLst/>
              <a:cxnLst/>
              <a:rect l="l" t="t" r="r" b="b"/>
              <a:pathLst>
                <a:path w="16710788" h="972312">
                  <a:moveTo>
                    <a:pt x="0" y="190754"/>
                  </a:moveTo>
                  <a:cubicBezTo>
                    <a:pt x="0" y="85344"/>
                    <a:pt x="85344" y="0"/>
                    <a:pt x="190754" y="0"/>
                  </a:cubicBezTo>
                  <a:lnTo>
                    <a:pt x="16520033" y="0"/>
                  </a:lnTo>
                  <a:cubicBezTo>
                    <a:pt x="16625317" y="0"/>
                    <a:pt x="16710788" y="85344"/>
                    <a:pt x="16710788" y="190754"/>
                  </a:cubicBezTo>
                  <a:lnTo>
                    <a:pt x="16710788" y="781558"/>
                  </a:lnTo>
                  <a:cubicBezTo>
                    <a:pt x="16710788" y="886841"/>
                    <a:pt x="16625444" y="972312"/>
                    <a:pt x="16520033" y="972312"/>
                  </a:cubicBezTo>
                  <a:lnTo>
                    <a:pt x="190754" y="972312"/>
                  </a:lnTo>
                  <a:cubicBezTo>
                    <a:pt x="85344" y="972312"/>
                    <a:pt x="0" y="886968"/>
                    <a:pt x="0" y="781558"/>
                  </a:cubicBezTo>
                  <a:close/>
                </a:path>
              </a:pathLst>
            </a:custGeom>
            <a:solidFill>
              <a:srgbClr val="FFC4B3"/>
            </a:solidFill>
          </p:spPr>
        </p:sp>
      </p:grpSp>
      <p:grpSp>
        <p:nvGrpSpPr>
          <p:cNvPr id="55" name="Group 55"/>
          <p:cNvGrpSpPr/>
          <p:nvPr/>
        </p:nvGrpSpPr>
        <p:grpSpPr>
          <a:xfrm>
            <a:off x="868070" y="9445609"/>
            <a:ext cx="198539" cy="158801"/>
            <a:chOff x="0" y="0"/>
            <a:chExt cx="264719" cy="211734"/>
          </a:xfrm>
        </p:grpSpPr>
        <p:sp>
          <p:nvSpPr>
            <p:cNvPr id="56" name="Freeform 56" descr="preencoded.png"/>
            <p:cNvSpPr/>
            <p:nvPr/>
          </p:nvSpPr>
          <p:spPr>
            <a:xfrm>
              <a:off x="0" y="0"/>
              <a:ext cx="264668" cy="211709"/>
            </a:xfrm>
            <a:custGeom>
              <a:avLst/>
              <a:gdLst/>
              <a:ahLst/>
              <a:cxnLst/>
              <a:rect l="l" t="t" r="r" b="b"/>
              <a:pathLst>
                <a:path w="264668" h="211709">
                  <a:moveTo>
                    <a:pt x="0" y="0"/>
                  </a:moveTo>
                  <a:lnTo>
                    <a:pt x="264668" y="0"/>
                  </a:lnTo>
                  <a:lnTo>
                    <a:pt x="264668" y="211709"/>
                  </a:lnTo>
                  <a:lnTo>
                    <a:pt x="0" y="211709"/>
                  </a:lnTo>
                  <a:lnTo>
                    <a:pt x="0" y="0"/>
                  </a:lnTo>
                  <a:close/>
                </a:path>
              </a:pathLst>
            </a:custGeom>
            <a:blipFill>
              <a:blip r:embed="rId3"/>
              <a:stretch>
                <a:fillRect t="-605" r="-19" b="-611"/>
              </a:stretch>
            </a:blipFill>
          </p:spPr>
        </p:sp>
      </p:grpSp>
      <p:sp>
        <p:nvSpPr>
          <p:cNvPr id="57" name="TextBox 57"/>
          <p:cNvSpPr txBox="1"/>
          <p:nvPr/>
        </p:nvSpPr>
        <p:spPr>
          <a:xfrm>
            <a:off x="1225410" y="9337119"/>
            <a:ext cx="11858177" cy="445589"/>
          </a:xfrm>
          <a:prstGeom prst="rect">
            <a:avLst/>
          </a:prstGeom>
        </p:spPr>
        <p:txBody>
          <a:bodyPr lIns="0" tIns="0" rIns="0" bIns="0" rtlCol="0" anchor="t">
            <a:spAutoFit/>
          </a:bodyPr>
          <a:lstStyle/>
          <a:p>
            <a:pPr algn="l">
              <a:lnSpc>
                <a:spcPts val="1624"/>
              </a:lnSpc>
            </a:pPr>
            <a:r>
              <a:rPr lang="en-US" sz="1312">
                <a:solidFill>
                  <a:srgbClr val="000000"/>
                </a:solidFill>
                <a:latin typeface="Arimo"/>
                <a:ea typeface="Arimo"/>
                <a:cs typeface="Arimo"/>
                <a:sym typeface="Arimo"/>
              </a:rPr>
              <a:t>All report types can be generated automatically on schedule or triggered manually through the dashboard. Reports are formatted consistently and delivered through the WhatsApp communication layer or accessed directly via the monitoring interface.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596770" y="384600"/>
            <a:ext cx="1752914" cy="413423"/>
            <a:chOff x="0" y="0"/>
            <a:chExt cx="2337219" cy="551231"/>
          </a:xfrm>
        </p:grpSpPr>
        <p:sp>
          <p:nvSpPr>
            <p:cNvPr id="7" name="Freeform 7"/>
            <p:cNvSpPr/>
            <p:nvPr/>
          </p:nvSpPr>
          <p:spPr>
            <a:xfrm>
              <a:off x="0" y="0"/>
              <a:ext cx="2337181" cy="551307"/>
            </a:xfrm>
            <a:custGeom>
              <a:avLst/>
              <a:gdLst/>
              <a:ahLst/>
              <a:cxnLst/>
              <a:rect l="l" t="t" r="r" b="b"/>
              <a:pathLst>
                <a:path w="2337181" h="551307">
                  <a:moveTo>
                    <a:pt x="0" y="229870"/>
                  </a:moveTo>
                  <a:cubicBezTo>
                    <a:pt x="0" y="102743"/>
                    <a:pt x="104775" y="0"/>
                    <a:pt x="233807" y="0"/>
                  </a:cubicBezTo>
                  <a:lnTo>
                    <a:pt x="2103374" y="0"/>
                  </a:lnTo>
                  <a:lnTo>
                    <a:pt x="2103374" y="6350"/>
                  </a:lnTo>
                  <a:lnTo>
                    <a:pt x="2103374" y="0"/>
                  </a:lnTo>
                  <a:cubicBezTo>
                    <a:pt x="2232406" y="0"/>
                    <a:pt x="2337181" y="102743"/>
                    <a:pt x="2337181" y="229870"/>
                  </a:cubicBezTo>
                  <a:lnTo>
                    <a:pt x="2330831" y="229870"/>
                  </a:lnTo>
                  <a:lnTo>
                    <a:pt x="2337181" y="229870"/>
                  </a:lnTo>
                  <a:lnTo>
                    <a:pt x="2337181" y="321437"/>
                  </a:lnTo>
                  <a:lnTo>
                    <a:pt x="2330831" y="321437"/>
                  </a:lnTo>
                  <a:lnTo>
                    <a:pt x="2337181" y="321437"/>
                  </a:lnTo>
                  <a:cubicBezTo>
                    <a:pt x="2337181" y="448437"/>
                    <a:pt x="2232406" y="551307"/>
                    <a:pt x="2103374" y="551307"/>
                  </a:cubicBezTo>
                  <a:lnTo>
                    <a:pt x="2103374" y="544957"/>
                  </a:lnTo>
                  <a:lnTo>
                    <a:pt x="2103374" y="551307"/>
                  </a:lnTo>
                  <a:lnTo>
                    <a:pt x="233807" y="551307"/>
                  </a:lnTo>
                  <a:lnTo>
                    <a:pt x="233807" y="544957"/>
                  </a:lnTo>
                  <a:lnTo>
                    <a:pt x="233807" y="551307"/>
                  </a:lnTo>
                  <a:cubicBezTo>
                    <a:pt x="104775" y="551180"/>
                    <a:pt x="0" y="448437"/>
                    <a:pt x="0" y="321437"/>
                  </a:cubicBezTo>
                  <a:lnTo>
                    <a:pt x="0" y="229870"/>
                  </a:lnTo>
                  <a:lnTo>
                    <a:pt x="6350" y="229870"/>
                  </a:lnTo>
                  <a:lnTo>
                    <a:pt x="0" y="229870"/>
                  </a:lnTo>
                  <a:moveTo>
                    <a:pt x="12700" y="229870"/>
                  </a:moveTo>
                  <a:lnTo>
                    <a:pt x="12700" y="321437"/>
                  </a:lnTo>
                  <a:lnTo>
                    <a:pt x="6350" y="321437"/>
                  </a:lnTo>
                  <a:lnTo>
                    <a:pt x="12700" y="321437"/>
                  </a:lnTo>
                  <a:cubicBezTo>
                    <a:pt x="12700" y="441198"/>
                    <a:pt x="111633" y="538607"/>
                    <a:pt x="233807" y="538607"/>
                  </a:cubicBezTo>
                  <a:lnTo>
                    <a:pt x="2103374" y="538607"/>
                  </a:lnTo>
                  <a:cubicBezTo>
                    <a:pt x="2225675" y="538607"/>
                    <a:pt x="2324481" y="441325"/>
                    <a:pt x="2324481" y="321437"/>
                  </a:cubicBezTo>
                  <a:lnTo>
                    <a:pt x="2324481" y="229870"/>
                  </a:lnTo>
                  <a:cubicBezTo>
                    <a:pt x="2324481" y="110109"/>
                    <a:pt x="2225548" y="12700"/>
                    <a:pt x="2103374" y="12700"/>
                  </a:cubicBezTo>
                  <a:lnTo>
                    <a:pt x="233807" y="12700"/>
                  </a:lnTo>
                  <a:lnTo>
                    <a:pt x="233807" y="6350"/>
                  </a:lnTo>
                  <a:lnTo>
                    <a:pt x="233807" y="12700"/>
                  </a:lnTo>
                  <a:cubicBezTo>
                    <a:pt x="111633" y="12700"/>
                    <a:pt x="12700" y="109982"/>
                    <a:pt x="12700" y="229870"/>
                  </a:cubicBezTo>
                  <a:close/>
                </a:path>
              </a:pathLst>
            </a:custGeom>
            <a:solidFill>
              <a:srgbClr val="FF7047"/>
            </a:solidFill>
          </p:spPr>
        </p:sp>
      </p:grpSp>
      <p:sp>
        <p:nvSpPr>
          <p:cNvPr id="8" name="TextBox 8"/>
          <p:cNvSpPr txBox="1"/>
          <p:nvPr/>
        </p:nvSpPr>
        <p:spPr>
          <a:xfrm>
            <a:off x="713774" y="560240"/>
            <a:ext cx="1635881" cy="143373"/>
          </a:xfrm>
          <a:prstGeom prst="rect">
            <a:avLst/>
          </a:prstGeom>
        </p:spPr>
        <p:txBody>
          <a:bodyPr wrap="square" lIns="0" tIns="0" rIns="0" bIns="0" rtlCol="0" anchor="t">
            <a:spAutoFit/>
          </a:bodyPr>
          <a:lstStyle/>
          <a:p>
            <a:pPr algn="l">
              <a:lnSpc>
                <a:spcPts val="1062"/>
              </a:lnSpc>
            </a:pPr>
            <a:r>
              <a:rPr lang="en-US" sz="1124" b="1" spc="4" dirty="0">
                <a:solidFill>
                  <a:srgbClr val="FF7047"/>
                </a:solidFill>
                <a:latin typeface="Merriweather Sans Bold"/>
                <a:ea typeface="Merriweather Sans Bold"/>
                <a:cs typeface="Merriweather Sans Bold"/>
                <a:sym typeface="Merriweather Sans Bold"/>
              </a:rPr>
              <a:t>HISTORICAL ANALYSIS</a:t>
            </a:r>
          </a:p>
        </p:txBody>
      </p:sp>
      <p:sp>
        <p:nvSpPr>
          <p:cNvPr id="9" name="TextBox 9"/>
          <p:cNvSpPr txBox="1"/>
          <p:nvPr/>
        </p:nvSpPr>
        <p:spPr>
          <a:xfrm>
            <a:off x="601532" y="1034596"/>
            <a:ext cx="8684866" cy="464639"/>
          </a:xfrm>
          <a:prstGeom prst="rect">
            <a:avLst/>
          </a:prstGeom>
        </p:spPr>
        <p:txBody>
          <a:bodyPr lIns="0" tIns="0" rIns="0" bIns="0" rtlCol="0" anchor="t">
            <a:spAutoFit/>
          </a:bodyPr>
          <a:lstStyle/>
          <a:p>
            <a:pPr algn="l">
              <a:lnSpc>
                <a:spcPts val="3375"/>
              </a:lnSpc>
            </a:pPr>
            <a:r>
              <a:rPr lang="en-US" sz="2499">
                <a:solidFill>
                  <a:srgbClr val="0C0D0F"/>
                </a:solidFill>
                <a:latin typeface="Inter"/>
                <a:ea typeface="Inter"/>
                <a:cs typeface="Inter"/>
                <a:sym typeface="Inter"/>
              </a:rPr>
              <a:t>Range Reporting &amp; Historical Attendance Intelligence</a:t>
            </a:r>
          </a:p>
        </p:txBody>
      </p:sp>
      <p:sp>
        <p:nvSpPr>
          <p:cNvPr id="10" name="TextBox 10"/>
          <p:cNvSpPr txBox="1"/>
          <p:nvPr/>
        </p:nvSpPr>
        <p:spPr>
          <a:xfrm>
            <a:off x="601532" y="1641900"/>
            <a:ext cx="8436416" cy="551859"/>
          </a:xfrm>
          <a:prstGeom prst="rect">
            <a:avLst/>
          </a:prstGeom>
        </p:spPr>
        <p:txBody>
          <a:bodyPr lIns="0" tIns="0" rIns="0" bIns="0" rtlCol="0" anchor="t">
            <a:spAutoFit/>
          </a:bodyPr>
          <a:lstStyle/>
          <a:p>
            <a:pPr algn="just">
              <a:lnSpc>
                <a:spcPts val="2100"/>
              </a:lnSpc>
            </a:pPr>
            <a:r>
              <a:rPr lang="en-US" sz="1750">
                <a:solidFill>
                  <a:srgbClr val="262626"/>
                </a:solidFill>
                <a:latin typeface="Arimo"/>
                <a:ea typeface="Arimo"/>
                <a:cs typeface="Arimo"/>
                <a:sym typeface="Arimo"/>
              </a:rPr>
              <a:t>One of BIOSYNC's most practically valuable capabilities is its ability to retrieve, analyze, and report on attendance data across any custom date range — including historical periods that extend well beyond the current academic term. This is not a simple data dump; it is structured, meaningful institutional intelligence that supports audits, student reviews, trend analysis, and administrative evaluation.</a:t>
            </a:r>
          </a:p>
        </p:txBody>
      </p:sp>
      <p:sp>
        <p:nvSpPr>
          <p:cNvPr id="11" name="TextBox 11"/>
          <p:cNvSpPr txBox="1"/>
          <p:nvPr/>
        </p:nvSpPr>
        <p:spPr>
          <a:xfrm>
            <a:off x="11563845" y="5347753"/>
            <a:ext cx="3828555" cy="224870"/>
          </a:xfrm>
          <a:prstGeom prst="rect">
            <a:avLst/>
          </a:prstGeom>
        </p:spPr>
        <p:txBody>
          <a:bodyPr wrap="square" lIns="0" tIns="0" rIns="0" bIns="0" rtlCol="0" anchor="t">
            <a:spAutoFit/>
          </a:bodyPr>
          <a:lstStyle/>
          <a:p>
            <a:pPr algn="l">
              <a:lnSpc>
                <a:spcPts val="1687"/>
              </a:lnSpc>
            </a:pPr>
            <a:r>
              <a:rPr lang="en-US" sz="2000" dirty="0">
                <a:solidFill>
                  <a:srgbClr val="0C0D0F"/>
                </a:solidFill>
                <a:latin typeface="Inter"/>
                <a:ea typeface="Inter"/>
                <a:cs typeface="Inter"/>
                <a:sym typeface="Inter"/>
              </a:rPr>
              <a:t>Custom Date-Range Retrieval</a:t>
            </a:r>
          </a:p>
        </p:txBody>
      </p:sp>
      <p:sp>
        <p:nvSpPr>
          <p:cNvPr id="12" name="TextBox 12"/>
          <p:cNvSpPr txBox="1"/>
          <p:nvPr/>
        </p:nvSpPr>
        <p:spPr>
          <a:xfrm>
            <a:off x="11543567" y="5866600"/>
            <a:ext cx="5034001" cy="716756"/>
          </a:xfrm>
          <a:prstGeom prst="rect">
            <a:avLst/>
          </a:prstGeom>
        </p:spPr>
        <p:txBody>
          <a:bodyPr lIns="0" tIns="0" rIns="0" bIns="0" rtlCol="0" anchor="t">
            <a:spAutoFit/>
          </a:bodyPr>
          <a:lstStyle/>
          <a:p>
            <a:pPr algn="just">
              <a:lnSpc>
                <a:spcPts val="1650"/>
              </a:lnSpc>
            </a:pPr>
            <a:r>
              <a:rPr lang="en-US" sz="1375">
                <a:solidFill>
                  <a:srgbClr val="55575A"/>
                </a:solidFill>
                <a:latin typeface="Arimo"/>
                <a:ea typeface="Arimo"/>
                <a:cs typeface="Arimo"/>
                <a:sym typeface="Arimo"/>
              </a:rPr>
              <a:t>BIOSYNC allows administrators to specify any start and end date and instantly generate a complete attendance report for that period. The system queries its structured backup archives, recomputes attendance percentages if needed, and produces a formatted output — whether the range covers a single week or an entire academic year.</a:t>
            </a:r>
          </a:p>
        </p:txBody>
      </p:sp>
      <p:sp>
        <p:nvSpPr>
          <p:cNvPr id="13" name="TextBox 13"/>
          <p:cNvSpPr txBox="1"/>
          <p:nvPr/>
        </p:nvSpPr>
        <p:spPr>
          <a:xfrm>
            <a:off x="11543567" y="5600738"/>
            <a:ext cx="5899394" cy="164897"/>
          </a:xfrm>
          <a:prstGeom prst="rect">
            <a:avLst/>
          </a:prstGeom>
        </p:spPr>
        <p:txBody>
          <a:bodyPr lIns="0" tIns="0" rIns="0" bIns="0" rtlCol="0" anchor="t">
            <a:spAutoFit/>
          </a:bodyPr>
          <a:lstStyle/>
          <a:p>
            <a:pPr algn="l">
              <a:lnSpc>
                <a:spcPts val="1312"/>
              </a:lnSpc>
            </a:pPr>
            <a:r>
              <a:rPr lang="en-US" sz="1375">
                <a:solidFill>
                  <a:srgbClr val="55575A"/>
                </a:solidFill>
                <a:latin typeface="Arimo"/>
                <a:ea typeface="Arimo"/>
                <a:cs typeface="Arimo"/>
                <a:sym typeface="Arimo"/>
              </a:rPr>
              <a:t>This capability is particularly valuable for:</a:t>
            </a:r>
          </a:p>
        </p:txBody>
      </p:sp>
      <p:sp>
        <p:nvSpPr>
          <p:cNvPr id="14" name="TextBox 14"/>
          <p:cNvSpPr txBox="1"/>
          <p:nvPr/>
        </p:nvSpPr>
        <p:spPr>
          <a:xfrm>
            <a:off x="11696748" y="7245934"/>
            <a:ext cx="5899394" cy="1496616"/>
          </a:xfrm>
          <a:prstGeom prst="rect">
            <a:avLst/>
          </a:prstGeom>
        </p:spPr>
        <p:txBody>
          <a:bodyPr lIns="0" tIns="0" rIns="0" bIns="0" rtlCol="0" anchor="t">
            <a:spAutoFit/>
          </a:bodyPr>
          <a:lstStyle/>
          <a:p>
            <a:pPr marL="197941" lvl="1" indent="-98971" algn="just">
              <a:lnSpc>
                <a:spcPts val="1575"/>
              </a:lnSpc>
              <a:buFont typeface="Arial"/>
              <a:buChar char="•"/>
            </a:pPr>
            <a:r>
              <a:rPr lang="en-US" sz="1312" b="1">
                <a:solidFill>
                  <a:srgbClr val="55575A"/>
                </a:solidFill>
                <a:latin typeface="Arimo Bold"/>
                <a:ea typeface="Arimo Bold"/>
                <a:cs typeface="Arimo Bold"/>
                <a:sym typeface="Arimo Bold"/>
              </a:rPr>
              <a:t>Audit compliance</a:t>
            </a:r>
            <a:r>
              <a:rPr lang="en-US" sz="1312">
                <a:solidFill>
                  <a:srgbClr val="55575A"/>
                </a:solidFill>
                <a:latin typeface="Arimo"/>
                <a:ea typeface="Arimo"/>
                <a:cs typeface="Arimo"/>
                <a:sym typeface="Arimo"/>
              </a:rPr>
              <a:t> — producing verified attendance records for regulatory or accreditation reviews</a:t>
            </a:r>
          </a:p>
          <a:p>
            <a:pPr marL="197941" lvl="1" indent="-98971" algn="just">
              <a:lnSpc>
                <a:spcPts val="1575"/>
              </a:lnSpc>
              <a:buFont typeface="Arial"/>
              <a:buChar char="•"/>
            </a:pPr>
            <a:r>
              <a:rPr lang="en-US" sz="1312" b="1">
                <a:solidFill>
                  <a:srgbClr val="55575A"/>
                </a:solidFill>
                <a:latin typeface="Arimo Bold"/>
                <a:ea typeface="Arimo Bold"/>
                <a:cs typeface="Arimo Bold"/>
                <a:sym typeface="Arimo Bold"/>
              </a:rPr>
              <a:t>Student attendance verification</a:t>
            </a:r>
            <a:r>
              <a:rPr lang="en-US" sz="1312">
                <a:solidFill>
                  <a:srgbClr val="55575A"/>
                </a:solidFill>
                <a:latin typeface="Arimo"/>
                <a:ea typeface="Arimo"/>
                <a:cs typeface="Arimo"/>
                <a:sym typeface="Arimo"/>
              </a:rPr>
              <a:t> — responding to parent or student queries with precise, documented data</a:t>
            </a:r>
          </a:p>
          <a:p>
            <a:pPr marL="197941" lvl="1" indent="-98971" algn="just">
              <a:lnSpc>
                <a:spcPts val="1575"/>
              </a:lnSpc>
              <a:buFont typeface="Arial"/>
              <a:buChar char="•"/>
            </a:pPr>
            <a:r>
              <a:rPr lang="en-US" sz="1312" b="1">
                <a:solidFill>
                  <a:srgbClr val="55575A"/>
                </a:solidFill>
                <a:latin typeface="Arimo Bold"/>
                <a:ea typeface="Arimo Bold"/>
                <a:cs typeface="Arimo Bold"/>
                <a:sym typeface="Arimo Bold"/>
              </a:rPr>
              <a:t>Trend analysis</a:t>
            </a:r>
            <a:r>
              <a:rPr lang="en-US" sz="1312">
                <a:solidFill>
                  <a:srgbClr val="55575A"/>
                </a:solidFill>
                <a:latin typeface="Arimo"/>
                <a:ea typeface="Arimo"/>
                <a:cs typeface="Arimo"/>
                <a:sym typeface="Arimo"/>
              </a:rPr>
              <a:t> — identifying attendance patterns across semesters to inform institutional policy</a:t>
            </a:r>
          </a:p>
          <a:p>
            <a:pPr marL="197941" lvl="1" indent="-98971" algn="just">
              <a:lnSpc>
                <a:spcPts val="1575"/>
              </a:lnSpc>
              <a:buFont typeface="Arial"/>
              <a:buChar char="•"/>
            </a:pPr>
            <a:r>
              <a:rPr lang="en-US" sz="1312" b="1">
                <a:solidFill>
                  <a:srgbClr val="55575A"/>
                </a:solidFill>
                <a:latin typeface="Arimo Bold"/>
                <a:ea typeface="Arimo Bold"/>
                <a:cs typeface="Arimo Bold"/>
                <a:sym typeface="Arimo Bold"/>
              </a:rPr>
              <a:t>Administrative evaluation</a:t>
            </a:r>
            <a:r>
              <a:rPr lang="en-US" sz="1312">
                <a:solidFill>
                  <a:srgbClr val="55575A"/>
                </a:solidFill>
                <a:latin typeface="Arimo"/>
                <a:ea typeface="Arimo"/>
                <a:cs typeface="Arimo"/>
                <a:sym typeface="Arimo"/>
              </a:rPr>
              <a:t> — comparing department-level attendance performance over time</a:t>
            </a:r>
          </a:p>
        </p:txBody>
      </p:sp>
      <p:grpSp>
        <p:nvGrpSpPr>
          <p:cNvPr id="15" name="Group 15"/>
          <p:cNvGrpSpPr/>
          <p:nvPr/>
        </p:nvGrpSpPr>
        <p:grpSpPr>
          <a:xfrm>
            <a:off x="11543567" y="995277"/>
            <a:ext cx="5801754" cy="3659696"/>
            <a:chOff x="0" y="0"/>
            <a:chExt cx="7735672" cy="4879594"/>
          </a:xfrm>
        </p:grpSpPr>
        <p:sp>
          <p:nvSpPr>
            <p:cNvPr id="16" name="Freeform 16"/>
            <p:cNvSpPr/>
            <p:nvPr/>
          </p:nvSpPr>
          <p:spPr>
            <a:xfrm>
              <a:off x="0" y="0"/>
              <a:ext cx="7735697" cy="4879594"/>
            </a:xfrm>
            <a:custGeom>
              <a:avLst/>
              <a:gdLst/>
              <a:ahLst/>
              <a:cxnLst/>
              <a:rect l="l" t="t" r="r" b="b"/>
              <a:pathLst>
                <a:path w="7735697" h="4879594">
                  <a:moveTo>
                    <a:pt x="0" y="338963"/>
                  </a:moveTo>
                  <a:cubicBezTo>
                    <a:pt x="0" y="151765"/>
                    <a:pt x="151765" y="0"/>
                    <a:pt x="338963" y="0"/>
                  </a:cubicBezTo>
                  <a:lnTo>
                    <a:pt x="7396734" y="0"/>
                  </a:lnTo>
                  <a:cubicBezTo>
                    <a:pt x="7583932" y="0"/>
                    <a:pt x="7735697" y="151765"/>
                    <a:pt x="7735697" y="338963"/>
                  </a:cubicBezTo>
                  <a:lnTo>
                    <a:pt x="7735697" y="4540631"/>
                  </a:lnTo>
                  <a:cubicBezTo>
                    <a:pt x="7735697" y="4727829"/>
                    <a:pt x="7583932" y="4879594"/>
                    <a:pt x="7396734" y="4879594"/>
                  </a:cubicBezTo>
                  <a:lnTo>
                    <a:pt x="338963" y="4879594"/>
                  </a:lnTo>
                  <a:cubicBezTo>
                    <a:pt x="151765" y="4879594"/>
                    <a:pt x="0" y="4727829"/>
                    <a:pt x="0" y="4540631"/>
                  </a:cubicBezTo>
                  <a:close/>
                </a:path>
              </a:pathLst>
            </a:custGeom>
            <a:solidFill>
              <a:srgbClr val="FFE699"/>
            </a:solidFill>
          </p:spPr>
        </p:sp>
      </p:grpSp>
      <p:grpSp>
        <p:nvGrpSpPr>
          <p:cNvPr id="17" name="Group 17"/>
          <p:cNvGrpSpPr/>
          <p:nvPr/>
        </p:nvGrpSpPr>
        <p:grpSpPr>
          <a:xfrm>
            <a:off x="12234120" y="1182729"/>
            <a:ext cx="2291058" cy="218037"/>
            <a:chOff x="0" y="0"/>
            <a:chExt cx="3054744" cy="290716"/>
          </a:xfrm>
        </p:grpSpPr>
        <p:sp>
          <p:nvSpPr>
            <p:cNvPr id="18" name="Freeform 18"/>
            <p:cNvSpPr/>
            <p:nvPr/>
          </p:nvSpPr>
          <p:spPr>
            <a:xfrm>
              <a:off x="0" y="0"/>
              <a:ext cx="3054731" cy="290703"/>
            </a:xfrm>
            <a:custGeom>
              <a:avLst/>
              <a:gdLst/>
              <a:ahLst/>
              <a:cxnLst/>
              <a:rect l="l" t="t" r="r" b="b"/>
              <a:pathLst>
                <a:path w="3054731" h="290703">
                  <a:moveTo>
                    <a:pt x="0" y="0"/>
                  </a:moveTo>
                  <a:lnTo>
                    <a:pt x="3054731" y="0"/>
                  </a:lnTo>
                  <a:lnTo>
                    <a:pt x="3054731" y="290703"/>
                  </a:lnTo>
                  <a:lnTo>
                    <a:pt x="0" y="290703"/>
                  </a:lnTo>
                  <a:close/>
                </a:path>
              </a:pathLst>
            </a:custGeom>
            <a:solidFill>
              <a:srgbClr val="FFE699"/>
            </a:solidFill>
          </p:spPr>
        </p:sp>
        <p:sp>
          <p:nvSpPr>
            <p:cNvPr id="19" name="TextBox 19"/>
            <p:cNvSpPr txBox="1"/>
            <p:nvPr/>
          </p:nvSpPr>
          <p:spPr>
            <a:xfrm>
              <a:off x="0" y="66675"/>
              <a:ext cx="3054744" cy="224041"/>
            </a:xfrm>
            <a:prstGeom prst="rect">
              <a:avLst/>
            </a:prstGeom>
          </p:spPr>
          <p:txBody>
            <a:bodyPr lIns="50800" tIns="50800" rIns="50800" bIns="50800" rtlCol="0" anchor="t"/>
            <a:lstStyle/>
            <a:p>
              <a:pPr algn="l">
                <a:lnSpc>
                  <a:spcPts val="1687"/>
                </a:lnSpc>
              </a:pPr>
              <a:r>
                <a:rPr lang="en-US" sz="2000">
                  <a:solidFill>
                    <a:srgbClr val="0C0D0F"/>
                  </a:solidFill>
                  <a:latin typeface="Inter"/>
                  <a:ea typeface="Inter"/>
                  <a:cs typeface="Inter"/>
                  <a:sym typeface="Inter"/>
                </a:rPr>
                <a:t>Historical Data Preservation</a:t>
              </a:r>
            </a:p>
          </p:txBody>
        </p:sp>
      </p:grpSp>
      <p:grpSp>
        <p:nvGrpSpPr>
          <p:cNvPr id="20" name="Group 20"/>
          <p:cNvGrpSpPr/>
          <p:nvPr/>
        </p:nvGrpSpPr>
        <p:grpSpPr>
          <a:xfrm>
            <a:off x="12033809" y="1486443"/>
            <a:ext cx="4686891" cy="872128"/>
            <a:chOff x="0" y="0"/>
            <a:chExt cx="6249187" cy="1162837"/>
          </a:xfrm>
        </p:grpSpPr>
        <p:sp>
          <p:nvSpPr>
            <p:cNvPr id="21" name="Freeform 21"/>
            <p:cNvSpPr/>
            <p:nvPr/>
          </p:nvSpPr>
          <p:spPr>
            <a:xfrm>
              <a:off x="0" y="0"/>
              <a:ext cx="6249162" cy="1162812"/>
            </a:xfrm>
            <a:custGeom>
              <a:avLst/>
              <a:gdLst/>
              <a:ahLst/>
              <a:cxnLst/>
              <a:rect l="l" t="t" r="r" b="b"/>
              <a:pathLst>
                <a:path w="6249162" h="1162812">
                  <a:moveTo>
                    <a:pt x="0" y="0"/>
                  </a:moveTo>
                  <a:lnTo>
                    <a:pt x="6249162" y="0"/>
                  </a:lnTo>
                  <a:lnTo>
                    <a:pt x="6249162" y="1162812"/>
                  </a:lnTo>
                  <a:lnTo>
                    <a:pt x="0" y="1162812"/>
                  </a:lnTo>
                  <a:close/>
                </a:path>
              </a:pathLst>
            </a:custGeom>
            <a:solidFill>
              <a:srgbClr val="FFE699"/>
            </a:solidFill>
          </p:spPr>
        </p:sp>
        <p:sp>
          <p:nvSpPr>
            <p:cNvPr id="22" name="TextBox 22"/>
            <p:cNvSpPr txBox="1"/>
            <p:nvPr/>
          </p:nvSpPr>
          <p:spPr>
            <a:xfrm>
              <a:off x="0" y="-19050"/>
              <a:ext cx="6249187" cy="1181887"/>
            </a:xfrm>
            <a:prstGeom prst="rect">
              <a:avLst/>
            </a:prstGeom>
          </p:spPr>
          <p:txBody>
            <a:bodyPr lIns="50800" tIns="50800" rIns="50800" bIns="50800" rtlCol="0" anchor="t"/>
            <a:lstStyle/>
            <a:p>
              <a:pPr marL="207367" lvl="1" indent="-103684" algn="just">
                <a:lnSpc>
                  <a:spcPts val="1650"/>
                </a:lnSpc>
                <a:buFont typeface="Arial"/>
                <a:buChar char="•"/>
              </a:pPr>
              <a:r>
                <a:rPr lang="en-US" sz="1375">
                  <a:solidFill>
                    <a:srgbClr val="3B3838"/>
                  </a:solidFill>
                  <a:latin typeface="Arimo"/>
                  <a:ea typeface="Arimo"/>
                  <a:cs typeface="Arimo"/>
                  <a:sym typeface="Arimo"/>
                </a:rPr>
                <a:t>BIOSYNC does not overwrite or discard historical attendance data. Every processed record is preserved in structured local backups with organized file naming and folder hierarchies. These backups are then synchronized to Google Drive, creating a redundant, cloud-backed archive that is both secure and efficiently retrievable.</a:t>
              </a:r>
            </a:p>
          </p:txBody>
        </p:sp>
      </p:grpSp>
      <p:grpSp>
        <p:nvGrpSpPr>
          <p:cNvPr id="23" name="Group 23"/>
          <p:cNvGrpSpPr/>
          <p:nvPr/>
        </p:nvGrpSpPr>
        <p:grpSpPr>
          <a:xfrm>
            <a:off x="12033809" y="2995346"/>
            <a:ext cx="4686891" cy="872128"/>
            <a:chOff x="0" y="0"/>
            <a:chExt cx="6249187" cy="1162837"/>
          </a:xfrm>
        </p:grpSpPr>
        <p:sp>
          <p:nvSpPr>
            <p:cNvPr id="24" name="Freeform 24"/>
            <p:cNvSpPr/>
            <p:nvPr/>
          </p:nvSpPr>
          <p:spPr>
            <a:xfrm>
              <a:off x="0" y="0"/>
              <a:ext cx="6249162" cy="1162812"/>
            </a:xfrm>
            <a:custGeom>
              <a:avLst/>
              <a:gdLst/>
              <a:ahLst/>
              <a:cxnLst/>
              <a:rect l="l" t="t" r="r" b="b"/>
              <a:pathLst>
                <a:path w="6249162" h="1162812">
                  <a:moveTo>
                    <a:pt x="0" y="0"/>
                  </a:moveTo>
                  <a:lnTo>
                    <a:pt x="6249162" y="0"/>
                  </a:lnTo>
                  <a:lnTo>
                    <a:pt x="6249162" y="1162812"/>
                  </a:lnTo>
                  <a:lnTo>
                    <a:pt x="0" y="1162812"/>
                  </a:lnTo>
                  <a:close/>
                </a:path>
              </a:pathLst>
            </a:custGeom>
            <a:solidFill>
              <a:srgbClr val="FFE699"/>
            </a:solidFill>
          </p:spPr>
        </p:sp>
        <p:sp>
          <p:nvSpPr>
            <p:cNvPr id="25" name="TextBox 25"/>
            <p:cNvSpPr txBox="1"/>
            <p:nvPr/>
          </p:nvSpPr>
          <p:spPr>
            <a:xfrm>
              <a:off x="0" y="-19050"/>
              <a:ext cx="6249187" cy="1181887"/>
            </a:xfrm>
            <a:prstGeom prst="rect">
              <a:avLst/>
            </a:prstGeom>
          </p:spPr>
          <p:txBody>
            <a:bodyPr lIns="50800" tIns="50800" rIns="50800" bIns="50800" rtlCol="0" anchor="t"/>
            <a:lstStyle/>
            <a:p>
              <a:pPr marL="207367" lvl="1" indent="-103684" algn="just">
                <a:lnSpc>
                  <a:spcPts val="1650"/>
                </a:lnSpc>
                <a:buFont typeface="Arial"/>
                <a:buChar char="•"/>
              </a:pPr>
              <a:r>
                <a:rPr lang="en-US" sz="1375">
                  <a:solidFill>
                    <a:srgbClr val="3B3838"/>
                  </a:solidFill>
                  <a:latin typeface="Arimo"/>
                  <a:ea typeface="Arimo"/>
                  <a:cs typeface="Arimo"/>
                  <a:sym typeface="Arimo"/>
                </a:rPr>
                <a:t>When a historical report is requested, BIOSYNC surfaces the relevant data from backup storage, recomputes aggregated metrics if required, and delivers a report with the same professional formatting as a current-period report. There is no degradation in quality or completeness for historical outputs.</a:t>
              </a:r>
            </a:p>
          </p:txBody>
        </p:sp>
      </p:grpSp>
      <p:grpSp>
        <p:nvGrpSpPr>
          <p:cNvPr id="26" name="Group 26"/>
          <p:cNvGrpSpPr/>
          <p:nvPr/>
        </p:nvGrpSpPr>
        <p:grpSpPr>
          <a:xfrm>
            <a:off x="272358" y="4189447"/>
            <a:ext cx="10250319" cy="4827241"/>
            <a:chOff x="0" y="0"/>
            <a:chExt cx="13667092" cy="6436322"/>
          </a:xfrm>
        </p:grpSpPr>
        <p:sp>
          <p:nvSpPr>
            <p:cNvPr id="27" name="Freeform 27" descr="preencoded.png"/>
            <p:cNvSpPr/>
            <p:nvPr/>
          </p:nvSpPr>
          <p:spPr>
            <a:xfrm>
              <a:off x="0" y="0"/>
              <a:ext cx="13667105" cy="6436360"/>
            </a:xfrm>
            <a:custGeom>
              <a:avLst/>
              <a:gdLst/>
              <a:ahLst/>
              <a:cxnLst/>
              <a:rect l="l" t="t" r="r" b="b"/>
              <a:pathLst>
                <a:path w="13667105" h="6436360">
                  <a:moveTo>
                    <a:pt x="0" y="0"/>
                  </a:moveTo>
                  <a:lnTo>
                    <a:pt x="13667105" y="0"/>
                  </a:lnTo>
                  <a:lnTo>
                    <a:pt x="13667105" y="6436360"/>
                  </a:lnTo>
                  <a:lnTo>
                    <a:pt x="0" y="6436360"/>
                  </a:lnTo>
                  <a:lnTo>
                    <a:pt x="0" y="0"/>
                  </a:lnTo>
                  <a:close/>
                </a:path>
              </a:pathLst>
            </a:custGeom>
            <a:blipFill>
              <a:blip r:embed="rId3"/>
              <a:stretch>
                <a:fillRect l="-3642" r="-3641"/>
              </a:stretch>
            </a:blipFill>
          </p:spPr>
        </p:sp>
      </p:grpSp>
      <p:sp>
        <p:nvSpPr>
          <p:cNvPr id="28" name="TextBox 28"/>
          <p:cNvSpPr txBox="1"/>
          <p:nvPr/>
        </p:nvSpPr>
        <p:spPr>
          <a:xfrm>
            <a:off x="3346599" y="7121471"/>
            <a:ext cx="1663208" cy="605123"/>
          </a:xfrm>
          <a:prstGeom prst="rect">
            <a:avLst/>
          </a:prstGeom>
        </p:spPr>
        <p:txBody>
          <a:bodyPr lIns="0" tIns="0" rIns="0" bIns="0" rtlCol="0" anchor="t">
            <a:spAutoFit/>
          </a:bodyPr>
          <a:lstStyle/>
          <a:p>
            <a:pPr algn="ctr">
              <a:lnSpc>
                <a:spcPts val="2312"/>
              </a:lnSpc>
            </a:pPr>
            <a:r>
              <a:rPr lang="en-US" sz="1874">
                <a:solidFill>
                  <a:srgbClr val="0C0D0F"/>
                </a:solidFill>
                <a:latin typeface="Inter"/>
                <a:ea typeface="Inter"/>
                <a:cs typeface="Inter"/>
                <a:sym typeface="Inter"/>
              </a:rPr>
              <a:t>Query Archives</a:t>
            </a:r>
          </a:p>
        </p:txBody>
      </p:sp>
      <p:sp>
        <p:nvSpPr>
          <p:cNvPr id="29" name="TextBox 29"/>
          <p:cNvSpPr txBox="1"/>
          <p:nvPr/>
        </p:nvSpPr>
        <p:spPr>
          <a:xfrm>
            <a:off x="3346599" y="7859382"/>
            <a:ext cx="1663208" cy="353197"/>
          </a:xfrm>
          <a:prstGeom prst="rect">
            <a:avLst/>
          </a:prstGeom>
        </p:spPr>
        <p:txBody>
          <a:bodyPr lIns="0" tIns="0" rIns="0" bIns="0" rtlCol="0" anchor="t">
            <a:spAutoFit/>
          </a:bodyPr>
          <a:lstStyle/>
          <a:p>
            <a:pPr algn="ctr">
              <a:lnSpc>
                <a:spcPts val="1437"/>
              </a:lnSpc>
            </a:pPr>
            <a:r>
              <a:rPr lang="en-US" sz="1500">
                <a:solidFill>
                  <a:srgbClr val="55575A"/>
                </a:solidFill>
                <a:latin typeface="Arimo"/>
                <a:ea typeface="Arimo"/>
                <a:cs typeface="Arimo"/>
                <a:sym typeface="Arimo"/>
              </a:rPr>
              <a:t>BIOSYNC searches local backups</a:t>
            </a:r>
          </a:p>
        </p:txBody>
      </p:sp>
      <p:sp>
        <p:nvSpPr>
          <p:cNvPr id="30" name="TextBox 30"/>
          <p:cNvSpPr txBox="1"/>
          <p:nvPr/>
        </p:nvSpPr>
        <p:spPr>
          <a:xfrm>
            <a:off x="8317468" y="7544600"/>
            <a:ext cx="1663208" cy="307324"/>
          </a:xfrm>
          <a:prstGeom prst="rect">
            <a:avLst/>
          </a:prstGeom>
        </p:spPr>
        <p:txBody>
          <a:bodyPr lIns="0" tIns="0" rIns="0" bIns="0" rtlCol="0" anchor="t">
            <a:spAutoFit/>
          </a:bodyPr>
          <a:lstStyle/>
          <a:p>
            <a:pPr algn="ctr">
              <a:lnSpc>
                <a:spcPts val="2312"/>
              </a:lnSpc>
            </a:pPr>
            <a:r>
              <a:rPr lang="en-US" sz="1874">
                <a:solidFill>
                  <a:srgbClr val="0C0D0F"/>
                </a:solidFill>
                <a:latin typeface="Inter"/>
                <a:ea typeface="Inter"/>
                <a:cs typeface="Inter"/>
                <a:sym typeface="Inter"/>
              </a:rPr>
              <a:t>Deliver Report</a:t>
            </a:r>
          </a:p>
        </p:txBody>
      </p:sp>
      <p:sp>
        <p:nvSpPr>
          <p:cNvPr id="31" name="TextBox 31"/>
          <p:cNvSpPr txBox="1"/>
          <p:nvPr/>
        </p:nvSpPr>
        <p:spPr>
          <a:xfrm>
            <a:off x="8376390" y="7920352"/>
            <a:ext cx="1663208" cy="539325"/>
          </a:xfrm>
          <a:prstGeom prst="rect">
            <a:avLst/>
          </a:prstGeom>
        </p:spPr>
        <p:txBody>
          <a:bodyPr lIns="0" tIns="0" rIns="0" bIns="0" rtlCol="0" anchor="t">
            <a:spAutoFit/>
          </a:bodyPr>
          <a:lstStyle/>
          <a:p>
            <a:pPr algn="ctr">
              <a:lnSpc>
                <a:spcPts val="1437"/>
              </a:lnSpc>
            </a:pPr>
            <a:r>
              <a:rPr lang="en-US" sz="1500">
                <a:solidFill>
                  <a:srgbClr val="55575A"/>
                </a:solidFill>
                <a:latin typeface="Arimo"/>
                <a:ea typeface="Arimo"/>
                <a:cs typeface="Arimo"/>
                <a:sym typeface="Arimo"/>
              </a:rPr>
              <a:t>Formatted report sent to stakeholder</a:t>
            </a:r>
          </a:p>
        </p:txBody>
      </p:sp>
      <p:sp>
        <p:nvSpPr>
          <p:cNvPr id="32" name="TextBox 32"/>
          <p:cNvSpPr txBox="1"/>
          <p:nvPr/>
        </p:nvSpPr>
        <p:spPr>
          <a:xfrm>
            <a:off x="878605" y="4645447"/>
            <a:ext cx="1663208" cy="307324"/>
          </a:xfrm>
          <a:prstGeom prst="rect">
            <a:avLst/>
          </a:prstGeom>
        </p:spPr>
        <p:txBody>
          <a:bodyPr lIns="0" tIns="0" rIns="0" bIns="0" rtlCol="0" anchor="t">
            <a:spAutoFit/>
          </a:bodyPr>
          <a:lstStyle/>
          <a:p>
            <a:pPr algn="ctr">
              <a:lnSpc>
                <a:spcPts val="2312"/>
              </a:lnSpc>
            </a:pPr>
            <a:r>
              <a:rPr lang="en-US" sz="1874">
                <a:solidFill>
                  <a:srgbClr val="0C0D0F"/>
                </a:solidFill>
                <a:latin typeface="Inter"/>
                <a:ea typeface="Inter"/>
                <a:cs typeface="Inter"/>
                <a:sym typeface="Inter"/>
              </a:rPr>
              <a:t>Specify Range</a:t>
            </a:r>
          </a:p>
        </p:txBody>
      </p:sp>
      <p:sp>
        <p:nvSpPr>
          <p:cNvPr id="33" name="TextBox 33"/>
          <p:cNvSpPr txBox="1"/>
          <p:nvPr/>
        </p:nvSpPr>
        <p:spPr>
          <a:xfrm>
            <a:off x="808044" y="5040716"/>
            <a:ext cx="1663208" cy="353197"/>
          </a:xfrm>
          <a:prstGeom prst="rect">
            <a:avLst/>
          </a:prstGeom>
        </p:spPr>
        <p:txBody>
          <a:bodyPr lIns="0" tIns="0" rIns="0" bIns="0" rtlCol="0" anchor="t">
            <a:spAutoFit/>
          </a:bodyPr>
          <a:lstStyle/>
          <a:p>
            <a:pPr algn="ctr">
              <a:lnSpc>
                <a:spcPts val="1437"/>
              </a:lnSpc>
            </a:pPr>
            <a:r>
              <a:rPr lang="en-US" sz="1500">
                <a:solidFill>
                  <a:srgbClr val="55575A"/>
                </a:solidFill>
                <a:latin typeface="Arimo"/>
                <a:ea typeface="Arimo"/>
                <a:cs typeface="Arimo"/>
                <a:sym typeface="Arimo"/>
              </a:rPr>
              <a:t>Admin sets custom date range</a:t>
            </a:r>
          </a:p>
        </p:txBody>
      </p:sp>
      <p:sp>
        <p:nvSpPr>
          <p:cNvPr id="34" name="TextBox 34"/>
          <p:cNvSpPr txBox="1"/>
          <p:nvPr/>
        </p:nvSpPr>
        <p:spPr>
          <a:xfrm>
            <a:off x="5873810" y="4558979"/>
            <a:ext cx="1663208" cy="605123"/>
          </a:xfrm>
          <a:prstGeom prst="rect">
            <a:avLst/>
          </a:prstGeom>
        </p:spPr>
        <p:txBody>
          <a:bodyPr lIns="0" tIns="0" rIns="0" bIns="0" rtlCol="0" anchor="t">
            <a:spAutoFit/>
          </a:bodyPr>
          <a:lstStyle/>
          <a:p>
            <a:pPr algn="ctr">
              <a:lnSpc>
                <a:spcPts val="2312"/>
              </a:lnSpc>
            </a:pPr>
            <a:r>
              <a:rPr lang="en-US" sz="1874">
                <a:solidFill>
                  <a:srgbClr val="0C0D0F"/>
                </a:solidFill>
                <a:latin typeface="Inter"/>
                <a:ea typeface="Inter"/>
                <a:cs typeface="Inter"/>
                <a:sym typeface="Inter"/>
              </a:rPr>
              <a:t>Recompute Attendance</a:t>
            </a:r>
          </a:p>
        </p:txBody>
      </p:sp>
      <p:sp>
        <p:nvSpPr>
          <p:cNvPr id="35" name="TextBox 35"/>
          <p:cNvSpPr txBox="1"/>
          <p:nvPr/>
        </p:nvSpPr>
        <p:spPr>
          <a:xfrm>
            <a:off x="5873810" y="5262191"/>
            <a:ext cx="1663208" cy="353197"/>
          </a:xfrm>
          <a:prstGeom prst="rect">
            <a:avLst/>
          </a:prstGeom>
        </p:spPr>
        <p:txBody>
          <a:bodyPr lIns="0" tIns="0" rIns="0" bIns="0" rtlCol="0" anchor="t">
            <a:spAutoFit/>
          </a:bodyPr>
          <a:lstStyle/>
          <a:p>
            <a:pPr algn="ctr">
              <a:lnSpc>
                <a:spcPts val="1437"/>
              </a:lnSpc>
            </a:pPr>
            <a:r>
              <a:rPr lang="en-US" sz="1500">
                <a:solidFill>
                  <a:srgbClr val="55575A"/>
                </a:solidFill>
                <a:latin typeface="Arimo"/>
                <a:ea typeface="Arimo"/>
                <a:cs typeface="Arimo"/>
                <a:sym typeface="Arimo"/>
              </a:rPr>
              <a:t>Recalculate and validate records</a:t>
            </a:r>
          </a:p>
        </p:txBody>
      </p:sp>
      <p:grpSp>
        <p:nvGrpSpPr>
          <p:cNvPr id="36" name="Group 36"/>
          <p:cNvGrpSpPr/>
          <p:nvPr/>
        </p:nvGrpSpPr>
        <p:grpSpPr>
          <a:xfrm>
            <a:off x="11021425" y="4795933"/>
            <a:ext cx="7002161" cy="4316273"/>
            <a:chOff x="0" y="0"/>
            <a:chExt cx="9336214" cy="5755030"/>
          </a:xfrm>
        </p:grpSpPr>
        <p:sp>
          <p:nvSpPr>
            <p:cNvPr id="37" name="Freeform 37"/>
            <p:cNvSpPr/>
            <p:nvPr/>
          </p:nvSpPr>
          <p:spPr>
            <a:xfrm>
              <a:off x="0" y="0"/>
              <a:ext cx="9336278" cy="6471793"/>
            </a:xfrm>
            <a:custGeom>
              <a:avLst/>
              <a:gdLst/>
              <a:ahLst/>
              <a:cxnLst/>
              <a:rect l="l" t="t" r="r" b="b"/>
              <a:pathLst>
                <a:path w="9336278" h="6471793">
                  <a:moveTo>
                    <a:pt x="0" y="966216"/>
                  </a:moveTo>
                  <a:cubicBezTo>
                    <a:pt x="0" y="432562"/>
                    <a:pt x="433197" y="0"/>
                    <a:pt x="967613" y="0"/>
                  </a:cubicBezTo>
                  <a:lnTo>
                    <a:pt x="1563116" y="0"/>
                  </a:lnTo>
                  <a:lnTo>
                    <a:pt x="1563116" y="10541"/>
                  </a:lnTo>
                  <a:lnTo>
                    <a:pt x="1563116" y="0"/>
                  </a:lnTo>
                  <a:lnTo>
                    <a:pt x="3891915" y="0"/>
                  </a:lnTo>
                  <a:lnTo>
                    <a:pt x="3891915" y="10541"/>
                  </a:lnTo>
                  <a:lnTo>
                    <a:pt x="3891915" y="0"/>
                  </a:lnTo>
                  <a:lnTo>
                    <a:pt x="8368665" y="0"/>
                  </a:lnTo>
                  <a:lnTo>
                    <a:pt x="8368665" y="10541"/>
                  </a:lnTo>
                  <a:lnTo>
                    <a:pt x="8368665" y="0"/>
                  </a:lnTo>
                  <a:cubicBezTo>
                    <a:pt x="8903081" y="0"/>
                    <a:pt x="9336278" y="432562"/>
                    <a:pt x="9336278" y="966216"/>
                  </a:cubicBezTo>
                  <a:lnTo>
                    <a:pt x="9325737" y="966216"/>
                  </a:lnTo>
                  <a:lnTo>
                    <a:pt x="9336278" y="966216"/>
                  </a:lnTo>
                  <a:lnTo>
                    <a:pt x="9336278" y="3355340"/>
                  </a:lnTo>
                  <a:lnTo>
                    <a:pt x="9325737" y="3355340"/>
                  </a:lnTo>
                  <a:lnTo>
                    <a:pt x="9336278" y="3355340"/>
                  </a:lnTo>
                  <a:lnTo>
                    <a:pt x="9336278" y="4788789"/>
                  </a:lnTo>
                  <a:lnTo>
                    <a:pt x="9325737" y="4788789"/>
                  </a:lnTo>
                  <a:lnTo>
                    <a:pt x="9315197" y="4788789"/>
                  </a:lnTo>
                  <a:lnTo>
                    <a:pt x="9325737" y="4788789"/>
                  </a:lnTo>
                  <a:lnTo>
                    <a:pt x="9336278" y="4788789"/>
                  </a:lnTo>
                  <a:cubicBezTo>
                    <a:pt x="9336278" y="5322443"/>
                    <a:pt x="8903081" y="5755005"/>
                    <a:pt x="8368665" y="5755005"/>
                  </a:cubicBezTo>
                  <a:lnTo>
                    <a:pt x="8368665" y="5744464"/>
                  </a:lnTo>
                  <a:lnTo>
                    <a:pt x="8368665" y="5755005"/>
                  </a:lnTo>
                  <a:lnTo>
                    <a:pt x="3891915" y="5755005"/>
                  </a:lnTo>
                  <a:lnTo>
                    <a:pt x="3891915" y="5744464"/>
                  </a:lnTo>
                  <a:lnTo>
                    <a:pt x="3897503" y="5753481"/>
                  </a:lnTo>
                  <a:lnTo>
                    <a:pt x="2733167" y="6470269"/>
                  </a:lnTo>
                  <a:cubicBezTo>
                    <a:pt x="2729738" y="6472301"/>
                    <a:pt x="2725420" y="6472301"/>
                    <a:pt x="2722118" y="6470269"/>
                  </a:cubicBezTo>
                  <a:lnTo>
                    <a:pt x="1557655" y="5753481"/>
                  </a:lnTo>
                  <a:lnTo>
                    <a:pt x="1563243" y="5744464"/>
                  </a:lnTo>
                  <a:lnTo>
                    <a:pt x="1563243" y="5755005"/>
                  </a:lnTo>
                  <a:lnTo>
                    <a:pt x="967613" y="5755005"/>
                  </a:lnTo>
                  <a:lnTo>
                    <a:pt x="967613" y="5744464"/>
                  </a:lnTo>
                  <a:lnTo>
                    <a:pt x="967613" y="5755005"/>
                  </a:lnTo>
                  <a:cubicBezTo>
                    <a:pt x="433197" y="5755005"/>
                    <a:pt x="0" y="5322443"/>
                    <a:pt x="0" y="4788789"/>
                  </a:cubicBezTo>
                  <a:cubicBezTo>
                    <a:pt x="0" y="4782947"/>
                    <a:pt x="4699" y="4778248"/>
                    <a:pt x="10541" y="4778248"/>
                  </a:cubicBezTo>
                  <a:cubicBezTo>
                    <a:pt x="16383" y="4778248"/>
                    <a:pt x="21082" y="4782947"/>
                    <a:pt x="21082" y="4788789"/>
                  </a:cubicBezTo>
                  <a:lnTo>
                    <a:pt x="10541" y="4788789"/>
                  </a:lnTo>
                  <a:lnTo>
                    <a:pt x="0" y="4788789"/>
                  </a:lnTo>
                  <a:lnTo>
                    <a:pt x="0" y="3355340"/>
                  </a:lnTo>
                  <a:lnTo>
                    <a:pt x="10541" y="3355340"/>
                  </a:lnTo>
                  <a:lnTo>
                    <a:pt x="0" y="3355340"/>
                  </a:lnTo>
                  <a:lnTo>
                    <a:pt x="0" y="966216"/>
                  </a:lnTo>
                  <a:lnTo>
                    <a:pt x="10541" y="966216"/>
                  </a:lnTo>
                  <a:lnTo>
                    <a:pt x="0" y="966216"/>
                  </a:lnTo>
                  <a:moveTo>
                    <a:pt x="21209" y="966216"/>
                  </a:moveTo>
                  <a:lnTo>
                    <a:pt x="21209" y="3355340"/>
                  </a:lnTo>
                  <a:lnTo>
                    <a:pt x="21209" y="4788789"/>
                  </a:lnTo>
                  <a:cubicBezTo>
                    <a:pt x="21209" y="4794631"/>
                    <a:pt x="16510" y="4799330"/>
                    <a:pt x="10668" y="4799330"/>
                  </a:cubicBezTo>
                  <a:cubicBezTo>
                    <a:pt x="4826" y="4799330"/>
                    <a:pt x="127" y="4794631"/>
                    <a:pt x="127" y="4788789"/>
                  </a:cubicBezTo>
                  <a:lnTo>
                    <a:pt x="10541" y="4788789"/>
                  </a:lnTo>
                  <a:lnTo>
                    <a:pt x="21082" y="4788789"/>
                  </a:lnTo>
                  <a:cubicBezTo>
                    <a:pt x="21082" y="5310759"/>
                    <a:pt x="444754" y="5733923"/>
                    <a:pt x="967486" y="5733923"/>
                  </a:cubicBezTo>
                  <a:lnTo>
                    <a:pt x="1562989" y="5733923"/>
                  </a:lnTo>
                  <a:cubicBezTo>
                    <a:pt x="1564894" y="5733923"/>
                    <a:pt x="1566926" y="5734431"/>
                    <a:pt x="1568577" y="5735447"/>
                  </a:cubicBezTo>
                  <a:lnTo>
                    <a:pt x="2733040" y="6452235"/>
                  </a:lnTo>
                  <a:lnTo>
                    <a:pt x="2727452" y="6461252"/>
                  </a:lnTo>
                  <a:lnTo>
                    <a:pt x="2721864" y="6452235"/>
                  </a:lnTo>
                  <a:lnTo>
                    <a:pt x="3886200" y="5735447"/>
                  </a:lnTo>
                  <a:cubicBezTo>
                    <a:pt x="3887851" y="5734431"/>
                    <a:pt x="3889756" y="5733923"/>
                    <a:pt x="3891788" y="5733923"/>
                  </a:cubicBezTo>
                  <a:lnTo>
                    <a:pt x="8368538" y="5733923"/>
                  </a:lnTo>
                  <a:cubicBezTo>
                    <a:pt x="8891270" y="5733923"/>
                    <a:pt x="9314942" y="5310759"/>
                    <a:pt x="9314942" y="4788789"/>
                  </a:cubicBezTo>
                  <a:cubicBezTo>
                    <a:pt x="9314942" y="4782947"/>
                    <a:pt x="9319641" y="4778248"/>
                    <a:pt x="9325483" y="4778248"/>
                  </a:cubicBezTo>
                  <a:cubicBezTo>
                    <a:pt x="9331325" y="4778248"/>
                    <a:pt x="9336024" y="4782947"/>
                    <a:pt x="9336024" y="4788789"/>
                  </a:cubicBezTo>
                  <a:cubicBezTo>
                    <a:pt x="9336024" y="4794631"/>
                    <a:pt x="9331325" y="4799330"/>
                    <a:pt x="9325483" y="4799330"/>
                  </a:cubicBezTo>
                  <a:cubicBezTo>
                    <a:pt x="9319641" y="4799330"/>
                    <a:pt x="9314942" y="4794631"/>
                    <a:pt x="9314942" y="4788789"/>
                  </a:cubicBezTo>
                  <a:lnTo>
                    <a:pt x="9314942" y="3355340"/>
                  </a:lnTo>
                  <a:lnTo>
                    <a:pt x="9314942" y="966216"/>
                  </a:lnTo>
                  <a:cubicBezTo>
                    <a:pt x="9314942" y="444246"/>
                    <a:pt x="8891270" y="21082"/>
                    <a:pt x="8368538" y="21082"/>
                  </a:cubicBezTo>
                  <a:lnTo>
                    <a:pt x="3891915" y="21082"/>
                  </a:lnTo>
                  <a:lnTo>
                    <a:pt x="1563116" y="21082"/>
                  </a:lnTo>
                  <a:lnTo>
                    <a:pt x="967613" y="21082"/>
                  </a:lnTo>
                  <a:lnTo>
                    <a:pt x="967613" y="10541"/>
                  </a:lnTo>
                  <a:lnTo>
                    <a:pt x="967613" y="21082"/>
                  </a:lnTo>
                  <a:cubicBezTo>
                    <a:pt x="444881" y="21209"/>
                    <a:pt x="21209" y="444246"/>
                    <a:pt x="21209" y="966216"/>
                  </a:cubicBezTo>
                  <a:close/>
                </a:path>
              </a:pathLst>
            </a:custGeom>
            <a:solidFill>
              <a:srgbClr val="172C51"/>
            </a:solid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381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890435" y="635641"/>
            <a:ext cx="2302888" cy="372066"/>
            <a:chOff x="0" y="0"/>
            <a:chExt cx="3070517" cy="496087"/>
          </a:xfrm>
        </p:grpSpPr>
        <p:sp>
          <p:nvSpPr>
            <p:cNvPr id="7" name="Freeform 7"/>
            <p:cNvSpPr/>
            <p:nvPr/>
          </p:nvSpPr>
          <p:spPr>
            <a:xfrm>
              <a:off x="-1524" y="-1651"/>
              <a:ext cx="3073654" cy="499364"/>
            </a:xfrm>
            <a:custGeom>
              <a:avLst/>
              <a:gdLst/>
              <a:ahLst/>
              <a:cxnLst/>
              <a:rect l="l" t="t" r="r" b="b"/>
              <a:pathLst>
                <a:path w="3073654" h="499364">
                  <a:moveTo>
                    <a:pt x="0" y="202565"/>
                  </a:moveTo>
                  <a:cubicBezTo>
                    <a:pt x="0" y="90678"/>
                    <a:pt x="90551" y="127"/>
                    <a:pt x="202438" y="0"/>
                  </a:cubicBezTo>
                  <a:lnTo>
                    <a:pt x="2871216" y="0"/>
                  </a:lnTo>
                  <a:lnTo>
                    <a:pt x="2871216" y="1651"/>
                  </a:lnTo>
                  <a:lnTo>
                    <a:pt x="2871216" y="127"/>
                  </a:lnTo>
                  <a:cubicBezTo>
                    <a:pt x="2982976" y="127"/>
                    <a:pt x="3073654" y="90805"/>
                    <a:pt x="3073654" y="202565"/>
                  </a:cubicBezTo>
                  <a:lnTo>
                    <a:pt x="3072130" y="202565"/>
                  </a:lnTo>
                  <a:lnTo>
                    <a:pt x="3073654" y="202565"/>
                  </a:lnTo>
                  <a:lnTo>
                    <a:pt x="3073654" y="296926"/>
                  </a:lnTo>
                  <a:lnTo>
                    <a:pt x="3072130" y="296926"/>
                  </a:lnTo>
                  <a:lnTo>
                    <a:pt x="3073654" y="296926"/>
                  </a:lnTo>
                  <a:cubicBezTo>
                    <a:pt x="3073654" y="408686"/>
                    <a:pt x="2982976" y="499364"/>
                    <a:pt x="2871216" y="499364"/>
                  </a:cubicBezTo>
                  <a:lnTo>
                    <a:pt x="2871216" y="497840"/>
                  </a:lnTo>
                  <a:lnTo>
                    <a:pt x="2871216" y="499364"/>
                  </a:lnTo>
                  <a:lnTo>
                    <a:pt x="202438" y="499364"/>
                  </a:lnTo>
                  <a:lnTo>
                    <a:pt x="202438" y="497840"/>
                  </a:lnTo>
                  <a:lnTo>
                    <a:pt x="202438" y="499364"/>
                  </a:lnTo>
                  <a:cubicBezTo>
                    <a:pt x="90678" y="499364"/>
                    <a:pt x="0" y="408686"/>
                    <a:pt x="0" y="296926"/>
                  </a:cubicBezTo>
                  <a:lnTo>
                    <a:pt x="0" y="202565"/>
                  </a:lnTo>
                  <a:lnTo>
                    <a:pt x="1524" y="202565"/>
                  </a:lnTo>
                  <a:lnTo>
                    <a:pt x="0" y="202565"/>
                  </a:lnTo>
                  <a:moveTo>
                    <a:pt x="3175" y="202565"/>
                  </a:moveTo>
                  <a:lnTo>
                    <a:pt x="3175" y="296926"/>
                  </a:lnTo>
                  <a:lnTo>
                    <a:pt x="1524" y="296926"/>
                  </a:lnTo>
                  <a:lnTo>
                    <a:pt x="3048" y="296926"/>
                  </a:lnTo>
                  <a:cubicBezTo>
                    <a:pt x="3048" y="407035"/>
                    <a:pt x="92329" y="496189"/>
                    <a:pt x="202311" y="496189"/>
                  </a:cubicBezTo>
                  <a:lnTo>
                    <a:pt x="2871216" y="496189"/>
                  </a:lnTo>
                  <a:cubicBezTo>
                    <a:pt x="2981325" y="496189"/>
                    <a:pt x="3070479" y="406908"/>
                    <a:pt x="3070479" y="296926"/>
                  </a:cubicBezTo>
                  <a:lnTo>
                    <a:pt x="3070479" y="202565"/>
                  </a:lnTo>
                  <a:cubicBezTo>
                    <a:pt x="3070479" y="92456"/>
                    <a:pt x="2981198" y="3302"/>
                    <a:pt x="2871216" y="3302"/>
                  </a:cubicBezTo>
                  <a:lnTo>
                    <a:pt x="202438" y="3302"/>
                  </a:lnTo>
                  <a:lnTo>
                    <a:pt x="202438" y="1651"/>
                  </a:lnTo>
                  <a:lnTo>
                    <a:pt x="202438" y="3175"/>
                  </a:lnTo>
                  <a:cubicBezTo>
                    <a:pt x="92329" y="3175"/>
                    <a:pt x="3048" y="92456"/>
                    <a:pt x="3048" y="202565"/>
                  </a:cubicBezTo>
                  <a:close/>
                </a:path>
              </a:pathLst>
            </a:custGeom>
            <a:solidFill>
              <a:srgbClr val="ED7D31"/>
            </a:solidFill>
          </p:spPr>
        </p:sp>
      </p:grpSp>
      <p:sp>
        <p:nvSpPr>
          <p:cNvPr id="8" name="TextBox 8"/>
          <p:cNvSpPr txBox="1"/>
          <p:nvPr/>
        </p:nvSpPr>
        <p:spPr>
          <a:xfrm>
            <a:off x="1015897" y="723900"/>
            <a:ext cx="2178635" cy="226600"/>
          </a:xfrm>
          <a:prstGeom prst="rect">
            <a:avLst/>
          </a:prstGeom>
        </p:spPr>
        <p:txBody>
          <a:bodyPr wrap="square" lIns="0" tIns="0" rIns="0" bIns="0" rtlCol="0" anchor="t">
            <a:spAutoFit/>
          </a:bodyPr>
          <a:lstStyle/>
          <a:p>
            <a:pPr algn="l">
              <a:lnSpc>
                <a:spcPts val="1937"/>
              </a:lnSpc>
            </a:pPr>
            <a:r>
              <a:rPr lang="en-US" sz="1312" b="1" spc="5" dirty="0">
                <a:solidFill>
                  <a:srgbClr val="C55A11"/>
                </a:solidFill>
                <a:latin typeface="Merriweather Sans Bold"/>
                <a:ea typeface="Merriweather Sans Bold"/>
                <a:cs typeface="Merriweather Sans Bold"/>
                <a:sym typeface="Merriweather Sans Bold"/>
              </a:rPr>
              <a:t>COMMUNICATION LAYER</a:t>
            </a:r>
          </a:p>
        </p:txBody>
      </p:sp>
      <p:sp>
        <p:nvSpPr>
          <p:cNvPr id="9" name="TextBox 9"/>
          <p:cNvSpPr txBox="1"/>
          <p:nvPr/>
        </p:nvSpPr>
        <p:spPr>
          <a:xfrm>
            <a:off x="890435" y="1049684"/>
            <a:ext cx="16506977" cy="1336777"/>
          </a:xfrm>
          <a:prstGeom prst="rect">
            <a:avLst/>
          </a:prstGeom>
        </p:spPr>
        <p:txBody>
          <a:bodyPr lIns="0" tIns="0" rIns="0" bIns="0" rtlCol="0" anchor="t">
            <a:spAutoFit/>
          </a:bodyPr>
          <a:lstStyle/>
          <a:p>
            <a:pPr algn="l">
              <a:lnSpc>
                <a:spcPts val="5125"/>
              </a:lnSpc>
            </a:pPr>
            <a:r>
              <a:rPr lang="en-US" sz="4062" dirty="0">
                <a:solidFill>
                  <a:srgbClr val="0C0D0F"/>
                </a:solidFill>
                <a:latin typeface="Inter"/>
                <a:ea typeface="Inter"/>
                <a:cs typeface="Inter"/>
                <a:sym typeface="Inter"/>
              </a:rPr>
              <a:t>WhatsApp Automation: Bridging Backend Intelligence and Institutional Communication</a:t>
            </a:r>
          </a:p>
        </p:txBody>
      </p:sp>
      <p:sp>
        <p:nvSpPr>
          <p:cNvPr id="10" name="TextBox 10"/>
          <p:cNvSpPr txBox="1"/>
          <p:nvPr/>
        </p:nvSpPr>
        <p:spPr>
          <a:xfrm>
            <a:off x="890435" y="2603744"/>
            <a:ext cx="16506977" cy="974084"/>
          </a:xfrm>
          <a:prstGeom prst="rect">
            <a:avLst/>
          </a:prstGeom>
        </p:spPr>
        <p:txBody>
          <a:bodyPr lIns="0" tIns="0" rIns="0" bIns="0" rtlCol="0" anchor="t">
            <a:spAutoFit/>
          </a:bodyPr>
          <a:lstStyle/>
          <a:p>
            <a:pPr algn="just">
              <a:lnSpc>
                <a:spcPts val="2375"/>
              </a:lnSpc>
            </a:pPr>
            <a:r>
              <a:rPr lang="en-US" sz="1750">
                <a:solidFill>
                  <a:srgbClr val="000000"/>
                </a:solidFill>
                <a:latin typeface="Arimo"/>
                <a:ea typeface="Arimo"/>
                <a:cs typeface="Arimo"/>
                <a:sym typeface="Arimo"/>
              </a:rPr>
              <a:t>BIOSYNC's WhatsApp automation engine transforms attendance intelligence into real-time institutional communication. Rather than requiring staff to manually copy, format, and send reports, BIOSYNC automatically generates structured messages, selects the appropriate recipient group or contact, and delivers attendance outputs through WhatsApp — the communication channel most widely used across educational institutions.</a:t>
            </a:r>
          </a:p>
        </p:txBody>
      </p:sp>
      <p:grpSp>
        <p:nvGrpSpPr>
          <p:cNvPr id="11" name="Group 11"/>
          <p:cNvGrpSpPr/>
          <p:nvPr/>
        </p:nvGrpSpPr>
        <p:grpSpPr>
          <a:xfrm>
            <a:off x="2725636" y="3776510"/>
            <a:ext cx="12836576" cy="5874839"/>
            <a:chOff x="0" y="0"/>
            <a:chExt cx="17115434" cy="7833119"/>
          </a:xfrm>
        </p:grpSpPr>
        <p:sp>
          <p:nvSpPr>
            <p:cNvPr id="12" name="Freeform 12" descr="preencoded.png"/>
            <p:cNvSpPr/>
            <p:nvPr/>
          </p:nvSpPr>
          <p:spPr>
            <a:xfrm>
              <a:off x="0" y="0"/>
              <a:ext cx="17115410" cy="7833106"/>
            </a:xfrm>
            <a:custGeom>
              <a:avLst/>
              <a:gdLst/>
              <a:ahLst/>
              <a:cxnLst/>
              <a:rect l="l" t="t" r="r" b="b"/>
              <a:pathLst>
                <a:path w="17115410" h="7833106">
                  <a:moveTo>
                    <a:pt x="0" y="0"/>
                  </a:moveTo>
                  <a:lnTo>
                    <a:pt x="17115410" y="0"/>
                  </a:lnTo>
                  <a:lnTo>
                    <a:pt x="17115410" y="7833106"/>
                  </a:lnTo>
                  <a:lnTo>
                    <a:pt x="0" y="7833106"/>
                  </a:lnTo>
                  <a:lnTo>
                    <a:pt x="0" y="0"/>
                  </a:lnTo>
                  <a:close/>
                </a:path>
              </a:pathLst>
            </a:custGeom>
            <a:blipFill>
              <a:blip r:embed="rId3"/>
              <a:stretch>
                <a:fillRect t="-5" b="-5"/>
              </a:stretch>
            </a:blipFill>
          </p:spPr>
        </p:sp>
      </p:grpSp>
      <p:sp>
        <p:nvSpPr>
          <p:cNvPr id="13" name="TextBox 13"/>
          <p:cNvSpPr txBox="1"/>
          <p:nvPr/>
        </p:nvSpPr>
        <p:spPr>
          <a:xfrm>
            <a:off x="12554645" y="7995571"/>
            <a:ext cx="2409958" cy="957072"/>
          </a:xfrm>
          <a:prstGeom prst="rect">
            <a:avLst/>
          </a:prstGeom>
        </p:spPr>
        <p:txBody>
          <a:bodyPr lIns="0" tIns="0" rIns="0" bIns="0" rtlCol="0" anchor="t">
            <a:spAutoFit/>
          </a:bodyPr>
          <a:lstStyle/>
          <a:p>
            <a:pPr algn="ctr">
              <a:lnSpc>
                <a:spcPts val="3625"/>
              </a:lnSpc>
            </a:pPr>
            <a:r>
              <a:rPr lang="en-US" sz="2874">
                <a:solidFill>
                  <a:srgbClr val="55575A"/>
                </a:solidFill>
                <a:latin typeface="Inter"/>
                <a:ea typeface="Inter"/>
                <a:cs typeface="Inter"/>
                <a:sym typeface="Inter"/>
              </a:rPr>
              <a:t>Delivered via WhatsApp</a:t>
            </a:r>
          </a:p>
        </p:txBody>
      </p:sp>
      <p:sp>
        <p:nvSpPr>
          <p:cNvPr id="14" name="TextBox 14"/>
          <p:cNvSpPr txBox="1"/>
          <p:nvPr/>
        </p:nvSpPr>
        <p:spPr>
          <a:xfrm>
            <a:off x="9517437" y="7995571"/>
            <a:ext cx="2409958" cy="957072"/>
          </a:xfrm>
          <a:prstGeom prst="rect">
            <a:avLst/>
          </a:prstGeom>
        </p:spPr>
        <p:txBody>
          <a:bodyPr lIns="0" tIns="0" rIns="0" bIns="0" rtlCol="0" anchor="t">
            <a:spAutoFit/>
          </a:bodyPr>
          <a:lstStyle/>
          <a:p>
            <a:pPr algn="ctr">
              <a:lnSpc>
                <a:spcPts val="3625"/>
              </a:lnSpc>
            </a:pPr>
            <a:r>
              <a:rPr lang="en-US" sz="2874">
                <a:solidFill>
                  <a:srgbClr val="55575A"/>
                </a:solidFill>
                <a:latin typeface="Inter"/>
                <a:ea typeface="Inter"/>
                <a:cs typeface="Inter"/>
                <a:sym typeface="Inter"/>
              </a:rPr>
              <a:t>Message Optimized</a:t>
            </a:r>
          </a:p>
        </p:txBody>
      </p:sp>
      <p:sp>
        <p:nvSpPr>
          <p:cNvPr id="15" name="TextBox 15"/>
          <p:cNvSpPr txBox="1"/>
          <p:nvPr/>
        </p:nvSpPr>
        <p:spPr>
          <a:xfrm>
            <a:off x="6496736" y="7995571"/>
            <a:ext cx="2409958" cy="957072"/>
          </a:xfrm>
          <a:prstGeom prst="rect">
            <a:avLst/>
          </a:prstGeom>
        </p:spPr>
        <p:txBody>
          <a:bodyPr lIns="0" tIns="0" rIns="0" bIns="0" rtlCol="0" anchor="t">
            <a:spAutoFit/>
          </a:bodyPr>
          <a:lstStyle/>
          <a:p>
            <a:pPr algn="ctr">
              <a:lnSpc>
                <a:spcPts val="3625"/>
              </a:lnSpc>
            </a:pPr>
            <a:r>
              <a:rPr lang="en-US" sz="2874">
                <a:solidFill>
                  <a:srgbClr val="55575A"/>
                </a:solidFill>
                <a:latin typeface="Inter"/>
                <a:ea typeface="Inter"/>
                <a:cs typeface="Inter"/>
                <a:sym typeface="Inter"/>
              </a:rPr>
              <a:t>Target Selected</a:t>
            </a:r>
          </a:p>
        </p:txBody>
      </p:sp>
      <p:sp>
        <p:nvSpPr>
          <p:cNvPr id="16" name="TextBox 16"/>
          <p:cNvSpPr txBox="1"/>
          <p:nvPr/>
        </p:nvSpPr>
        <p:spPr>
          <a:xfrm>
            <a:off x="3410017" y="7995571"/>
            <a:ext cx="2409958" cy="957072"/>
          </a:xfrm>
          <a:prstGeom prst="rect">
            <a:avLst/>
          </a:prstGeom>
        </p:spPr>
        <p:txBody>
          <a:bodyPr lIns="0" tIns="0" rIns="0" bIns="0" rtlCol="0" anchor="t">
            <a:spAutoFit/>
          </a:bodyPr>
          <a:lstStyle/>
          <a:p>
            <a:pPr algn="ctr">
              <a:lnSpc>
                <a:spcPts val="3625"/>
              </a:lnSpc>
            </a:pPr>
            <a:r>
              <a:rPr lang="en-US" sz="2874">
                <a:solidFill>
                  <a:srgbClr val="55575A"/>
                </a:solidFill>
                <a:latin typeface="Inter"/>
                <a:ea typeface="Inter"/>
                <a:cs typeface="Inter"/>
                <a:sym typeface="Inter"/>
              </a:rPr>
              <a:t>Report Generated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38100"/>
            <a:ext cx="18288000" cy="10287000"/>
            <a:chOff x="0" y="406400"/>
            <a:chExt cx="24384000" cy="13716000"/>
          </a:xfrm>
        </p:grpSpPr>
        <p:sp>
          <p:nvSpPr>
            <p:cNvPr id="5" name="Freeform 5"/>
            <p:cNvSpPr/>
            <p:nvPr/>
          </p:nvSpPr>
          <p:spPr>
            <a:xfrm>
              <a:off x="0" y="4064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grpSp>
        <p:nvGrpSpPr>
          <p:cNvPr id="6" name="Group 6"/>
          <p:cNvGrpSpPr/>
          <p:nvPr/>
        </p:nvGrpSpPr>
        <p:grpSpPr>
          <a:xfrm>
            <a:off x="465792" y="596198"/>
            <a:ext cx="2178472" cy="433730"/>
            <a:chOff x="0" y="0"/>
            <a:chExt cx="2904630" cy="578307"/>
          </a:xfrm>
        </p:grpSpPr>
        <p:sp>
          <p:nvSpPr>
            <p:cNvPr id="7" name="Freeform 7"/>
            <p:cNvSpPr/>
            <p:nvPr/>
          </p:nvSpPr>
          <p:spPr>
            <a:xfrm>
              <a:off x="0" y="0"/>
              <a:ext cx="2904617" cy="578358"/>
            </a:xfrm>
            <a:custGeom>
              <a:avLst/>
              <a:gdLst/>
              <a:ahLst/>
              <a:cxnLst/>
              <a:rect l="l" t="t" r="r" b="b"/>
              <a:pathLst>
                <a:path w="2904617" h="578358">
                  <a:moveTo>
                    <a:pt x="0" y="244094"/>
                  </a:moveTo>
                  <a:cubicBezTo>
                    <a:pt x="0" y="109220"/>
                    <a:pt x="111252" y="0"/>
                    <a:pt x="248285" y="0"/>
                  </a:cubicBezTo>
                  <a:lnTo>
                    <a:pt x="2656332" y="0"/>
                  </a:lnTo>
                  <a:lnTo>
                    <a:pt x="2656332" y="6350"/>
                  </a:lnTo>
                  <a:lnTo>
                    <a:pt x="2656332" y="0"/>
                  </a:lnTo>
                  <a:cubicBezTo>
                    <a:pt x="2793365" y="0"/>
                    <a:pt x="2904617" y="109220"/>
                    <a:pt x="2904617" y="244094"/>
                  </a:cubicBezTo>
                  <a:lnTo>
                    <a:pt x="2898267" y="244094"/>
                  </a:lnTo>
                  <a:lnTo>
                    <a:pt x="2904617" y="244094"/>
                  </a:lnTo>
                  <a:lnTo>
                    <a:pt x="2904617" y="334264"/>
                  </a:lnTo>
                  <a:lnTo>
                    <a:pt x="2898267" y="334264"/>
                  </a:lnTo>
                  <a:lnTo>
                    <a:pt x="2904617" y="334264"/>
                  </a:lnTo>
                  <a:cubicBezTo>
                    <a:pt x="2904617" y="469138"/>
                    <a:pt x="2793365" y="578358"/>
                    <a:pt x="2656332" y="578358"/>
                  </a:cubicBezTo>
                  <a:lnTo>
                    <a:pt x="2656332" y="572008"/>
                  </a:lnTo>
                  <a:lnTo>
                    <a:pt x="2656332" y="578358"/>
                  </a:lnTo>
                  <a:lnTo>
                    <a:pt x="248285" y="578358"/>
                  </a:lnTo>
                  <a:lnTo>
                    <a:pt x="248285" y="572008"/>
                  </a:lnTo>
                  <a:lnTo>
                    <a:pt x="248285" y="578358"/>
                  </a:lnTo>
                  <a:cubicBezTo>
                    <a:pt x="111252" y="578358"/>
                    <a:pt x="0" y="469138"/>
                    <a:pt x="0" y="334264"/>
                  </a:cubicBezTo>
                  <a:lnTo>
                    <a:pt x="0" y="244094"/>
                  </a:lnTo>
                  <a:lnTo>
                    <a:pt x="6350" y="244094"/>
                  </a:lnTo>
                  <a:lnTo>
                    <a:pt x="0" y="244094"/>
                  </a:lnTo>
                  <a:moveTo>
                    <a:pt x="12700" y="244094"/>
                  </a:moveTo>
                  <a:lnTo>
                    <a:pt x="12700" y="334264"/>
                  </a:lnTo>
                  <a:lnTo>
                    <a:pt x="6350" y="334264"/>
                  </a:lnTo>
                  <a:lnTo>
                    <a:pt x="12700" y="334264"/>
                  </a:lnTo>
                  <a:cubicBezTo>
                    <a:pt x="12700" y="461899"/>
                    <a:pt x="118110" y="565658"/>
                    <a:pt x="248285" y="565658"/>
                  </a:cubicBezTo>
                  <a:lnTo>
                    <a:pt x="2656332" y="565658"/>
                  </a:lnTo>
                  <a:cubicBezTo>
                    <a:pt x="2786507" y="565658"/>
                    <a:pt x="2891917" y="462026"/>
                    <a:pt x="2891917" y="334264"/>
                  </a:cubicBezTo>
                  <a:lnTo>
                    <a:pt x="2891917" y="244094"/>
                  </a:lnTo>
                  <a:cubicBezTo>
                    <a:pt x="2891917" y="116332"/>
                    <a:pt x="2786507" y="12700"/>
                    <a:pt x="2656332" y="12700"/>
                  </a:cubicBezTo>
                  <a:lnTo>
                    <a:pt x="248285" y="12700"/>
                  </a:lnTo>
                  <a:lnTo>
                    <a:pt x="248285" y="6350"/>
                  </a:lnTo>
                  <a:lnTo>
                    <a:pt x="248285" y="12700"/>
                  </a:lnTo>
                  <a:cubicBezTo>
                    <a:pt x="118110" y="12700"/>
                    <a:pt x="12700" y="116332"/>
                    <a:pt x="12700" y="244094"/>
                  </a:cubicBezTo>
                  <a:close/>
                </a:path>
              </a:pathLst>
            </a:custGeom>
            <a:solidFill>
              <a:srgbClr val="FF7047"/>
            </a:solidFill>
          </p:spPr>
        </p:sp>
      </p:grpSp>
      <p:sp>
        <p:nvSpPr>
          <p:cNvPr id="8" name="TextBox 8"/>
          <p:cNvSpPr txBox="1"/>
          <p:nvPr/>
        </p:nvSpPr>
        <p:spPr>
          <a:xfrm>
            <a:off x="609600" y="800100"/>
            <a:ext cx="1995497" cy="124137"/>
          </a:xfrm>
          <a:prstGeom prst="rect">
            <a:avLst/>
          </a:prstGeom>
        </p:spPr>
        <p:txBody>
          <a:bodyPr wrap="square" lIns="0" tIns="0" rIns="0" bIns="0" rtlCol="0" anchor="t">
            <a:spAutoFit/>
          </a:bodyPr>
          <a:lstStyle/>
          <a:p>
            <a:pPr algn="l">
              <a:lnSpc>
                <a:spcPts val="937"/>
              </a:lnSpc>
            </a:pPr>
            <a:r>
              <a:rPr lang="en-US" sz="1124" b="1" spc="4" dirty="0">
                <a:solidFill>
                  <a:srgbClr val="FF7047"/>
                </a:solidFill>
                <a:latin typeface="Merriweather Sans Bold"/>
                <a:ea typeface="Merriweather Sans Bold"/>
                <a:cs typeface="Merriweather Sans Bold"/>
                <a:sym typeface="Merriweather Sans Bold"/>
              </a:rPr>
              <a:t>OPERATIONAL RELIABILITY</a:t>
            </a:r>
          </a:p>
        </p:txBody>
      </p:sp>
      <p:sp>
        <p:nvSpPr>
          <p:cNvPr id="9" name="TextBox 9"/>
          <p:cNvSpPr txBox="1"/>
          <p:nvPr/>
        </p:nvSpPr>
        <p:spPr>
          <a:xfrm>
            <a:off x="447465" y="1279855"/>
            <a:ext cx="9459963" cy="397221"/>
          </a:xfrm>
          <a:prstGeom prst="rect">
            <a:avLst/>
          </a:prstGeom>
        </p:spPr>
        <p:txBody>
          <a:bodyPr lIns="0" tIns="0" rIns="0" bIns="0" rtlCol="0" anchor="t">
            <a:spAutoFit/>
          </a:bodyPr>
          <a:lstStyle/>
          <a:p>
            <a:pPr algn="l">
              <a:lnSpc>
                <a:spcPts val="2999"/>
              </a:lnSpc>
            </a:pPr>
            <a:r>
              <a:rPr lang="en-US" sz="2437">
                <a:solidFill>
                  <a:srgbClr val="0C0D0F"/>
                </a:solidFill>
                <a:latin typeface="Inter"/>
                <a:ea typeface="Inter"/>
                <a:cs typeface="Inter"/>
                <a:sym typeface="Inter"/>
              </a:rPr>
              <a:t>Built for Unattended Operation: Resilience, Backup &amp; Cloud Sync</a:t>
            </a:r>
          </a:p>
        </p:txBody>
      </p:sp>
      <p:sp>
        <p:nvSpPr>
          <p:cNvPr id="10" name="TextBox 10"/>
          <p:cNvSpPr txBox="1"/>
          <p:nvPr/>
        </p:nvSpPr>
        <p:spPr>
          <a:xfrm>
            <a:off x="460229" y="1892894"/>
            <a:ext cx="8683771" cy="1430160"/>
          </a:xfrm>
          <a:prstGeom prst="rect">
            <a:avLst/>
          </a:prstGeom>
        </p:spPr>
        <p:txBody>
          <a:bodyPr lIns="0" tIns="0" rIns="0" bIns="0" rtlCol="0" anchor="t">
            <a:spAutoFit/>
          </a:bodyPr>
          <a:lstStyle/>
          <a:p>
            <a:pPr algn="just">
              <a:lnSpc>
                <a:spcPts val="2100"/>
              </a:lnSpc>
            </a:pPr>
            <a:r>
              <a:rPr lang="en-US" sz="1750">
                <a:solidFill>
                  <a:srgbClr val="000000"/>
                </a:solidFill>
                <a:latin typeface="Arimo"/>
                <a:ea typeface="Arimo"/>
                <a:cs typeface="Arimo"/>
                <a:sym typeface="Arimo"/>
              </a:rPr>
              <a:t>BIOSYNC is engineered not only to automate attendance workflows, but to operate reliably over extended periods without manual supervision. Educational institutions cannot depend on a system that requires constant monitoring  BIOSYNC is built with a comprehensive resilience layer that handles network interruptions, unexpected crashes, session conflicts, and downtime recovery automatically.</a:t>
            </a:r>
          </a:p>
        </p:txBody>
      </p:sp>
      <p:grpSp>
        <p:nvGrpSpPr>
          <p:cNvPr id="11" name="Group 11"/>
          <p:cNvGrpSpPr/>
          <p:nvPr/>
        </p:nvGrpSpPr>
        <p:grpSpPr>
          <a:xfrm>
            <a:off x="125549" y="3608070"/>
            <a:ext cx="9781880" cy="5866409"/>
            <a:chOff x="0" y="0"/>
            <a:chExt cx="13042506" cy="7821879"/>
          </a:xfrm>
        </p:grpSpPr>
        <p:sp>
          <p:nvSpPr>
            <p:cNvPr id="12" name="Freeform 12" descr="preencoded.png"/>
            <p:cNvSpPr/>
            <p:nvPr/>
          </p:nvSpPr>
          <p:spPr>
            <a:xfrm>
              <a:off x="0" y="0"/>
              <a:ext cx="13042519" cy="7821930"/>
            </a:xfrm>
            <a:custGeom>
              <a:avLst/>
              <a:gdLst/>
              <a:ahLst/>
              <a:cxnLst/>
              <a:rect l="l" t="t" r="r" b="b"/>
              <a:pathLst>
                <a:path w="13042519" h="7821930">
                  <a:moveTo>
                    <a:pt x="0" y="0"/>
                  </a:moveTo>
                  <a:lnTo>
                    <a:pt x="13042519" y="0"/>
                  </a:lnTo>
                  <a:lnTo>
                    <a:pt x="13042519" y="7821930"/>
                  </a:lnTo>
                  <a:lnTo>
                    <a:pt x="0" y="7821930"/>
                  </a:lnTo>
                  <a:lnTo>
                    <a:pt x="0" y="0"/>
                  </a:lnTo>
                  <a:close/>
                </a:path>
              </a:pathLst>
            </a:custGeom>
            <a:blipFill>
              <a:blip r:embed="rId3"/>
              <a:stretch>
                <a:fillRect l="-3744" r="-3744"/>
              </a:stretch>
            </a:blipFill>
          </p:spPr>
        </p:sp>
      </p:grpSp>
      <p:sp>
        <p:nvSpPr>
          <p:cNvPr id="13" name="TextBox 13"/>
          <p:cNvSpPr txBox="1"/>
          <p:nvPr/>
        </p:nvSpPr>
        <p:spPr>
          <a:xfrm>
            <a:off x="11811000" y="747244"/>
            <a:ext cx="2389689" cy="307777"/>
          </a:xfrm>
          <a:prstGeom prst="rect">
            <a:avLst/>
          </a:prstGeom>
        </p:spPr>
        <p:txBody>
          <a:bodyPr wrap="square" lIns="0" tIns="0" rIns="0" bIns="0" rtlCol="0" anchor="t">
            <a:spAutoFit/>
          </a:bodyPr>
          <a:lstStyle/>
          <a:p>
            <a:pPr algn="l">
              <a:lnSpc>
                <a:spcPts val="2400"/>
              </a:lnSpc>
            </a:pPr>
            <a:r>
              <a:rPr lang="en-US" sz="2000" dirty="0">
                <a:solidFill>
                  <a:srgbClr val="0C0D0F"/>
                </a:solidFill>
                <a:latin typeface="Inter"/>
                <a:ea typeface="Inter"/>
                <a:cs typeface="Inter"/>
                <a:sym typeface="Inter"/>
              </a:rPr>
              <a:t>Resilience Features</a:t>
            </a:r>
          </a:p>
        </p:txBody>
      </p:sp>
      <p:sp>
        <p:nvSpPr>
          <p:cNvPr id="14" name="TextBox 14"/>
          <p:cNvSpPr txBox="1"/>
          <p:nvPr/>
        </p:nvSpPr>
        <p:spPr>
          <a:xfrm>
            <a:off x="11623510" y="1102766"/>
            <a:ext cx="5309616" cy="1613745"/>
          </a:xfrm>
          <a:prstGeom prst="rect">
            <a:avLst/>
          </a:prstGeom>
        </p:spPr>
        <p:txBody>
          <a:bodyPr lIns="0" tIns="0" rIns="0" bIns="0" rtlCol="0" anchor="t">
            <a:spAutoFit/>
          </a:bodyPr>
          <a:lstStyle/>
          <a:p>
            <a:pPr marL="226219" lvl="1" indent="-113109" algn="just">
              <a:lnSpc>
                <a:spcPts val="1800"/>
              </a:lnSpc>
              <a:buFont typeface="Arial"/>
              <a:buChar char="•"/>
            </a:pPr>
            <a:r>
              <a:rPr lang="en-US" sz="1500" b="1" dirty="0">
                <a:solidFill>
                  <a:srgbClr val="000000"/>
                </a:solidFill>
                <a:latin typeface="Arimo Bold"/>
                <a:ea typeface="Arimo Bold"/>
                <a:cs typeface="Arimo Bold"/>
                <a:sym typeface="Arimo Bold"/>
              </a:rPr>
              <a:t>Watchdog Monitoring:</a:t>
            </a:r>
            <a:r>
              <a:rPr lang="en-US" sz="1500" dirty="0">
                <a:solidFill>
                  <a:srgbClr val="000000"/>
                </a:solidFill>
                <a:latin typeface="Arimo"/>
                <a:ea typeface="Arimo"/>
                <a:cs typeface="Arimo"/>
                <a:sym typeface="Arimo"/>
              </a:rPr>
              <a:t> Continuous health checks across all platform modules</a:t>
            </a:r>
          </a:p>
          <a:p>
            <a:pPr marL="226219" lvl="1" indent="-113109" algn="just">
              <a:lnSpc>
                <a:spcPts val="1800"/>
              </a:lnSpc>
              <a:buFont typeface="Arial"/>
              <a:buChar char="•"/>
            </a:pPr>
            <a:r>
              <a:rPr lang="en-US" sz="1500" b="1" dirty="0">
                <a:solidFill>
                  <a:srgbClr val="000000"/>
                </a:solidFill>
                <a:latin typeface="Arimo Bold"/>
                <a:ea typeface="Arimo Bold"/>
                <a:cs typeface="Arimo Bold"/>
                <a:sym typeface="Arimo Bold"/>
              </a:rPr>
              <a:t>Crash Handling:</a:t>
            </a:r>
            <a:r>
              <a:rPr lang="en-US" sz="1500" dirty="0">
                <a:solidFill>
                  <a:srgbClr val="000000"/>
                </a:solidFill>
                <a:latin typeface="Arimo"/>
                <a:ea typeface="Arimo"/>
                <a:cs typeface="Arimo"/>
                <a:sym typeface="Arimo"/>
              </a:rPr>
              <a:t> Automatic restart and state recovery after unexpected termination</a:t>
            </a:r>
          </a:p>
          <a:p>
            <a:pPr marL="226219" lvl="1" indent="-113109" algn="just">
              <a:lnSpc>
                <a:spcPts val="1800"/>
              </a:lnSpc>
              <a:buFont typeface="Arial"/>
              <a:buChar char="•"/>
            </a:pPr>
            <a:r>
              <a:rPr lang="en-US" sz="1500" b="1" dirty="0">
                <a:solidFill>
                  <a:srgbClr val="000000"/>
                </a:solidFill>
                <a:latin typeface="Arimo Bold"/>
                <a:ea typeface="Arimo Bold"/>
                <a:cs typeface="Arimo Bold"/>
                <a:sym typeface="Arimo Bold"/>
              </a:rPr>
              <a:t>Network Recovery:</a:t>
            </a:r>
            <a:r>
              <a:rPr lang="en-US" sz="1500" dirty="0">
                <a:solidFill>
                  <a:srgbClr val="000000"/>
                </a:solidFill>
                <a:latin typeface="Arimo"/>
                <a:ea typeface="Arimo"/>
                <a:cs typeface="Arimo"/>
                <a:sym typeface="Arimo"/>
              </a:rPr>
              <a:t> Resume-after-downtime behavior when connectivity is restored</a:t>
            </a:r>
          </a:p>
          <a:p>
            <a:pPr marL="226219" lvl="1" indent="-113109" algn="just">
              <a:lnSpc>
                <a:spcPts val="1800"/>
              </a:lnSpc>
              <a:buFont typeface="Arial"/>
              <a:buChar char="•"/>
            </a:pPr>
            <a:r>
              <a:rPr lang="en-US" sz="1500" b="1" dirty="0">
                <a:solidFill>
                  <a:srgbClr val="000000"/>
                </a:solidFill>
                <a:latin typeface="Arimo Bold"/>
                <a:ea typeface="Arimo Bold"/>
                <a:cs typeface="Arimo Bold"/>
                <a:sym typeface="Arimo Bold"/>
              </a:rPr>
              <a:t>Scheduled Restart Logic:</a:t>
            </a:r>
            <a:r>
              <a:rPr lang="en-US" sz="1500" dirty="0">
                <a:solidFill>
                  <a:srgbClr val="000000"/>
                </a:solidFill>
                <a:latin typeface="Arimo"/>
                <a:ea typeface="Arimo"/>
                <a:cs typeface="Arimo"/>
                <a:sym typeface="Arimo"/>
              </a:rPr>
              <a:t> Periodic self-restart to clear accumulated state and maintain stability</a:t>
            </a:r>
          </a:p>
          <a:p>
            <a:pPr marL="226219" lvl="1" indent="-113109" algn="just">
              <a:lnSpc>
                <a:spcPts val="1800"/>
              </a:lnSpc>
              <a:buFont typeface="Arial"/>
              <a:buChar char="•"/>
            </a:pPr>
            <a:r>
              <a:rPr lang="en-US" sz="1500" b="1" dirty="0">
                <a:solidFill>
                  <a:srgbClr val="000000"/>
                </a:solidFill>
                <a:latin typeface="Arimo Bold"/>
                <a:ea typeface="Arimo Bold"/>
                <a:cs typeface="Arimo Bold"/>
                <a:sym typeface="Arimo Bold"/>
              </a:rPr>
              <a:t>Session Continuity:</a:t>
            </a:r>
            <a:r>
              <a:rPr lang="en-US" sz="1500" dirty="0">
                <a:solidFill>
                  <a:srgbClr val="000000"/>
                </a:solidFill>
                <a:latin typeface="Arimo"/>
                <a:ea typeface="Arimo"/>
                <a:cs typeface="Arimo"/>
                <a:sym typeface="Arimo"/>
              </a:rPr>
              <a:t> Preserves operation state across restart cycles</a:t>
            </a:r>
          </a:p>
          <a:p>
            <a:pPr marL="226219" lvl="1" indent="-113109" algn="just">
              <a:lnSpc>
                <a:spcPts val="1800"/>
              </a:lnSpc>
              <a:buFont typeface="Arial"/>
              <a:buChar char="•"/>
            </a:pPr>
            <a:r>
              <a:rPr lang="en-US" sz="1500" b="1">
                <a:solidFill>
                  <a:srgbClr val="000000"/>
                </a:solidFill>
                <a:latin typeface="Arimo Bold"/>
                <a:ea typeface="Arimo Bold"/>
                <a:cs typeface="Arimo Bold"/>
                <a:sym typeface="Arimo Bold"/>
              </a:rPr>
              <a:t>Profile Lock Cleanup:</a:t>
            </a:r>
            <a:r>
              <a:rPr lang="en-US" sz="1500">
                <a:solidFill>
                  <a:srgbClr val="000000"/>
                </a:solidFill>
                <a:latin typeface="Arimo"/>
                <a:ea typeface="Arimo"/>
                <a:cs typeface="Arimo"/>
                <a:sym typeface="Arimo"/>
              </a:rPr>
              <a:t> Automatically resolves locked biometric device sessions</a:t>
            </a:r>
          </a:p>
        </p:txBody>
      </p:sp>
      <p:sp>
        <p:nvSpPr>
          <p:cNvPr id="15" name="TextBox 15"/>
          <p:cNvSpPr txBox="1"/>
          <p:nvPr/>
        </p:nvSpPr>
        <p:spPr>
          <a:xfrm>
            <a:off x="12057058" y="4300586"/>
            <a:ext cx="2801941" cy="205634"/>
          </a:xfrm>
          <a:prstGeom prst="rect">
            <a:avLst/>
          </a:prstGeom>
        </p:spPr>
        <p:txBody>
          <a:bodyPr wrap="square" lIns="0" tIns="0" rIns="0" bIns="0" rtlCol="0" anchor="t">
            <a:spAutoFit/>
          </a:bodyPr>
          <a:lstStyle/>
          <a:p>
            <a:pPr algn="l">
              <a:lnSpc>
                <a:spcPts val="1500"/>
              </a:lnSpc>
            </a:pPr>
            <a:r>
              <a:rPr lang="en-US" sz="2000" dirty="0">
                <a:solidFill>
                  <a:srgbClr val="0C0D0F"/>
                </a:solidFill>
                <a:latin typeface="Inter"/>
                <a:ea typeface="Inter"/>
                <a:cs typeface="Inter"/>
                <a:sym typeface="Inter"/>
              </a:rPr>
              <a:t>Backup &amp; Cloud Sync</a:t>
            </a:r>
          </a:p>
        </p:txBody>
      </p:sp>
      <p:sp>
        <p:nvSpPr>
          <p:cNvPr id="16" name="TextBox 16"/>
          <p:cNvSpPr txBox="1"/>
          <p:nvPr/>
        </p:nvSpPr>
        <p:spPr>
          <a:xfrm>
            <a:off x="11834689" y="4583278"/>
            <a:ext cx="4739726" cy="613772"/>
          </a:xfrm>
          <a:prstGeom prst="rect">
            <a:avLst/>
          </a:prstGeom>
        </p:spPr>
        <p:txBody>
          <a:bodyPr lIns="0" tIns="0" rIns="0" bIns="0" rtlCol="0" anchor="t">
            <a:spAutoFit/>
          </a:bodyPr>
          <a:lstStyle/>
          <a:p>
            <a:pPr marL="226219" lvl="1" indent="-113109" algn="just">
              <a:lnSpc>
                <a:spcPts val="1800"/>
              </a:lnSpc>
              <a:buFont typeface="Arial"/>
              <a:buChar char="•"/>
            </a:pPr>
            <a:r>
              <a:rPr lang="en-US" sz="1500">
                <a:solidFill>
                  <a:srgbClr val="000000"/>
                </a:solidFill>
                <a:latin typeface="Arimo"/>
                <a:ea typeface="Arimo"/>
                <a:cs typeface="Arimo"/>
                <a:sym typeface="Arimo"/>
              </a:rPr>
              <a:t>BIOSYNC maintains structured local backups of all processed attendance data, organized by date, department, and report type. These backups are indexed and retrievable, ensuring that historical data can be surfaced efficiently for audits or administrative reviews.</a:t>
            </a:r>
          </a:p>
        </p:txBody>
      </p:sp>
      <p:sp>
        <p:nvSpPr>
          <p:cNvPr id="17" name="TextBox 17"/>
          <p:cNvSpPr txBox="1"/>
          <p:nvPr/>
        </p:nvSpPr>
        <p:spPr>
          <a:xfrm>
            <a:off x="11834689" y="6032887"/>
            <a:ext cx="4739726" cy="762448"/>
          </a:xfrm>
          <a:prstGeom prst="rect">
            <a:avLst/>
          </a:prstGeom>
        </p:spPr>
        <p:txBody>
          <a:bodyPr lIns="0" tIns="0" rIns="0" bIns="0" rtlCol="0" anchor="t">
            <a:spAutoFit/>
          </a:bodyPr>
          <a:lstStyle/>
          <a:p>
            <a:pPr marL="226219" lvl="1" indent="-113109" algn="just">
              <a:lnSpc>
                <a:spcPts val="1800"/>
              </a:lnSpc>
              <a:buFont typeface="Arial"/>
              <a:buChar char="•"/>
            </a:pPr>
            <a:r>
              <a:rPr lang="en-US" sz="1500">
                <a:solidFill>
                  <a:srgbClr val="000000"/>
                </a:solidFill>
                <a:latin typeface="Arimo"/>
                <a:ea typeface="Arimo"/>
                <a:cs typeface="Arimo"/>
                <a:sym typeface="Arimo"/>
              </a:rPr>
              <a:t>Simultaneously, BIOSYNC synchronizes all backup data to Google Drive on a configured schedule. This creates a redundant, cloud-backed archive that protects institutional records against local hardware failure. The Google Drive folder structure mirrors the local backup organization, making cloud retrieval straightforward for authorized administrators.</a:t>
            </a:r>
          </a:p>
        </p:txBody>
      </p:sp>
      <p:sp>
        <p:nvSpPr>
          <p:cNvPr id="18" name="TextBox 18"/>
          <p:cNvSpPr txBox="1"/>
          <p:nvPr/>
        </p:nvSpPr>
        <p:spPr>
          <a:xfrm>
            <a:off x="11834689" y="7907074"/>
            <a:ext cx="4739726" cy="465087"/>
          </a:xfrm>
          <a:prstGeom prst="rect">
            <a:avLst/>
          </a:prstGeom>
        </p:spPr>
        <p:txBody>
          <a:bodyPr lIns="0" tIns="0" rIns="0" bIns="0" rtlCol="0" anchor="t">
            <a:spAutoFit/>
          </a:bodyPr>
          <a:lstStyle/>
          <a:p>
            <a:pPr marL="226219" lvl="1" indent="-113109" algn="just">
              <a:lnSpc>
                <a:spcPts val="1800"/>
              </a:lnSpc>
              <a:buFont typeface="Arial"/>
              <a:buChar char="•"/>
            </a:pPr>
            <a:r>
              <a:rPr lang="en-US" sz="1500">
                <a:solidFill>
                  <a:srgbClr val="000000"/>
                </a:solidFill>
                <a:latin typeface="Arimo"/>
                <a:ea typeface="Arimo"/>
                <a:cs typeface="Arimo"/>
                <a:sym typeface="Arimo"/>
              </a:rPr>
              <a:t>Together, the resilience layer and the backup system ensure that BIOSYNC operates as a dependable institutional utility — not a tool that requires daily attention, but a platform that works silently and consistently in the background.</a:t>
            </a:r>
          </a:p>
        </p:txBody>
      </p:sp>
      <p:sp>
        <p:nvSpPr>
          <p:cNvPr id="19" name="TextBox 19"/>
          <p:cNvSpPr txBox="1"/>
          <p:nvPr/>
        </p:nvSpPr>
        <p:spPr>
          <a:xfrm>
            <a:off x="3826354" y="9893732"/>
            <a:ext cx="13106772" cy="147541"/>
          </a:xfrm>
          <a:prstGeom prst="rect">
            <a:avLst/>
          </a:prstGeom>
        </p:spPr>
        <p:txBody>
          <a:bodyPr wrap="square" lIns="0" tIns="0" rIns="0" bIns="0" rtlCol="0" anchor="t">
            <a:spAutoFit/>
          </a:bodyPr>
          <a:lstStyle/>
          <a:p>
            <a:pPr algn="l">
              <a:lnSpc>
                <a:spcPts val="1124"/>
              </a:lnSpc>
            </a:pPr>
            <a:r>
              <a:rPr lang="en-US" sz="1249" b="1" spc="5" dirty="0">
                <a:solidFill>
                  <a:srgbClr val="000000"/>
                </a:solidFill>
                <a:latin typeface="Merriweather Sans Bold"/>
                <a:ea typeface="Merriweather Sans Bold"/>
                <a:cs typeface="Merriweather Sans Bold"/>
                <a:sym typeface="Merriweather Sans Bold"/>
              </a:rPr>
              <a:t>BIOSYNC is designed not only to automate attendance — but to operate reliably over time, without manual intervention, in real-world institutional environments.</a:t>
            </a:r>
          </a:p>
        </p:txBody>
      </p:sp>
      <p:grpSp>
        <p:nvGrpSpPr>
          <p:cNvPr id="20" name="Group 20"/>
          <p:cNvGrpSpPr/>
          <p:nvPr/>
        </p:nvGrpSpPr>
        <p:grpSpPr>
          <a:xfrm>
            <a:off x="3640322" y="9785975"/>
            <a:ext cx="19050" cy="287979"/>
            <a:chOff x="0" y="0"/>
            <a:chExt cx="25400" cy="383972"/>
          </a:xfrm>
        </p:grpSpPr>
        <p:sp>
          <p:nvSpPr>
            <p:cNvPr id="21" name="Freeform 21"/>
            <p:cNvSpPr/>
            <p:nvPr/>
          </p:nvSpPr>
          <p:spPr>
            <a:xfrm>
              <a:off x="0" y="0"/>
              <a:ext cx="25400" cy="383921"/>
            </a:xfrm>
            <a:custGeom>
              <a:avLst/>
              <a:gdLst/>
              <a:ahLst/>
              <a:cxnLst/>
              <a:rect l="l" t="t" r="r" b="b"/>
              <a:pathLst>
                <a:path w="25400" h="383921">
                  <a:moveTo>
                    <a:pt x="0" y="0"/>
                  </a:moveTo>
                  <a:lnTo>
                    <a:pt x="25400" y="0"/>
                  </a:lnTo>
                  <a:lnTo>
                    <a:pt x="25400" y="383921"/>
                  </a:lnTo>
                  <a:lnTo>
                    <a:pt x="0" y="383921"/>
                  </a:lnTo>
                  <a:close/>
                </a:path>
              </a:pathLst>
            </a:custGeom>
            <a:solidFill>
              <a:srgbClr val="FF7047"/>
            </a:solidFill>
          </p:spPr>
        </p:sp>
      </p:grpSp>
      <p:grpSp>
        <p:nvGrpSpPr>
          <p:cNvPr id="22" name="Group 22"/>
          <p:cNvGrpSpPr/>
          <p:nvPr/>
        </p:nvGrpSpPr>
        <p:grpSpPr>
          <a:xfrm>
            <a:off x="11221745" y="310220"/>
            <a:ext cx="6559791" cy="9229563"/>
            <a:chOff x="0" y="0"/>
            <a:chExt cx="8746388" cy="12306084"/>
          </a:xfrm>
        </p:grpSpPr>
        <p:sp>
          <p:nvSpPr>
            <p:cNvPr id="23" name="Freeform 23"/>
            <p:cNvSpPr/>
            <p:nvPr/>
          </p:nvSpPr>
          <p:spPr>
            <a:xfrm>
              <a:off x="0" y="0"/>
              <a:ext cx="8746363" cy="12306046"/>
            </a:xfrm>
            <a:custGeom>
              <a:avLst/>
              <a:gdLst/>
              <a:ahLst/>
              <a:cxnLst/>
              <a:rect l="l" t="t" r="r" b="b"/>
              <a:pathLst>
                <a:path w="8746363" h="12306046">
                  <a:moveTo>
                    <a:pt x="10541" y="0"/>
                  </a:moveTo>
                  <a:lnTo>
                    <a:pt x="8735822" y="0"/>
                  </a:lnTo>
                  <a:cubicBezTo>
                    <a:pt x="8741664" y="0"/>
                    <a:pt x="8746363" y="4699"/>
                    <a:pt x="8746363" y="10541"/>
                  </a:cubicBezTo>
                  <a:lnTo>
                    <a:pt x="8746363" y="10840212"/>
                  </a:lnTo>
                  <a:cubicBezTo>
                    <a:pt x="8746363" y="10843006"/>
                    <a:pt x="8745220" y="10845673"/>
                    <a:pt x="8743315" y="10847705"/>
                  </a:cubicBezTo>
                  <a:lnTo>
                    <a:pt x="7289038" y="12302998"/>
                  </a:lnTo>
                  <a:cubicBezTo>
                    <a:pt x="7287006" y="12305030"/>
                    <a:pt x="7284339" y="12306046"/>
                    <a:pt x="7281545" y="12306046"/>
                  </a:cubicBezTo>
                  <a:lnTo>
                    <a:pt x="10541" y="12306046"/>
                  </a:lnTo>
                  <a:cubicBezTo>
                    <a:pt x="4699" y="12306046"/>
                    <a:pt x="0" y="12301347"/>
                    <a:pt x="0" y="12295505"/>
                  </a:cubicBezTo>
                  <a:lnTo>
                    <a:pt x="0" y="10541"/>
                  </a:lnTo>
                  <a:cubicBezTo>
                    <a:pt x="0" y="4699"/>
                    <a:pt x="4699" y="0"/>
                    <a:pt x="10541" y="0"/>
                  </a:cubicBezTo>
                  <a:moveTo>
                    <a:pt x="10541" y="21209"/>
                  </a:moveTo>
                  <a:lnTo>
                    <a:pt x="10541" y="10541"/>
                  </a:lnTo>
                  <a:lnTo>
                    <a:pt x="21082" y="10541"/>
                  </a:lnTo>
                  <a:lnTo>
                    <a:pt x="21082" y="12295505"/>
                  </a:lnTo>
                  <a:lnTo>
                    <a:pt x="10541" y="12295505"/>
                  </a:lnTo>
                  <a:lnTo>
                    <a:pt x="10541" y="12284964"/>
                  </a:lnTo>
                  <a:lnTo>
                    <a:pt x="7281545" y="12284964"/>
                  </a:lnTo>
                  <a:lnTo>
                    <a:pt x="7281545" y="12295505"/>
                  </a:lnTo>
                  <a:lnTo>
                    <a:pt x="7274051" y="12288012"/>
                  </a:lnTo>
                  <a:lnTo>
                    <a:pt x="8728329" y="10832719"/>
                  </a:lnTo>
                  <a:lnTo>
                    <a:pt x="8735823" y="10840212"/>
                  </a:lnTo>
                  <a:lnTo>
                    <a:pt x="8725281" y="10840212"/>
                  </a:lnTo>
                  <a:lnTo>
                    <a:pt x="8725281" y="10541"/>
                  </a:lnTo>
                  <a:lnTo>
                    <a:pt x="8735823" y="10541"/>
                  </a:lnTo>
                  <a:lnTo>
                    <a:pt x="8735823" y="21082"/>
                  </a:lnTo>
                  <a:lnTo>
                    <a:pt x="10541" y="21082"/>
                  </a:lnTo>
                  <a:close/>
                </a:path>
              </a:pathLst>
            </a:custGeom>
            <a:solidFill>
              <a:srgbClr val="172C51"/>
            </a:solidFill>
          </p:spPr>
        </p:sp>
        <p:sp>
          <p:nvSpPr>
            <p:cNvPr id="24" name="Freeform 24"/>
            <p:cNvSpPr/>
            <p:nvPr/>
          </p:nvSpPr>
          <p:spPr>
            <a:xfrm>
              <a:off x="7270943" y="10829610"/>
              <a:ext cx="1475554" cy="1476480"/>
            </a:xfrm>
            <a:custGeom>
              <a:avLst/>
              <a:gdLst/>
              <a:ahLst/>
              <a:cxnLst/>
              <a:rect l="l" t="t" r="r" b="b"/>
              <a:pathLst>
                <a:path w="1475554" h="1476480">
                  <a:moveTo>
                    <a:pt x="315" y="1463355"/>
                  </a:moveTo>
                  <a:lnTo>
                    <a:pt x="291145" y="299146"/>
                  </a:lnTo>
                  <a:cubicBezTo>
                    <a:pt x="292033" y="295337"/>
                    <a:pt x="295082" y="292415"/>
                    <a:pt x="298892" y="291400"/>
                  </a:cubicBezTo>
                  <a:lnTo>
                    <a:pt x="1462339" y="315"/>
                  </a:lnTo>
                  <a:cubicBezTo>
                    <a:pt x="1466910" y="-828"/>
                    <a:pt x="1471737" y="1204"/>
                    <a:pt x="1474150" y="5395"/>
                  </a:cubicBezTo>
                  <a:cubicBezTo>
                    <a:pt x="1476563" y="9587"/>
                    <a:pt x="1475801" y="14666"/>
                    <a:pt x="1472371" y="18095"/>
                  </a:cubicBezTo>
                  <a:lnTo>
                    <a:pt x="18095" y="1473388"/>
                  </a:lnTo>
                  <a:cubicBezTo>
                    <a:pt x="14793" y="1476690"/>
                    <a:pt x="9586" y="1477452"/>
                    <a:pt x="5395" y="1475166"/>
                  </a:cubicBezTo>
                  <a:cubicBezTo>
                    <a:pt x="1204" y="1472880"/>
                    <a:pt x="-828" y="1468054"/>
                    <a:pt x="315" y="1463355"/>
                  </a:cubicBezTo>
                  <a:moveTo>
                    <a:pt x="20889" y="1468435"/>
                  </a:moveTo>
                  <a:lnTo>
                    <a:pt x="10602" y="1465895"/>
                  </a:lnTo>
                  <a:lnTo>
                    <a:pt x="3109" y="1458402"/>
                  </a:lnTo>
                  <a:lnTo>
                    <a:pt x="1457386" y="3109"/>
                  </a:lnTo>
                  <a:lnTo>
                    <a:pt x="1464880" y="10602"/>
                  </a:lnTo>
                  <a:lnTo>
                    <a:pt x="1467419" y="20889"/>
                  </a:lnTo>
                  <a:lnTo>
                    <a:pt x="303972" y="311973"/>
                  </a:lnTo>
                  <a:lnTo>
                    <a:pt x="301432" y="301686"/>
                  </a:lnTo>
                  <a:lnTo>
                    <a:pt x="311719" y="304226"/>
                  </a:lnTo>
                  <a:lnTo>
                    <a:pt x="20889" y="1468435"/>
                  </a:lnTo>
                  <a:close/>
                </a:path>
              </a:pathLst>
            </a:custGeom>
            <a:solidFill>
              <a:srgbClr val="172C51"/>
            </a:solidFill>
          </p:spPr>
        </p:sp>
        <p:sp>
          <p:nvSpPr>
            <p:cNvPr id="25" name="Freeform 25"/>
            <p:cNvSpPr/>
            <p:nvPr/>
          </p:nvSpPr>
          <p:spPr>
            <a:xfrm>
              <a:off x="0" y="0"/>
              <a:ext cx="8746497" cy="12306046"/>
            </a:xfrm>
            <a:custGeom>
              <a:avLst/>
              <a:gdLst/>
              <a:ahLst/>
              <a:cxnLst/>
              <a:rect l="l" t="t" r="r" b="b"/>
              <a:pathLst>
                <a:path w="8746497" h="12306046">
                  <a:moveTo>
                    <a:pt x="7271258" y="12292965"/>
                  </a:moveTo>
                  <a:lnTo>
                    <a:pt x="7562088" y="11128756"/>
                  </a:lnTo>
                  <a:cubicBezTo>
                    <a:pt x="7562976" y="11124947"/>
                    <a:pt x="7566025" y="11122025"/>
                    <a:pt x="7569835" y="11121010"/>
                  </a:cubicBezTo>
                  <a:lnTo>
                    <a:pt x="8733282" y="10829925"/>
                  </a:lnTo>
                  <a:cubicBezTo>
                    <a:pt x="8737853" y="10828782"/>
                    <a:pt x="8742680" y="10830814"/>
                    <a:pt x="8745093" y="10835005"/>
                  </a:cubicBezTo>
                  <a:cubicBezTo>
                    <a:pt x="8747506" y="10839197"/>
                    <a:pt x="8746744" y="10844276"/>
                    <a:pt x="8743314" y="10847705"/>
                  </a:cubicBezTo>
                  <a:lnTo>
                    <a:pt x="7289038" y="12302998"/>
                  </a:lnTo>
                  <a:cubicBezTo>
                    <a:pt x="7287006" y="12305030"/>
                    <a:pt x="7284339" y="12306046"/>
                    <a:pt x="7281545" y="12306046"/>
                  </a:cubicBezTo>
                  <a:lnTo>
                    <a:pt x="10541" y="12306046"/>
                  </a:lnTo>
                  <a:cubicBezTo>
                    <a:pt x="4699" y="12306046"/>
                    <a:pt x="0" y="12301347"/>
                    <a:pt x="0" y="12295505"/>
                  </a:cubicBezTo>
                  <a:lnTo>
                    <a:pt x="0" y="10541"/>
                  </a:lnTo>
                  <a:cubicBezTo>
                    <a:pt x="0" y="4699"/>
                    <a:pt x="4699" y="0"/>
                    <a:pt x="10541" y="0"/>
                  </a:cubicBezTo>
                  <a:lnTo>
                    <a:pt x="8735822" y="0"/>
                  </a:lnTo>
                  <a:cubicBezTo>
                    <a:pt x="8741664" y="0"/>
                    <a:pt x="8746363" y="4699"/>
                    <a:pt x="8746363" y="10541"/>
                  </a:cubicBezTo>
                  <a:lnTo>
                    <a:pt x="8746363" y="10840212"/>
                  </a:lnTo>
                  <a:lnTo>
                    <a:pt x="8725153" y="10840212"/>
                  </a:lnTo>
                  <a:lnTo>
                    <a:pt x="8725153" y="10541"/>
                  </a:lnTo>
                  <a:lnTo>
                    <a:pt x="8735695" y="10541"/>
                  </a:lnTo>
                  <a:lnTo>
                    <a:pt x="8735695" y="21082"/>
                  </a:lnTo>
                  <a:lnTo>
                    <a:pt x="10541" y="21082"/>
                  </a:lnTo>
                  <a:lnTo>
                    <a:pt x="10541" y="10541"/>
                  </a:lnTo>
                  <a:lnTo>
                    <a:pt x="21082" y="10541"/>
                  </a:lnTo>
                  <a:lnTo>
                    <a:pt x="21082" y="12295505"/>
                  </a:lnTo>
                  <a:lnTo>
                    <a:pt x="10541" y="12295505"/>
                  </a:lnTo>
                  <a:lnTo>
                    <a:pt x="10541" y="12284964"/>
                  </a:lnTo>
                  <a:lnTo>
                    <a:pt x="7281545" y="12284964"/>
                  </a:lnTo>
                  <a:lnTo>
                    <a:pt x="7281545" y="12295505"/>
                  </a:lnTo>
                  <a:lnTo>
                    <a:pt x="7274051" y="12288012"/>
                  </a:lnTo>
                  <a:lnTo>
                    <a:pt x="8728329" y="10832719"/>
                  </a:lnTo>
                  <a:lnTo>
                    <a:pt x="8735823" y="10840212"/>
                  </a:lnTo>
                  <a:lnTo>
                    <a:pt x="8738362" y="10850499"/>
                  </a:lnTo>
                  <a:lnTo>
                    <a:pt x="7574915" y="11141583"/>
                  </a:lnTo>
                  <a:lnTo>
                    <a:pt x="7572375" y="11131296"/>
                  </a:lnTo>
                  <a:lnTo>
                    <a:pt x="7582662" y="11133836"/>
                  </a:lnTo>
                  <a:lnTo>
                    <a:pt x="7291832" y="12298045"/>
                  </a:lnTo>
                  <a:close/>
                </a:path>
              </a:pathLst>
            </a:custGeom>
            <a:solidFill>
              <a:srgbClr val="172C51"/>
            </a:solid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707917" y="400793"/>
            <a:ext cx="2179034" cy="448123"/>
            <a:chOff x="0" y="0"/>
            <a:chExt cx="2905379" cy="597497"/>
          </a:xfrm>
        </p:grpSpPr>
        <p:sp>
          <p:nvSpPr>
            <p:cNvPr id="7" name="Freeform 7"/>
            <p:cNvSpPr/>
            <p:nvPr/>
          </p:nvSpPr>
          <p:spPr>
            <a:xfrm>
              <a:off x="-1524" y="-1651"/>
              <a:ext cx="2908427" cy="600710"/>
            </a:xfrm>
            <a:custGeom>
              <a:avLst/>
              <a:gdLst/>
              <a:ahLst/>
              <a:cxnLst/>
              <a:rect l="l" t="t" r="r" b="b"/>
              <a:pathLst>
                <a:path w="2908427" h="600710">
                  <a:moveTo>
                    <a:pt x="0" y="268986"/>
                  </a:moveTo>
                  <a:cubicBezTo>
                    <a:pt x="0" y="120396"/>
                    <a:pt x="120269" y="127"/>
                    <a:pt x="268859" y="0"/>
                  </a:cubicBezTo>
                  <a:lnTo>
                    <a:pt x="2639568" y="0"/>
                  </a:lnTo>
                  <a:lnTo>
                    <a:pt x="2639568" y="1651"/>
                  </a:lnTo>
                  <a:lnTo>
                    <a:pt x="2639568" y="127"/>
                  </a:lnTo>
                  <a:cubicBezTo>
                    <a:pt x="2788031" y="127"/>
                    <a:pt x="2908427" y="120523"/>
                    <a:pt x="2908427" y="268986"/>
                  </a:cubicBezTo>
                  <a:lnTo>
                    <a:pt x="2906903" y="268986"/>
                  </a:lnTo>
                  <a:lnTo>
                    <a:pt x="2908427" y="268986"/>
                  </a:lnTo>
                  <a:lnTo>
                    <a:pt x="2908427" y="331851"/>
                  </a:lnTo>
                  <a:lnTo>
                    <a:pt x="2906903" y="331851"/>
                  </a:lnTo>
                  <a:lnTo>
                    <a:pt x="2908427" y="331851"/>
                  </a:lnTo>
                  <a:cubicBezTo>
                    <a:pt x="2908427" y="480314"/>
                    <a:pt x="2788031" y="600710"/>
                    <a:pt x="2639568" y="600710"/>
                  </a:cubicBezTo>
                  <a:lnTo>
                    <a:pt x="2639568" y="599186"/>
                  </a:lnTo>
                  <a:lnTo>
                    <a:pt x="2639568" y="600710"/>
                  </a:lnTo>
                  <a:lnTo>
                    <a:pt x="268859" y="600710"/>
                  </a:lnTo>
                  <a:lnTo>
                    <a:pt x="268859" y="599186"/>
                  </a:lnTo>
                  <a:lnTo>
                    <a:pt x="268859" y="600710"/>
                  </a:lnTo>
                  <a:cubicBezTo>
                    <a:pt x="120269" y="600710"/>
                    <a:pt x="0" y="480314"/>
                    <a:pt x="0" y="331851"/>
                  </a:cubicBezTo>
                  <a:lnTo>
                    <a:pt x="0" y="268986"/>
                  </a:lnTo>
                  <a:lnTo>
                    <a:pt x="1524" y="268986"/>
                  </a:lnTo>
                  <a:lnTo>
                    <a:pt x="0" y="268986"/>
                  </a:lnTo>
                  <a:moveTo>
                    <a:pt x="3175" y="268986"/>
                  </a:moveTo>
                  <a:lnTo>
                    <a:pt x="3175" y="331851"/>
                  </a:lnTo>
                  <a:lnTo>
                    <a:pt x="1524" y="331851"/>
                  </a:lnTo>
                  <a:lnTo>
                    <a:pt x="3048" y="331851"/>
                  </a:lnTo>
                  <a:cubicBezTo>
                    <a:pt x="3048" y="478663"/>
                    <a:pt x="122047" y="597535"/>
                    <a:pt x="268732" y="597535"/>
                  </a:cubicBezTo>
                  <a:lnTo>
                    <a:pt x="2639568" y="597535"/>
                  </a:lnTo>
                  <a:cubicBezTo>
                    <a:pt x="2786380" y="597535"/>
                    <a:pt x="2905252" y="478536"/>
                    <a:pt x="2905252" y="331851"/>
                  </a:cubicBezTo>
                  <a:lnTo>
                    <a:pt x="2905252" y="268986"/>
                  </a:lnTo>
                  <a:cubicBezTo>
                    <a:pt x="2905252" y="122174"/>
                    <a:pt x="2786253" y="3302"/>
                    <a:pt x="2639568" y="3302"/>
                  </a:cubicBezTo>
                  <a:lnTo>
                    <a:pt x="268859" y="3302"/>
                  </a:lnTo>
                  <a:lnTo>
                    <a:pt x="268859" y="1651"/>
                  </a:lnTo>
                  <a:lnTo>
                    <a:pt x="268859" y="3175"/>
                  </a:lnTo>
                  <a:cubicBezTo>
                    <a:pt x="122047" y="3175"/>
                    <a:pt x="3048" y="122174"/>
                    <a:pt x="3048" y="268986"/>
                  </a:cubicBezTo>
                  <a:close/>
                </a:path>
              </a:pathLst>
            </a:custGeom>
            <a:solidFill>
              <a:srgbClr val="ED7D31"/>
            </a:solidFill>
          </p:spPr>
        </p:sp>
      </p:grpSp>
      <p:sp>
        <p:nvSpPr>
          <p:cNvPr id="8" name="TextBox 8"/>
          <p:cNvSpPr txBox="1"/>
          <p:nvPr/>
        </p:nvSpPr>
        <p:spPr>
          <a:xfrm>
            <a:off x="900903" y="601713"/>
            <a:ext cx="2328682" cy="273996"/>
          </a:xfrm>
          <a:prstGeom prst="rect">
            <a:avLst/>
          </a:prstGeom>
        </p:spPr>
        <p:txBody>
          <a:bodyPr lIns="0" tIns="0" rIns="0" bIns="0" rtlCol="0" anchor="t">
            <a:spAutoFit/>
          </a:bodyPr>
          <a:lstStyle/>
          <a:p>
            <a:pPr algn="l">
              <a:lnSpc>
                <a:spcPts val="1124"/>
              </a:lnSpc>
            </a:pPr>
            <a:r>
              <a:rPr lang="en-US" sz="1249" b="1" spc="5">
                <a:solidFill>
                  <a:srgbClr val="C55A11"/>
                </a:solidFill>
                <a:latin typeface="Merriweather Sans Bold"/>
                <a:ea typeface="Merriweather Sans Bold"/>
                <a:cs typeface="Merriweather Sans Bold"/>
                <a:sym typeface="Merriweather Sans Bold"/>
              </a:rPr>
              <a:t>UNIFIED ACCESS LAYER</a:t>
            </a:r>
          </a:p>
        </p:txBody>
      </p:sp>
      <p:sp>
        <p:nvSpPr>
          <p:cNvPr id="9" name="TextBox 9"/>
          <p:cNvSpPr txBox="1"/>
          <p:nvPr/>
        </p:nvSpPr>
        <p:spPr>
          <a:xfrm>
            <a:off x="707917" y="1066667"/>
            <a:ext cx="6264173" cy="457648"/>
          </a:xfrm>
          <a:prstGeom prst="rect">
            <a:avLst/>
          </a:prstGeom>
        </p:spPr>
        <p:txBody>
          <a:bodyPr lIns="0" tIns="0" rIns="0" bIns="0" rtlCol="0" anchor="t">
            <a:spAutoFit/>
          </a:bodyPr>
          <a:lstStyle/>
          <a:p>
            <a:pPr algn="l">
              <a:lnSpc>
                <a:spcPts val="3499"/>
              </a:lnSpc>
            </a:pPr>
            <a:r>
              <a:rPr lang="en-US" sz="2812">
                <a:solidFill>
                  <a:srgbClr val="0C0D0F"/>
                </a:solidFill>
                <a:latin typeface="Inter"/>
                <a:ea typeface="Inter"/>
                <a:cs typeface="Inter"/>
                <a:sym typeface="Inter"/>
              </a:rPr>
              <a:t>The BIOSYNC Dashboard Ecosystem</a:t>
            </a:r>
          </a:p>
        </p:txBody>
      </p:sp>
      <p:sp>
        <p:nvSpPr>
          <p:cNvPr id="10" name="TextBox 10"/>
          <p:cNvSpPr txBox="1"/>
          <p:nvPr/>
        </p:nvSpPr>
        <p:spPr>
          <a:xfrm>
            <a:off x="727881" y="1843316"/>
            <a:ext cx="8416119" cy="991772"/>
          </a:xfrm>
          <a:prstGeom prst="rect">
            <a:avLst/>
          </a:prstGeom>
        </p:spPr>
        <p:txBody>
          <a:bodyPr lIns="0" tIns="0" rIns="0" bIns="0" rtlCol="0" anchor="t">
            <a:spAutoFit/>
          </a:bodyPr>
          <a:lstStyle/>
          <a:p>
            <a:pPr algn="just">
              <a:lnSpc>
                <a:spcPts val="2400"/>
              </a:lnSpc>
            </a:pPr>
            <a:r>
              <a:rPr lang="en-US" sz="2000">
                <a:solidFill>
                  <a:srgbClr val="000000"/>
                </a:solidFill>
                <a:latin typeface="Arimo"/>
                <a:ea typeface="Arimo"/>
                <a:cs typeface="Arimo"/>
                <a:sym typeface="Arimo"/>
              </a:rPr>
              <a:t>BIOSYNC's centralized dashboard environment provides role-based access for administrators, staff, and parents — increasing visibility, transparency, and control across the institution.</a:t>
            </a:r>
          </a:p>
        </p:txBody>
      </p:sp>
      <p:grpSp>
        <p:nvGrpSpPr>
          <p:cNvPr id="11" name="Group 11"/>
          <p:cNvGrpSpPr/>
          <p:nvPr/>
        </p:nvGrpSpPr>
        <p:grpSpPr>
          <a:xfrm>
            <a:off x="575996" y="3163605"/>
            <a:ext cx="10621899" cy="6312694"/>
            <a:chOff x="0" y="0"/>
            <a:chExt cx="14162532" cy="8416925"/>
          </a:xfrm>
        </p:grpSpPr>
        <p:sp>
          <p:nvSpPr>
            <p:cNvPr id="12" name="Freeform 12" descr="preencoded.png"/>
            <p:cNvSpPr/>
            <p:nvPr/>
          </p:nvSpPr>
          <p:spPr>
            <a:xfrm>
              <a:off x="0" y="0"/>
              <a:ext cx="14162532" cy="8416925"/>
            </a:xfrm>
            <a:custGeom>
              <a:avLst/>
              <a:gdLst/>
              <a:ahLst/>
              <a:cxnLst/>
              <a:rect l="l" t="t" r="r" b="b"/>
              <a:pathLst>
                <a:path w="14162532" h="8416925">
                  <a:moveTo>
                    <a:pt x="0" y="0"/>
                  </a:moveTo>
                  <a:lnTo>
                    <a:pt x="14162532" y="0"/>
                  </a:lnTo>
                  <a:lnTo>
                    <a:pt x="14162532" y="8416925"/>
                  </a:lnTo>
                  <a:lnTo>
                    <a:pt x="0" y="8416925"/>
                  </a:lnTo>
                  <a:lnTo>
                    <a:pt x="0" y="0"/>
                  </a:lnTo>
                  <a:close/>
                </a:path>
              </a:pathLst>
            </a:custGeom>
            <a:blipFill>
              <a:blip r:embed="rId3"/>
              <a:stretch>
                <a:fillRect l="-3200" r="-3200"/>
              </a:stretch>
            </a:blipFill>
          </p:spPr>
        </p:sp>
      </p:grpSp>
      <p:sp>
        <p:nvSpPr>
          <p:cNvPr id="13" name="TextBox 13"/>
          <p:cNvSpPr txBox="1"/>
          <p:nvPr/>
        </p:nvSpPr>
        <p:spPr>
          <a:xfrm>
            <a:off x="12039600" y="1790700"/>
            <a:ext cx="4367727" cy="461665"/>
          </a:xfrm>
          <a:prstGeom prst="rect">
            <a:avLst/>
          </a:prstGeom>
        </p:spPr>
        <p:txBody>
          <a:bodyPr wrap="square" lIns="0" tIns="0" rIns="0" bIns="0" rtlCol="0" anchor="t">
            <a:spAutoFit/>
          </a:bodyPr>
          <a:lstStyle/>
          <a:p>
            <a:pPr algn="just">
              <a:lnSpc>
                <a:spcPts val="3600"/>
              </a:lnSpc>
            </a:pPr>
            <a:r>
              <a:rPr lang="en-US" sz="3000" dirty="0">
                <a:solidFill>
                  <a:srgbClr val="0C0D0F"/>
                </a:solidFill>
                <a:latin typeface="Inter"/>
                <a:ea typeface="Inter"/>
                <a:cs typeface="Inter"/>
                <a:sym typeface="Inter"/>
              </a:rPr>
              <a:t>Administrator Access</a:t>
            </a:r>
          </a:p>
        </p:txBody>
      </p:sp>
      <p:sp>
        <p:nvSpPr>
          <p:cNvPr id="14" name="TextBox 14"/>
          <p:cNvSpPr txBox="1"/>
          <p:nvPr/>
        </p:nvSpPr>
        <p:spPr>
          <a:xfrm>
            <a:off x="12091473" y="2241747"/>
            <a:ext cx="5400227" cy="390820"/>
          </a:xfrm>
          <a:prstGeom prst="rect">
            <a:avLst/>
          </a:prstGeom>
        </p:spPr>
        <p:txBody>
          <a:bodyPr lIns="0" tIns="0" rIns="0" bIns="0" rtlCol="0" anchor="t">
            <a:spAutoFit/>
          </a:bodyPr>
          <a:lstStyle/>
          <a:p>
            <a:pPr algn="just">
              <a:lnSpc>
                <a:spcPts val="2100"/>
              </a:lnSpc>
            </a:pPr>
            <a:r>
              <a:rPr lang="en-US" sz="1750" dirty="0">
                <a:solidFill>
                  <a:srgbClr val="000000"/>
                </a:solidFill>
                <a:latin typeface="Arimo"/>
                <a:ea typeface="Arimo"/>
                <a:cs typeface="Arimo"/>
                <a:sym typeface="Arimo"/>
              </a:rPr>
              <a:t>Full system oversight — manage workflows, monitor automation, configure operations, and access institutional reports from a single command center.</a:t>
            </a:r>
          </a:p>
        </p:txBody>
      </p:sp>
      <p:sp>
        <p:nvSpPr>
          <p:cNvPr id="15" name="TextBox 15"/>
          <p:cNvSpPr txBox="1"/>
          <p:nvPr/>
        </p:nvSpPr>
        <p:spPr>
          <a:xfrm>
            <a:off x="12041466" y="3695700"/>
            <a:ext cx="4493933" cy="461665"/>
          </a:xfrm>
          <a:prstGeom prst="rect">
            <a:avLst/>
          </a:prstGeom>
        </p:spPr>
        <p:txBody>
          <a:bodyPr wrap="square" lIns="0" tIns="0" rIns="0" bIns="0" rtlCol="0" anchor="t">
            <a:spAutoFit/>
          </a:bodyPr>
          <a:lstStyle/>
          <a:p>
            <a:pPr algn="just">
              <a:lnSpc>
                <a:spcPts val="3600"/>
              </a:lnSpc>
            </a:pPr>
            <a:r>
              <a:rPr lang="en-US" sz="3000" dirty="0">
                <a:solidFill>
                  <a:srgbClr val="0C0D0F"/>
                </a:solidFill>
                <a:latin typeface="Inter"/>
                <a:ea typeface="Inter"/>
                <a:cs typeface="Inter"/>
                <a:sym typeface="Inter"/>
              </a:rPr>
              <a:t>Staff &amp; Faculty Access</a:t>
            </a:r>
          </a:p>
        </p:txBody>
      </p:sp>
      <p:sp>
        <p:nvSpPr>
          <p:cNvPr id="16" name="TextBox 16"/>
          <p:cNvSpPr txBox="1"/>
          <p:nvPr/>
        </p:nvSpPr>
        <p:spPr>
          <a:xfrm>
            <a:off x="12051440" y="4152900"/>
            <a:ext cx="5480294" cy="390820"/>
          </a:xfrm>
          <a:prstGeom prst="rect">
            <a:avLst/>
          </a:prstGeom>
        </p:spPr>
        <p:txBody>
          <a:bodyPr lIns="0" tIns="0" rIns="0" bIns="0" rtlCol="0" anchor="t">
            <a:spAutoFit/>
          </a:bodyPr>
          <a:lstStyle/>
          <a:p>
            <a:pPr algn="just">
              <a:lnSpc>
                <a:spcPts val="2100"/>
              </a:lnSpc>
            </a:pPr>
            <a:r>
              <a:rPr lang="en-US" sz="1750" dirty="0">
                <a:solidFill>
                  <a:srgbClr val="000000"/>
                </a:solidFill>
                <a:latin typeface="Arimo"/>
                <a:ea typeface="Arimo"/>
                <a:cs typeface="Arimo"/>
                <a:sym typeface="Arimo"/>
              </a:rPr>
              <a:t>Targeted attendance insights and operational data for day-to-day academic management — class-level reports, anomaly flags, and workflow status.</a:t>
            </a:r>
          </a:p>
        </p:txBody>
      </p:sp>
      <p:sp>
        <p:nvSpPr>
          <p:cNvPr id="17" name="TextBox 17"/>
          <p:cNvSpPr txBox="1"/>
          <p:nvPr/>
        </p:nvSpPr>
        <p:spPr>
          <a:xfrm>
            <a:off x="12091472" y="5717210"/>
            <a:ext cx="3758127" cy="461665"/>
          </a:xfrm>
          <a:prstGeom prst="rect">
            <a:avLst/>
          </a:prstGeom>
        </p:spPr>
        <p:txBody>
          <a:bodyPr wrap="square" lIns="0" tIns="0" rIns="0" bIns="0" rtlCol="0" anchor="t">
            <a:spAutoFit/>
          </a:bodyPr>
          <a:lstStyle/>
          <a:p>
            <a:pPr algn="just">
              <a:lnSpc>
                <a:spcPts val="3600"/>
              </a:lnSpc>
            </a:pPr>
            <a:r>
              <a:rPr lang="en-US" sz="3000" dirty="0">
                <a:solidFill>
                  <a:srgbClr val="0C0D0F"/>
                </a:solidFill>
                <a:latin typeface="Inter"/>
                <a:ea typeface="Inter"/>
                <a:cs typeface="Inter"/>
                <a:sym typeface="Inter"/>
              </a:rPr>
              <a:t>Parent Access</a:t>
            </a:r>
          </a:p>
        </p:txBody>
      </p:sp>
      <p:sp>
        <p:nvSpPr>
          <p:cNvPr id="18" name="TextBox 18"/>
          <p:cNvSpPr txBox="1"/>
          <p:nvPr/>
        </p:nvSpPr>
        <p:spPr>
          <a:xfrm>
            <a:off x="12091473" y="6134100"/>
            <a:ext cx="5607348" cy="390820"/>
          </a:xfrm>
          <a:prstGeom prst="rect">
            <a:avLst/>
          </a:prstGeom>
        </p:spPr>
        <p:txBody>
          <a:bodyPr lIns="0" tIns="0" rIns="0" bIns="0" rtlCol="0" anchor="t">
            <a:spAutoFit/>
          </a:bodyPr>
          <a:lstStyle/>
          <a:p>
            <a:pPr algn="l">
              <a:lnSpc>
                <a:spcPts val="2100"/>
              </a:lnSpc>
            </a:pPr>
            <a:r>
              <a:rPr lang="en-US" sz="1750" dirty="0">
                <a:solidFill>
                  <a:srgbClr val="000000"/>
                </a:solidFill>
                <a:latin typeface="Arimo"/>
                <a:ea typeface="Arimo"/>
                <a:cs typeface="Arimo"/>
                <a:sym typeface="Arimo"/>
              </a:rPr>
              <a:t>Dedicated interface for tracking their child's attendance, receiving automated notifications, and maintaining awareness of academic participation.</a:t>
            </a:r>
          </a:p>
        </p:txBody>
      </p:sp>
      <p:grpSp>
        <p:nvGrpSpPr>
          <p:cNvPr id="19" name="Group 19"/>
          <p:cNvGrpSpPr/>
          <p:nvPr/>
        </p:nvGrpSpPr>
        <p:grpSpPr>
          <a:xfrm>
            <a:off x="11740220" y="1068257"/>
            <a:ext cx="6280052" cy="7117432"/>
            <a:chOff x="0" y="0"/>
            <a:chExt cx="8373402" cy="9489910"/>
          </a:xfrm>
        </p:grpSpPr>
        <p:sp>
          <p:nvSpPr>
            <p:cNvPr id="20" name="Freeform 20"/>
            <p:cNvSpPr/>
            <p:nvPr/>
          </p:nvSpPr>
          <p:spPr>
            <a:xfrm>
              <a:off x="0" y="0"/>
              <a:ext cx="8373364" cy="9489948"/>
            </a:xfrm>
            <a:custGeom>
              <a:avLst/>
              <a:gdLst/>
              <a:ahLst/>
              <a:cxnLst/>
              <a:rect l="l" t="t" r="r" b="b"/>
              <a:pathLst>
                <a:path w="8373364" h="9489948">
                  <a:moveTo>
                    <a:pt x="0" y="1403096"/>
                  </a:moveTo>
                  <a:cubicBezTo>
                    <a:pt x="0" y="628142"/>
                    <a:pt x="628015" y="0"/>
                    <a:pt x="1402588" y="0"/>
                  </a:cubicBezTo>
                  <a:lnTo>
                    <a:pt x="6970776" y="0"/>
                  </a:lnTo>
                  <a:lnTo>
                    <a:pt x="6970776" y="10541"/>
                  </a:lnTo>
                  <a:lnTo>
                    <a:pt x="6970776" y="0"/>
                  </a:lnTo>
                  <a:cubicBezTo>
                    <a:pt x="7745476" y="0"/>
                    <a:pt x="8373364" y="628142"/>
                    <a:pt x="8373364" y="1403096"/>
                  </a:cubicBezTo>
                  <a:lnTo>
                    <a:pt x="8373364" y="8086852"/>
                  </a:lnTo>
                  <a:lnTo>
                    <a:pt x="8362823" y="8086852"/>
                  </a:lnTo>
                  <a:lnTo>
                    <a:pt x="8373364" y="8086852"/>
                  </a:lnTo>
                  <a:cubicBezTo>
                    <a:pt x="8373364" y="8861679"/>
                    <a:pt x="7745349" y="9489948"/>
                    <a:pt x="6970776" y="9489948"/>
                  </a:cubicBezTo>
                  <a:lnTo>
                    <a:pt x="6970776" y="9479407"/>
                  </a:lnTo>
                  <a:lnTo>
                    <a:pt x="6970776" y="9489948"/>
                  </a:lnTo>
                  <a:lnTo>
                    <a:pt x="1402588" y="9489948"/>
                  </a:lnTo>
                  <a:lnTo>
                    <a:pt x="1402588" y="9479407"/>
                  </a:lnTo>
                  <a:lnTo>
                    <a:pt x="1402588" y="9489948"/>
                  </a:lnTo>
                  <a:cubicBezTo>
                    <a:pt x="628015" y="9489948"/>
                    <a:pt x="0" y="8861806"/>
                    <a:pt x="0" y="8086852"/>
                  </a:cubicBezTo>
                  <a:lnTo>
                    <a:pt x="0" y="1403096"/>
                  </a:lnTo>
                  <a:lnTo>
                    <a:pt x="10541" y="1403096"/>
                  </a:lnTo>
                  <a:lnTo>
                    <a:pt x="0" y="1403096"/>
                  </a:lnTo>
                  <a:moveTo>
                    <a:pt x="21209" y="1403096"/>
                  </a:moveTo>
                  <a:lnTo>
                    <a:pt x="21209" y="8086852"/>
                  </a:lnTo>
                  <a:lnTo>
                    <a:pt x="10541" y="8086852"/>
                  </a:lnTo>
                  <a:lnTo>
                    <a:pt x="21082" y="8086852"/>
                  </a:lnTo>
                  <a:cubicBezTo>
                    <a:pt x="21082" y="8849995"/>
                    <a:pt x="639572" y="9468739"/>
                    <a:pt x="1402588" y="9468739"/>
                  </a:cubicBezTo>
                  <a:lnTo>
                    <a:pt x="6970776" y="9468739"/>
                  </a:lnTo>
                  <a:cubicBezTo>
                    <a:pt x="7733792" y="9468739"/>
                    <a:pt x="8352282" y="8849995"/>
                    <a:pt x="8352282" y="8086852"/>
                  </a:cubicBezTo>
                  <a:lnTo>
                    <a:pt x="8352282" y="1403096"/>
                  </a:lnTo>
                  <a:lnTo>
                    <a:pt x="8362823" y="1403096"/>
                  </a:lnTo>
                  <a:lnTo>
                    <a:pt x="8352282" y="1403096"/>
                  </a:lnTo>
                  <a:cubicBezTo>
                    <a:pt x="8352282" y="639953"/>
                    <a:pt x="7733792" y="21209"/>
                    <a:pt x="6970776" y="21209"/>
                  </a:cubicBezTo>
                  <a:lnTo>
                    <a:pt x="1402588" y="21209"/>
                  </a:lnTo>
                  <a:lnTo>
                    <a:pt x="1402588" y="10541"/>
                  </a:lnTo>
                  <a:lnTo>
                    <a:pt x="1402588" y="21082"/>
                  </a:lnTo>
                  <a:cubicBezTo>
                    <a:pt x="639699" y="21209"/>
                    <a:pt x="21209" y="639826"/>
                    <a:pt x="21209" y="1403096"/>
                  </a:cubicBezTo>
                  <a:close/>
                </a:path>
              </a:pathLst>
            </a:custGeom>
            <a:solidFill>
              <a:srgbClr val="ED7D31"/>
            </a:solid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grpSp>
        <p:nvGrpSpPr>
          <p:cNvPr id="6" name="Group 6"/>
          <p:cNvGrpSpPr/>
          <p:nvPr/>
        </p:nvGrpSpPr>
        <p:grpSpPr>
          <a:xfrm>
            <a:off x="1348978" y="547411"/>
            <a:ext cx="2404910" cy="345872"/>
            <a:chOff x="0" y="0"/>
            <a:chExt cx="3206547" cy="461162"/>
          </a:xfrm>
        </p:grpSpPr>
        <p:sp>
          <p:nvSpPr>
            <p:cNvPr id="7" name="Freeform 7"/>
            <p:cNvSpPr/>
            <p:nvPr/>
          </p:nvSpPr>
          <p:spPr>
            <a:xfrm>
              <a:off x="-1524" y="-1651"/>
              <a:ext cx="3209671" cy="464439"/>
            </a:xfrm>
            <a:custGeom>
              <a:avLst/>
              <a:gdLst/>
              <a:ahLst/>
              <a:cxnLst/>
              <a:rect l="l" t="t" r="r" b="b"/>
              <a:pathLst>
                <a:path w="3209671" h="464439">
                  <a:moveTo>
                    <a:pt x="0" y="191389"/>
                  </a:moveTo>
                  <a:cubicBezTo>
                    <a:pt x="0" y="85725"/>
                    <a:pt x="85598" y="127"/>
                    <a:pt x="191262" y="0"/>
                  </a:cubicBezTo>
                  <a:lnTo>
                    <a:pt x="3018282" y="0"/>
                  </a:lnTo>
                  <a:lnTo>
                    <a:pt x="3018282" y="1651"/>
                  </a:lnTo>
                  <a:lnTo>
                    <a:pt x="3018282" y="127"/>
                  </a:lnTo>
                  <a:cubicBezTo>
                    <a:pt x="3123946" y="127"/>
                    <a:pt x="3209671" y="85852"/>
                    <a:pt x="3209671" y="191516"/>
                  </a:cubicBezTo>
                  <a:lnTo>
                    <a:pt x="3208147" y="191516"/>
                  </a:lnTo>
                  <a:lnTo>
                    <a:pt x="3209671" y="191516"/>
                  </a:lnTo>
                  <a:lnTo>
                    <a:pt x="3209671" y="273050"/>
                  </a:lnTo>
                  <a:lnTo>
                    <a:pt x="3208147" y="273050"/>
                  </a:lnTo>
                  <a:lnTo>
                    <a:pt x="3209671" y="273050"/>
                  </a:lnTo>
                  <a:cubicBezTo>
                    <a:pt x="3209671" y="378714"/>
                    <a:pt x="3123946" y="464439"/>
                    <a:pt x="3018282" y="464439"/>
                  </a:cubicBezTo>
                  <a:lnTo>
                    <a:pt x="3018282" y="462915"/>
                  </a:lnTo>
                  <a:lnTo>
                    <a:pt x="3018282" y="464439"/>
                  </a:lnTo>
                  <a:lnTo>
                    <a:pt x="191262" y="464439"/>
                  </a:lnTo>
                  <a:lnTo>
                    <a:pt x="191262" y="462915"/>
                  </a:lnTo>
                  <a:lnTo>
                    <a:pt x="191262" y="464439"/>
                  </a:lnTo>
                  <a:cubicBezTo>
                    <a:pt x="85598" y="464439"/>
                    <a:pt x="0" y="378714"/>
                    <a:pt x="0" y="273050"/>
                  </a:cubicBezTo>
                  <a:lnTo>
                    <a:pt x="0" y="191389"/>
                  </a:lnTo>
                  <a:lnTo>
                    <a:pt x="1524" y="191389"/>
                  </a:lnTo>
                  <a:lnTo>
                    <a:pt x="0" y="191389"/>
                  </a:lnTo>
                  <a:moveTo>
                    <a:pt x="3175" y="191389"/>
                  </a:moveTo>
                  <a:lnTo>
                    <a:pt x="3175" y="272923"/>
                  </a:lnTo>
                  <a:lnTo>
                    <a:pt x="1524" y="272923"/>
                  </a:lnTo>
                  <a:lnTo>
                    <a:pt x="3048" y="272923"/>
                  </a:lnTo>
                  <a:cubicBezTo>
                    <a:pt x="3048" y="376809"/>
                    <a:pt x="87249" y="461137"/>
                    <a:pt x="191262" y="461137"/>
                  </a:cubicBezTo>
                  <a:lnTo>
                    <a:pt x="3018282" y="461137"/>
                  </a:lnTo>
                  <a:cubicBezTo>
                    <a:pt x="3122168" y="461137"/>
                    <a:pt x="3206496" y="376936"/>
                    <a:pt x="3206496" y="272923"/>
                  </a:cubicBezTo>
                  <a:lnTo>
                    <a:pt x="3206496" y="191389"/>
                  </a:lnTo>
                  <a:cubicBezTo>
                    <a:pt x="3206496" y="87503"/>
                    <a:pt x="3122295" y="3175"/>
                    <a:pt x="3018282" y="3175"/>
                  </a:cubicBezTo>
                  <a:lnTo>
                    <a:pt x="191262" y="3175"/>
                  </a:lnTo>
                  <a:lnTo>
                    <a:pt x="191262" y="1651"/>
                  </a:lnTo>
                  <a:lnTo>
                    <a:pt x="191262" y="3175"/>
                  </a:lnTo>
                  <a:cubicBezTo>
                    <a:pt x="87376" y="3175"/>
                    <a:pt x="3048" y="87503"/>
                    <a:pt x="3048" y="191389"/>
                  </a:cubicBezTo>
                  <a:close/>
                </a:path>
              </a:pathLst>
            </a:custGeom>
            <a:solidFill>
              <a:srgbClr val="ED7D31"/>
            </a:solidFill>
          </p:spPr>
        </p:sp>
      </p:grpSp>
      <p:sp>
        <p:nvSpPr>
          <p:cNvPr id="8" name="TextBox 8"/>
          <p:cNvSpPr txBox="1"/>
          <p:nvPr/>
        </p:nvSpPr>
        <p:spPr>
          <a:xfrm>
            <a:off x="1402747" y="587589"/>
            <a:ext cx="2407253" cy="214867"/>
          </a:xfrm>
          <a:prstGeom prst="rect">
            <a:avLst/>
          </a:prstGeom>
        </p:spPr>
        <p:txBody>
          <a:bodyPr wrap="square" lIns="0" tIns="0" rIns="0" bIns="0" rtlCol="0" anchor="t">
            <a:spAutoFit/>
          </a:bodyPr>
          <a:lstStyle/>
          <a:p>
            <a:pPr algn="l">
              <a:lnSpc>
                <a:spcPts val="1750"/>
              </a:lnSpc>
            </a:pPr>
            <a:r>
              <a:rPr lang="en-US" sz="1200" b="1" spc="5" dirty="0">
                <a:solidFill>
                  <a:srgbClr val="C55A11"/>
                </a:solidFill>
                <a:latin typeface="Merriweather Sans Bold"/>
                <a:ea typeface="Merriweather Sans Bold"/>
                <a:cs typeface="Merriweather Sans Bold"/>
                <a:sym typeface="Merriweather Sans Bold"/>
              </a:rPr>
              <a:t>ENGINEERING ARCHITECTURE</a:t>
            </a:r>
          </a:p>
        </p:txBody>
      </p:sp>
      <p:sp>
        <p:nvSpPr>
          <p:cNvPr id="9" name="TextBox 9"/>
          <p:cNvSpPr txBox="1"/>
          <p:nvPr/>
        </p:nvSpPr>
        <p:spPr>
          <a:xfrm>
            <a:off x="1348978" y="996105"/>
            <a:ext cx="8994429" cy="636832"/>
          </a:xfrm>
          <a:prstGeom prst="rect">
            <a:avLst/>
          </a:prstGeom>
        </p:spPr>
        <p:txBody>
          <a:bodyPr lIns="0" tIns="0" rIns="0" bIns="0" rtlCol="0" anchor="t">
            <a:spAutoFit/>
          </a:bodyPr>
          <a:lstStyle/>
          <a:p>
            <a:pPr algn="l">
              <a:lnSpc>
                <a:spcPts val="4812"/>
              </a:lnSpc>
            </a:pPr>
            <a:r>
              <a:rPr lang="en-US" sz="3875">
                <a:solidFill>
                  <a:srgbClr val="0C0D0F"/>
                </a:solidFill>
                <a:latin typeface="Inter"/>
                <a:ea typeface="Inter"/>
                <a:cs typeface="Inter"/>
                <a:sym typeface="Inter"/>
              </a:rPr>
              <a:t>The Technical Foundation of BIOSYNC</a:t>
            </a:r>
          </a:p>
        </p:txBody>
      </p:sp>
      <p:sp>
        <p:nvSpPr>
          <p:cNvPr id="10" name="TextBox 10"/>
          <p:cNvSpPr txBox="1"/>
          <p:nvPr/>
        </p:nvSpPr>
        <p:spPr>
          <a:xfrm>
            <a:off x="1348978" y="1840554"/>
            <a:ext cx="15589891" cy="596798"/>
          </a:xfrm>
          <a:prstGeom prst="rect">
            <a:avLst/>
          </a:prstGeom>
        </p:spPr>
        <p:txBody>
          <a:bodyPr lIns="0" tIns="0" rIns="0" bIns="0" rtlCol="0" anchor="t">
            <a:spAutoFit/>
          </a:bodyPr>
          <a:lstStyle/>
          <a:p>
            <a:pPr algn="just">
              <a:lnSpc>
                <a:spcPts val="2187"/>
              </a:lnSpc>
            </a:pPr>
            <a:r>
              <a:rPr lang="en-US" sz="1750">
                <a:solidFill>
                  <a:srgbClr val="000000"/>
                </a:solidFill>
                <a:latin typeface="Arimo"/>
                <a:ea typeface="Arimo"/>
                <a:cs typeface="Arimo"/>
                <a:sym typeface="Arimo"/>
              </a:rPr>
              <a:t>BIOSYNC combines file processing, attendance intelligence, browser automation, report generation, dashboard interaction, and synchronization logic into one cohesive engineering system — built for reliability, scalability, and institutional-grade performance.</a:t>
            </a:r>
          </a:p>
        </p:txBody>
      </p:sp>
      <p:sp>
        <p:nvSpPr>
          <p:cNvPr id="11" name="TextBox 11"/>
          <p:cNvSpPr txBox="1"/>
          <p:nvPr/>
        </p:nvSpPr>
        <p:spPr>
          <a:xfrm>
            <a:off x="1348977" y="2933700"/>
            <a:ext cx="3471863" cy="295594"/>
          </a:xfrm>
          <a:prstGeom prst="rect">
            <a:avLst/>
          </a:prstGeom>
        </p:spPr>
        <p:txBody>
          <a:bodyPr wrap="square" lIns="0" tIns="0" rIns="0" bIns="0" rtlCol="0" anchor="t">
            <a:spAutoFit/>
          </a:bodyPr>
          <a:lstStyle/>
          <a:p>
            <a:pPr algn="l">
              <a:lnSpc>
                <a:spcPts val="2375"/>
              </a:lnSpc>
            </a:pPr>
            <a:r>
              <a:rPr lang="en-US" sz="1937" b="1" spc="7" dirty="0">
                <a:solidFill>
                  <a:srgbClr val="0C0D0F"/>
                </a:solidFill>
                <a:latin typeface="Merriweather Sans Bold"/>
                <a:ea typeface="Merriweather Sans Bold"/>
                <a:cs typeface="Merriweather Sans Bold"/>
                <a:sym typeface="Merriweather Sans Bold"/>
              </a:rPr>
              <a:t>Core Technology Stack</a:t>
            </a:r>
          </a:p>
        </p:txBody>
      </p:sp>
      <p:grpSp>
        <p:nvGrpSpPr>
          <p:cNvPr id="12" name="Group 12"/>
          <p:cNvGrpSpPr/>
          <p:nvPr/>
        </p:nvGrpSpPr>
        <p:grpSpPr>
          <a:xfrm>
            <a:off x="1334691" y="3302479"/>
            <a:ext cx="3726656" cy="1799634"/>
            <a:chOff x="0" y="0"/>
            <a:chExt cx="4968875" cy="2399513"/>
          </a:xfrm>
        </p:grpSpPr>
        <p:sp>
          <p:nvSpPr>
            <p:cNvPr id="13" name="Freeform 13"/>
            <p:cNvSpPr/>
            <p:nvPr/>
          </p:nvSpPr>
          <p:spPr>
            <a:xfrm>
              <a:off x="19050" y="19050"/>
              <a:ext cx="4930775" cy="2361438"/>
            </a:xfrm>
            <a:custGeom>
              <a:avLst/>
              <a:gdLst/>
              <a:ahLst/>
              <a:cxnLst/>
              <a:rect l="l" t="t" r="r" b="b"/>
              <a:pathLst>
                <a:path w="4930775" h="2361438">
                  <a:moveTo>
                    <a:pt x="0" y="182880"/>
                  </a:moveTo>
                  <a:cubicBezTo>
                    <a:pt x="0" y="81915"/>
                    <a:pt x="82550" y="0"/>
                    <a:pt x="184404" y="0"/>
                  </a:cubicBezTo>
                  <a:lnTo>
                    <a:pt x="4746371" y="0"/>
                  </a:lnTo>
                  <a:cubicBezTo>
                    <a:pt x="4848225" y="0"/>
                    <a:pt x="4930775" y="81915"/>
                    <a:pt x="4930775" y="182880"/>
                  </a:cubicBezTo>
                  <a:lnTo>
                    <a:pt x="4930775" y="2178558"/>
                  </a:lnTo>
                  <a:cubicBezTo>
                    <a:pt x="4930775" y="2279523"/>
                    <a:pt x="4848225" y="2361438"/>
                    <a:pt x="4746371" y="2361438"/>
                  </a:cubicBezTo>
                  <a:lnTo>
                    <a:pt x="184404" y="2361438"/>
                  </a:lnTo>
                  <a:cubicBezTo>
                    <a:pt x="82550" y="2361438"/>
                    <a:pt x="0" y="2279523"/>
                    <a:pt x="0" y="2178558"/>
                  </a:cubicBezTo>
                  <a:close/>
                </a:path>
              </a:pathLst>
            </a:custGeom>
            <a:solidFill>
              <a:srgbClr val="FFFFFF"/>
            </a:solidFill>
          </p:spPr>
        </p:sp>
        <p:sp>
          <p:nvSpPr>
            <p:cNvPr id="14" name="Freeform 14"/>
            <p:cNvSpPr/>
            <p:nvPr/>
          </p:nvSpPr>
          <p:spPr>
            <a:xfrm>
              <a:off x="0" y="0"/>
              <a:ext cx="4968875" cy="2399538"/>
            </a:xfrm>
            <a:custGeom>
              <a:avLst/>
              <a:gdLst/>
              <a:ahLst/>
              <a:cxnLst/>
              <a:rect l="l" t="t" r="r" b="b"/>
              <a:pathLst>
                <a:path w="4968875" h="2399538">
                  <a:moveTo>
                    <a:pt x="0" y="201930"/>
                  </a:moveTo>
                  <a:cubicBezTo>
                    <a:pt x="0" y="90297"/>
                    <a:pt x="91186" y="0"/>
                    <a:pt x="203454" y="0"/>
                  </a:cubicBezTo>
                  <a:lnTo>
                    <a:pt x="4765421" y="0"/>
                  </a:lnTo>
                  <a:lnTo>
                    <a:pt x="4765421" y="19050"/>
                  </a:lnTo>
                  <a:lnTo>
                    <a:pt x="4765421" y="0"/>
                  </a:lnTo>
                  <a:cubicBezTo>
                    <a:pt x="4877689" y="0"/>
                    <a:pt x="4968875" y="90297"/>
                    <a:pt x="4968875" y="201930"/>
                  </a:cubicBezTo>
                  <a:lnTo>
                    <a:pt x="4949825" y="201930"/>
                  </a:lnTo>
                  <a:lnTo>
                    <a:pt x="4968875" y="201930"/>
                  </a:lnTo>
                  <a:lnTo>
                    <a:pt x="4968875" y="2197608"/>
                  </a:lnTo>
                  <a:lnTo>
                    <a:pt x="4949825" y="2197608"/>
                  </a:lnTo>
                  <a:lnTo>
                    <a:pt x="4968875" y="2197608"/>
                  </a:lnTo>
                  <a:cubicBezTo>
                    <a:pt x="4968875" y="2309241"/>
                    <a:pt x="4877689" y="2399538"/>
                    <a:pt x="4765421" y="2399538"/>
                  </a:cubicBezTo>
                  <a:lnTo>
                    <a:pt x="4765421" y="2380488"/>
                  </a:lnTo>
                  <a:lnTo>
                    <a:pt x="4765421" y="2399538"/>
                  </a:lnTo>
                  <a:lnTo>
                    <a:pt x="203454" y="2399538"/>
                  </a:lnTo>
                  <a:lnTo>
                    <a:pt x="203454" y="2380488"/>
                  </a:lnTo>
                  <a:lnTo>
                    <a:pt x="203454" y="2399538"/>
                  </a:lnTo>
                  <a:cubicBezTo>
                    <a:pt x="91186" y="2399538"/>
                    <a:pt x="0" y="2309241"/>
                    <a:pt x="0" y="2197608"/>
                  </a:cubicBezTo>
                  <a:lnTo>
                    <a:pt x="0" y="201930"/>
                  </a:lnTo>
                  <a:lnTo>
                    <a:pt x="19050" y="201930"/>
                  </a:lnTo>
                  <a:lnTo>
                    <a:pt x="0" y="201930"/>
                  </a:lnTo>
                  <a:moveTo>
                    <a:pt x="38100" y="201930"/>
                  </a:moveTo>
                  <a:lnTo>
                    <a:pt x="38100" y="2197608"/>
                  </a:lnTo>
                  <a:lnTo>
                    <a:pt x="19050" y="2197608"/>
                  </a:lnTo>
                  <a:lnTo>
                    <a:pt x="38100" y="2197608"/>
                  </a:lnTo>
                  <a:cubicBezTo>
                    <a:pt x="38100" y="2287905"/>
                    <a:pt x="112014" y="2361438"/>
                    <a:pt x="203454" y="2361438"/>
                  </a:cubicBezTo>
                  <a:lnTo>
                    <a:pt x="4765421" y="2361438"/>
                  </a:lnTo>
                  <a:cubicBezTo>
                    <a:pt x="4856861" y="2361438"/>
                    <a:pt x="4930775" y="2287905"/>
                    <a:pt x="4930775" y="2197608"/>
                  </a:cubicBezTo>
                  <a:lnTo>
                    <a:pt x="4930775" y="201930"/>
                  </a:lnTo>
                  <a:cubicBezTo>
                    <a:pt x="4930775" y="111633"/>
                    <a:pt x="4856861" y="38100"/>
                    <a:pt x="4765421" y="38100"/>
                  </a:cubicBezTo>
                  <a:lnTo>
                    <a:pt x="203454" y="38100"/>
                  </a:lnTo>
                  <a:lnTo>
                    <a:pt x="203454" y="19050"/>
                  </a:lnTo>
                  <a:lnTo>
                    <a:pt x="203454" y="38100"/>
                  </a:lnTo>
                  <a:cubicBezTo>
                    <a:pt x="112014" y="38100"/>
                    <a:pt x="38100" y="111633"/>
                    <a:pt x="38100" y="201930"/>
                  </a:cubicBezTo>
                  <a:close/>
                </a:path>
              </a:pathLst>
            </a:custGeom>
            <a:solidFill>
              <a:srgbClr val="FF7047"/>
            </a:solidFill>
          </p:spPr>
        </p:sp>
      </p:grpSp>
      <p:grpSp>
        <p:nvGrpSpPr>
          <p:cNvPr id="15" name="Group 15"/>
          <p:cNvGrpSpPr/>
          <p:nvPr/>
        </p:nvGrpSpPr>
        <p:grpSpPr>
          <a:xfrm>
            <a:off x="1320403" y="3316767"/>
            <a:ext cx="114300" cy="1771059"/>
            <a:chOff x="0" y="0"/>
            <a:chExt cx="152400" cy="2361413"/>
          </a:xfrm>
        </p:grpSpPr>
        <p:sp>
          <p:nvSpPr>
            <p:cNvPr id="16" name="Freeform 16"/>
            <p:cNvSpPr/>
            <p:nvPr/>
          </p:nvSpPr>
          <p:spPr>
            <a:xfrm>
              <a:off x="0" y="0"/>
              <a:ext cx="152400" cy="2361438"/>
            </a:xfrm>
            <a:custGeom>
              <a:avLst/>
              <a:gdLst/>
              <a:ahLst/>
              <a:cxnLst/>
              <a:rect l="l" t="t" r="r" b="b"/>
              <a:pathLst>
                <a:path w="152400" h="2361438">
                  <a:moveTo>
                    <a:pt x="0" y="76200"/>
                  </a:moveTo>
                  <a:cubicBezTo>
                    <a:pt x="0" y="34163"/>
                    <a:pt x="34163" y="0"/>
                    <a:pt x="76200" y="0"/>
                  </a:cubicBezTo>
                  <a:cubicBezTo>
                    <a:pt x="118237" y="0"/>
                    <a:pt x="152400" y="34163"/>
                    <a:pt x="152400" y="76200"/>
                  </a:cubicBezTo>
                  <a:lnTo>
                    <a:pt x="152400" y="2285238"/>
                  </a:lnTo>
                  <a:cubicBezTo>
                    <a:pt x="152400" y="2327275"/>
                    <a:pt x="118237" y="2361438"/>
                    <a:pt x="76200" y="2361438"/>
                  </a:cubicBezTo>
                  <a:cubicBezTo>
                    <a:pt x="34163" y="2361438"/>
                    <a:pt x="0" y="2327275"/>
                    <a:pt x="0" y="2285238"/>
                  </a:cubicBezTo>
                  <a:close/>
                </a:path>
              </a:pathLst>
            </a:custGeom>
            <a:solidFill>
              <a:srgbClr val="FF7047"/>
            </a:solidFill>
          </p:spPr>
        </p:sp>
      </p:grpSp>
      <p:sp>
        <p:nvSpPr>
          <p:cNvPr id="17" name="TextBox 17"/>
          <p:cNvSpPr txBox="1"/>
          <p:nvPr/>
        </p:nvSpPr>
        <p:spPr>
          <a:xfrm>
            <a:off x="1660922" y="3533461"/>
            <a:ext cx="2471147" cy="318345"/>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Python</a:t>
            </a:r>
          </a:p>
        </p:txBody>
      </p:sp>
      <p:sp>
        <p:nvSpPr>
          <p:cNvPr id="18" name="TextBox 18"/>
          <p:cNvSpPr txBox="1"/>
          <p:nvPr/>
        </p:nvSpPr>
        <p:spPr>
          <a:xfrm>
            <a:off x="1660922" y="3843804"/>
            <a:ext cx="3159919"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Core language powering all automation logic, data processing, and system integration.</a:t>
            </a:r>
          </a:p>
        </p:txBody>
      </p:sp>
      <p:grpSp>
        <p:nvGrpSpPr>
          <p:cNvPr id="19" name="Group 19"/>
          <p:cNvGrpSpPr/>
          <p:nvPr/>
        </p:nvGrpSpPr>
        <p:grpSpPr>
          <a:xfrm>
            <a:off x="5190230" y="3302479"/>
            <a:ext cx="3726809" cy="1799634"/>
            <a:chOff x="0" y="0"/>
            <a:chExt cx="4969078" cy="2399513"/>
          </a:xfrm>
        </p:grpSpPr>
        <p:sp>
          <p:nvSpPr>
            <p:cNvPr id="20" name="Freeform 20"/>
            <p:cNvSpPr/>
            <p:nvPr/>
          </p:nvSpPr>
          <p:spPr>
            <a:xfrm>
              <a:off x="19050" y="19050"/>
              <a:ext cx="4930902" cy="2361438"/>
            </a:xfrm>
            <a:custGeom>
              <a:avLst/>
              <a:gdLst/>
              <a:ahLst/>
              <a:cxnLst/>
              <a:rect l="l" t="t" r="r" b="b"/>
              <a:pathLst>
                <a:path w="4930902" h="2361438">
                  <a:moveTo>
                    <a:pt x="0" y="182880"/>
                  </a:moveTo>
                  <a:cubicBezTo>
                    <a:pt x="0" y="81915"/>
                    <a:pt x="82550" y="0"/>
                    <a:pt x="184404" y="0"/>
                  </a:cubicBezTo>
                  <a:lnTo>
                    <a:pt x="4746498" y="0"/>
                  </a:lnTo>
                  <a:cubicBezTo>
                    <a:pt x="4848352" y="0"/>
                    <a:pt x="4930902" y="81915"/>
                    <a:pt x="4930902" y="182880"/>
                  </a:cubicBezTo>
                  <a:lnTo>
                    <a:pt x="4930902" y="2178558"/>
                  </a:lnTo>
                  <a:cubicBezTo>
                    <a:pt x="4930902" y="2279523"/>
                    <a:pt x="4848352" y="2361438"/>
                    <a:pt x="4746498" y="2361438"/>
                  </a:cubicBezTo>
                  <a:lnTo>
                    <a:pt x="184404" y="2361438"/>
                  </a:lnTo>
                  <a:cubicBezTo>
                    <a:pt x="82550" y="2361438"/>
                    <a:pt x="0" y="2279523"/>
                    <a:pt x="0" y="2178558"/>
                  </a:cubicBezTo>
                  <a:close/>
                </a:path>
              </a:pathLst>
            </a:custGeom>
            <a:solidFill>
              <a:srgbClr val="FFFFFF"/>
            </a:solidFill>
          </p:spPr>
        </p:sp>
        <p:sp>
          <p:nvSpPr>
            <p:cNvPr id="21" name="Freeform 21"/>
            <p:cNvSpPr/>
            <p:nvPr/>
          </p:nvSpPr>
          <p:spPr>
            <a:xfrm>
              <a:off x="0" y="0"/>
              <a:ext cx="4969002" cy="2399538"/>
            </a:xfrm>
            <a:custGeom>
              <a:avLst/>
              <a:gdLst/>
              <a:ahLst/>
              <a:cxnLst/>
              <a:rect l="l" t="t" r="r" b="b"/>
              <a:pathLst>
                <a:path w="4969002" h="2399538">
                  <a:moveTo>
                    <a:pt x="0" y="201930"/>
                  </a:moveTo>
                  <a:cubicBezTo>
                    <a:pt x="0" y="90297"/>
                    <a:pt x="91186" y="0"/>
                    <a:pt x="203454" y="0"/>
                  </a:cubicBezTo>
                  <a:lnTo>
                    <a:pt x="4765548" y="0"/>
                  </a:lnTo>
                  <a:lnTo>
                    <a:pt x="4765548" y="19050"/>
                  </a:lnTo>
                  <a:lnTo>
                    <a:pt x="4765548" y="0"/>
                  </a:lnTo>
                  <a:cubicBezTo>
                    <a:pt x="4877816" y="0"/>
                    <a:pt x="4969002" y="90297"/>
                    <a:pt x="4969002" y="201930"/>
                  </a:cubicBezTo>
                  <a:lnTo>
                    <a:pt x="4949952" y="201930"/>
                  </a:lnTo>
                  <a:lnTo>
                    <a:pt x="4969002" y="201930"/>
                  </a:lnTo>
                  <a:lnTo>
                    <a:pt x="4969002" y="2197608"/>
                  </a:lnTo>
                  <a:lnTo>
                    <a:pt x="4949952" y="2197608"/>
                  </a:lnTo>
                  <a:lnTo>
                    <a:pt x="4969002" y="2197608"/>
                  </a:lnTo>
                  <a:cubicBezTo>
                    <a:pt x="4969002" y="2309241"/>
                    <a:pt x="4877816" y="2399538"/>
                    <a:pt x="4765548" y="2399538"/>
                  </a:cubicBezTo>
                  <a:lnTo>
                    <a:pt x="4765548" y="2380488"/>
                  </a:lnTo>
                  <a:lnTo>
                    <a:pt x="4765548" y="2399538"/>
                  </a:lnTo>
                  <a:lnTo>
                    <a:pt x="203454" y="2399538"/>
                  </a:lnTo>
                  <a:lnTo>
                    <a:pt x="203454" y="2380488"/>
                  </a:lnTo>
                  <a:lnTo>
                    <a:pt x="203454" y="2399538"/>
                  </a:lnTo>
                  <a:cubicBezTo>
                    <a:pt x="91186" y="2399538"/>
                    <a:pt x="0" y="2309241"/>
                    <a:pt x="0" y="2197608"/>
                  </a:cubicBezTo>
                  <a:lnTo>
                    <a:pt x="0" y="201930"/>
                  </a:lnTo>
                  <a:lnTo>
                    <a:pt x="19050" y="201930"/>
                  </a:lnTo>
                  <a:lnTo>
                    <a:pt x="0" y="201930"/>
                  </a:lnTo>
                  <a:moveTo>
                    <a:pt x="38100" y="201930"/>
                  </a:moveTo>
                  <a:lnTo>
                    <a:pt x="38100" y="2197608"/>
                  </a:lnTo>
                  <a:lnTo>
                    <a:pt x="19050" y="2197608"/>
                  </a:lnTo>
                  <a:lnTo>
                    <a:pt x="38100" y="2197608"/>
                  </a:lnTo>
                  <a:cubicBezTo>
                    <a:pt x="38100" y="2287905"/>
                    <a:pt x="112014" y="2361438"/>
                    <a:pt x="203454" y="2361438"/>
                  </a:cubicBezTo>
                  <a:lnTo>
                    <a:pt x="4765548" y="2361438"/>
                  </a:lnTo>
                  <a:cubicBezTo>
                    <a:pt x="4856988" y="2361438"/>
                    <a:pt x="4930902" y="2287905"/>
                    <a:pt x="4930902" y="2197608"/>
                  </a:cubicBezTo>
                  <a:lnTo>
                    <a:pt x="4930902" y="201930"/>
                  </a:lnTo>
                  <a:cubicBezTo>
                    <a:pt x="4930902" y="111633"/>
                    <a:pt x="4856988" y="38100"/>
                    <a:pt x="4765548" y="38100"/>
                  </a:cubicBezTo>
                  <a:lnTo>
                    <a:pt x="203454" y="38100"/>
                  </a:lnTo>
                  <a:lnTo>
                    <a:pt x="203454" y="19050"/>
                  </a:lnTo>
                  <a:lnTo>
                    <a:pt x="203454" y="38100"/>
                  </a:lnTo>
                  <a:cubicBezTo>
                    <a:pt x="112014" y="38100"/>
                    <a:pt x="38100" y="111633"/>
                    <a:pt x="38100" y="201930"/>
                  </a:cubicBezTo>
                  <a:close/>
                </a:path>
              </a:pathLst>
            </a:custGeom>
            <a:solidFill>
              <a:srgbClr val="FF7047"/>
            </a:solidFill>
          </p:spPr>
        </p:sp>
      </p:grpSp>
      <p:grpSp>
        <p:nvGrpSpPr>
          <p:cNvPr id="22" name="Group 22"/>
          <p:cNvGrpSpPr/>
          <p:nvPr/>
        </p:nvGrpSpPr>
        <p:grpSpPr>
          <a:xfrm>
            <a:off x="5175942" y="3316767"/>
            <a:ext cx="114300" cy="1771059"/>
            <a:chOff x="0" y="0"/>
            <a:chExt cx="152400" cy="2361413"/>
          </a:xfrm>
        </p:grpSpPr>
        <p:sp>
          <p:nvSpPr>
            <p:cNvPr id="23" name="Freeform 23"/>
            <p:cNvSpPr/>
            <p:nvPr/>
          </p:nvSpPr>
          <p:spPr>
            <a:xfrm>
              <a:off x="0" y="0"/>
              <a:ext cx="152400" cy="2361438"/>
            </a:xfrm>
            <a:custGeom>
              <a:avLst/>
              <a:gdLst/>
              <a:ahLst/>
              <a:cxnLst/>
              <a:rect l="l" t="t" r="r" b="b"/>
              <a:pathLst>
                <a:path w="152400" h="2361438">
                  <a:moveTo>
                    <a:pt x="0" y="76200"/>
                  </a:moveTo>
                  <a:cubicBezTo>
                    <a:pt x="0" y="34163"/>
                    <a:pt x="34163" y="0"/>
                    <a:pt x="76200" y="0"/>
                  </a:cubicBezTo>
                  <a:cubicBezTo>
                    <a:pt x="118237" y="0"/>
                    <a:pt x="152400" y="34163"/>
                    <a:pt x="152400" y="76200"/>
                  </a:cubicBezTo>
                  <a:lnTo>
                    <a:pt x="152400" y="2285238"/>
                  </a:lnTo>
                  <a:cubicBezTo>
                    <a:pt x="152400" y="2327275"/>
                    <a:pt x="118237" y="2361438"/>
                    <a:pt x="76200" y="2361438"/>
                  </a:cubicBezTo>
                  <a:cubicBezTo>
                    <a:pt x="34163" y="2361438"/>
                    <a:pt x="0" y="2327275"/>
                    <a:pt x="0" y="2285238"/>
                  </a:cubicBezTo>
                  <a:close/>
                </a:path>
              </a:pathLst>
            </a:custGeom>
            <a:solidFill>
              <a:srgbClr val="FF7047"/>
            </a:solidFill>
          </p:spPr>
        </p:sp>
      </p:grpSp>
      <p:sp>
        <p:nvSpPr>
          <p:cNvPr id="24" name="TextBox 24"/>
          <p:cNvSpPr txBox="1"/>
          <p:nvPr/>
        </p:nvSpPr>
        <p:spPr>
          <a:xfrm>
            <a:off x="5516461" y="3533461"/>
            <a:ext cx="2471147" cy="318345"/>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Pandas &amp; OpenPyXL</a:t>
            </a:r>
          </a:p>
        </p:txBody>
      </p:sp>
      <p:sp>
        <p:nvSpPr>
          <p:cNvPr id="25" name="TextBox 25"/>
          <p:cNvSpPr txBox="1"/>
          <p:nvPr/>
        </p:nvSpPr>
        <p:spPr>
          <a:xfrm>
            <a:off x="5516461" y="3961638"/>
            <a:ext cx="3160071"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Advanced data manipulation and Excel-based report generation with precision formatting.</a:t>
            </a:r>
          </a:p>
        </p:txBody>
      </p:sp>
      <p:grpSp>
        <p:nvGrpSpPr>
          <p:cNvPr id="26" name="Group 26"/>
          <p:cNvGrpSpPr/>
          <p:nvPr/>
        </p:nvGrpSpPr>
        <p:grpSpPr>
          <a:xfrm>
            <a:off x="1334691" y="5230997"/>
            <a:ext cx="3726656" cy="2108444"/>
            <a:chOff x="0" y="0"/>
            <a:chExt cx="4968875" cy="2811259"/>
          </a:xfrm>
        </p:grpSpPr>
        <p:sp>
          <p:nvSpPr>
            <p:cNvPr id="27" name="Freeform 27"/>
            <p:cNvSpPr/>
            <p:nvPr/>
          </p:nvSpPr>
          <p:spPr>
            <a:xfrm>
              <a:off x="19050" y="19050"/>
              <a:ext cx="4930775" cy="2773172"/>
            </a:xfrm>
            <a:custGeom>
              <a:avLst/>
              <a:gdLst/>
              <a:ahLst/>
              <a:cxnLst/>
              <a:rect l="l" t="t" r="r" b="b"/>
              <a:pathLst>
                <a:path w="4930775" h="2773172">
                  <a:moveTo>
                    <a:pt x="0" y="182880"/>
                  </a:moveTo>
                  <a:cubicBezTo>
                    <a:pt x="0" y="81915"/>
                    <a:pt x="82423" y="0"/>
                    <a:pt x="184023" y="0"/>
                  </a:cubicBezTo>
                  <a:lnTo>
                    <a:pt x="4746752" y="0"/>
                  </a:lnTo>
                  <a:cubicBezTo>
                    <a:pt x="4848352" y="0"/>
                    <a:pt x="4930775" y="81915"/>
                    <a:pt x="4930775" y="182880"/>
                  </a:cubicBezTo>
                  <a:lnTo>
                    <a:pt x="4930775" y="2590292"/>
                  </a:lnTo>
                  <a:cubicBezTo>
                    <a:pt x="4930775" y="2691257"/>
                    <a:pt x="4848352" y="2773172"/>
                    <a:pt x="4746752" y="2773172"/>
                  </a:cubicBezTo>
                  <a:lnTo>
                    <a:pt x="184023" y="2773172"/>
                  </a:lnTo>
                  <a:cubicBezTo>
                    <a:pt x="82423" y="2773172"/>
                    <a:pt x="0" y="2691257"/>
                    <a:pt x="0" y="2590292"/>
                  </a:cubicBezTo>
                  <a:close/>
                </a:path>
              </a:pathLst>
            </a:custGeom>
            <a:solidFill>
              <a:srgbClr val="FFFFFF"/>
            </a:solidFill>
          </p:spPr>
        </p:sp>
        <p:sp>
          <p:nvSpPr>
            <p:cNvPr id="28" name="Freeform 28"/>
            <p:cNvSpPr/>
            <p:nvPr/>
          </p:nvSpPr>
          <p:spPr>
            <a:xfrm>
              <a:off x="0" y="0"/>
              <a:ext cx="4968875" cy="2811272"/>
            </a:xfrm>
            <a:custGeom>
              <a:avLst/>
              <a:gdLst/>
              <a:ahLst/>
              <a:cxnLst/>
              <a:rect l="l" t="t" r="r" b="b"/>
              <a:pathLst>
                <a:path w="4968875" h="2811272">
                  <a:moveTo>
                    <a:pt x="0" y="201930"/>
                  </a:moveTo>
                  <a:cubicBezTo>
                    <a:pt x="0" y="90297"/>
                    <a:pt x="91059" y="0"/>
                    <a:pt x="203073" y="0"/>
                  </a:cubicBezTo>
                  <a:lnTo>
                    <a:pt x="4765802" y="0"/>
                  </a:lnTo>
                  <a:lnTo>
                    <a:pt x="4765802" y="19050"/>
                  </a:lnTo>
                  <a:lnTo>
                    <a:pt x="4765802" y="0"/>
                  </a:lnTo>
                  <a:cubicBezTo>
                    <a:pt x="4877816" y="0"/>
                    <a:pt x="4968875" y="90297"/>
                    <a:pt x="4968875" y="201930"/>
                  </a:cubicBezTo>
                  <a:lnTo>
                    <a:pt x="4949825" y="201930"/>
                  </a:lnTo>
                  <a:lnTo>
                    <a:pt x="4968875" y="201930"/>
                  </a:lnTo>
                  <a:lnTo>
                    <a:pt x="4968875" y="2609342"/>
                  </a:lnTo>
                  <a:lnTo>
                    <a:pt x="4949825" y="2609342"/>
                  </a:lnTo>
                  <a:lnTo>
                    <a:pt x="4968875" y="2609342"/>
                  </a:lnTo>
                  <a:cubicBezTo>
                    <a:pt x="4968875" y="2720975"/>
                    <a:pt x="4877816" y="2811272"/>
                    <a:pt x="4765802" y="2811272"/>
                  </a:cubicBezTo>
                  <a:lnTo>
                    <a:pt x="4765802" y="2792222"/>
                  </a:lnTo>
                  <a:lnTo>
                    <a:pt x="4765802" y="2811272"/>
                  </a:lnTo>
                  <a:lnTo>
                    <a:pt x="203073" y="2811272"/>
                  </a:lnTo>
                  <a:lnTo>
                    <a:pt x="203073" y="2792222"/>
                  </a:lnTo>
                  <a:lnTo>
                    <a:pt x="203073" y="2811272"/>
                  </a:lnTo>
                  <a:cubicBezTo>
                    <a:pt x="91059" y="2811272"/>
                    <a:pt x="0" y="2720975"/>
                    <a:pt x="0" y="2609342"/>
                  </a:cubicBezTo>
                  <a:lnTo>
                    <a:pt x="0" y="201930"/>
                  </a:lnTo>
                  <a:lnTo>
                    <a:pt x="19050" y="201930"/>
                  </a:lnTo>
                  <a:lnTo>
                    <a:pt x="0" y="201930"/>
                  </a:lnTo>
                  <a:moveTo>
                    <a:pt x="38100" y="201930"/>
                  </a:moveTo>
                  <a:lnTo>
                    <a:pt x="38100" y="2609342"/>
                  </a:lnTo>
                  <a:lnTo>
                    <a:pt x="19050" y="2609342"/>
                  </a:lnTo>
                  <a:lnTo>
                    <a:pt x="38100" y="2609342"/>
                  </a:lnTo>
                  <a:cubicBezTo>
                    <a:pt x="38100" y="2699766"/>
                    <a:pt x="111887" y="2773172"/>
                    <a:pt x="203073" y="2773172"/>
                  </a:cubicBezTo>
                  <a:lnTo>
                    <a:pt x="4765802" y="2773172"/>
                  </a:lnTo>
                  <a:cubicBezTo>
                    <a:pt x="4856988" y="2773172"/>
                    <a:pt x="4930775" y="2699766"/>
                    <a:pt x="4930775" y="2609342"/>
                  </a:cubicBezTo>
                  <a:lnTo>
                    <a:pt x="4930775" y="201930"/>
                  </a:lnTo>
                  <a:cubicBezTo>
                    <a:pt x="4930775" y="111506"/>
                    <a:pt x="4856988" y="38100"/>
                    <a:pt x="4765802" y="38100"/>
                  </a:cubicBezTo>
                  <a:lnTo>
                    <a:pt x="203073" y="38100"/>
                  </a:lnTo>
                  <a:lnTo>
                    <a:pt x="203073" y="19050"/>
                  </a:lnTo>
                  <a:lnTo>
                    <a:pt x="203073" y="38100"/>
                  </a:lnTo>
                  <a:cubicBezTo>
                    <a:pt x="111887" y="38100"/>
                    <a:pt x="38100" y="111506"/>
                    <a:pt x="38100" y="201930"/>
                  </a:cubicBezTo>
                  <a:close/>
                </a:path>
              </a:pathLst>
            </a:custGeom>
            <a:solidFill>
              <a:srgbClr val="FF7047"/>
            </a:solidFill>
          </p:spPr>
        </p:sp>
      </p:grpSp>
      <p:grpSp>
        <p:nvGrpSpPr>
          <p:cNvPr id="29" name="Group 29"/>
          <p:cNvGrpSpPr/>
          <p:nvPr/>
        </p:nvGrpSpPr>
        <p:grpSpPr>
          <a:xfrm>
            <a:off x="1320403" y="5245284"/>
            <a:ext cx="114300" cy="2079869"/>
            <a:chOff x="0" y="0"/>
            <a:chExt cx="152400" cy="2773159"/>
          </a:xfrm>
        </p:grpSpPr>
        <p:sp>
          <p:nvSpPr>
            <p:cNvPr id="30" name="Freeform 30"/>
            <p:cNvSpPr/>
            <p:nvPr/>
          </p:nvSpPr>
          <p:spPr>
            <a:xfrm>
              <a:off x="0" y="0"/>
              <a:ext cx="152400" cy="2773172"/>
            </a:xfrm>
            <a:custGeom>
              <a:avLst/>
              <a:gdLst/>
              <a:ahLst/>
              <a:cxnLst/>
              <a:rect l="l" t="t" r="r" b="b"/>
              <a:pathLst>
                <a:path w="152400" h="2773172">
                  <a:moveTo>
                    <a:pt x="0" y="76200"/>
                  </a:moveTo>
                  <a:cubicBezTo>
                    <a:pt x="0" y="34163"/>
                    <a:pt x="34163" y="0"/>
                    <a:pt x="76200" y="0"/>
                  </a:cubicBezTo>
                  <a:cubicBezTo>
                    <a:pt x="118237" y="0"/>
                    <a:pt x="152400" y="34163"/>
                    <a:pt x="152400" y="76200"/>
                  </a:cubicBezTo>
                  <a:lnTo>
                    <a:pt x="152400" y="2696972"/>
                  </a:lnTo>
                  <a:cubicBezTo>
                    <a:pt x="152400" y="2739009"/>
                    <a:pt x="118237" y="2773172"/>
                    <a:pt x="76200" y="2773172"/>
                  </a:cubicBezTo>
                  <a:cubicBezTo>
                    <a:pt x="34163" y="2773172"/>
                    <a:pt x="0" y="2739009"/>
                    <a:pt x="0" y="2696972"/>
                  </a:cubicBezTo>
                  <a:close/>
                </a:path>
              </a:pathLst>
            </a:custGeom>
            <a:solidFill>
              <a:srgbClr val="FF7047"/>
            </a:solidFill>
          </p:spPr>
        </p:sp>
      </p:grpSp>
      <p:sp>
        <p:nvSpPr>
          <p:cNvPr id="31" name="TextBox 31"/>
          <p:cNvSpPr txBox="1"/>
          <p:nvPr/>
        </p:nvSpPr>
        <p:spPr>
          <a:xfrm>
            <a:off x="1660922" y="5461978"/>
            <a:ext cx="2471147" cy="318345"/>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Selenium</a:t>
            </a:r>
          </a:p>
        </p:txBody>
      </p:sp>
      <p:sp>
        <p:nvSpPr>
          <p:cNvPr id="32" name="TextBox 32"/>
          <p:cNvSpPr txBox="1"/>
          <p:nvPr/>
        </p:nvSpPr>
        <p:spPr>
          <a:xfrm>
            <a:off x="1660922" y="5890155"/>
            <a:ext cx="3159919"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Browser automation for seamless dashboard interaction and data synchronization.</a:t>
            </a:r>
          </a:p>
        </p:txBody>
      </p:sp>
      <p:grpSp>
        <p:nvGrpSpPr>
          <p:cNvPr id="33" name="Group 33"/>
          <p:cNvGrpSpPr/>
          <p:nvPr/>
        </p:nvGrpSpPr>
        <p:grpSpPr>
          <a:xfrm>
            <a:off x="5190230" y="5230997"/>
            <a:ext cx="3726809" cy="2108444"/>
            <a:chOff x="0" y="0"/>
            <a:chExt cx="4969078" cy="2811259"/>
          </a:xfrm>
        </p:grpSpPr>
        <p:sp>
          <p:nvSpPr>
            <p:cNvPr id="34" name="Freeform 34"/>
            <p:cNvSpPr/>
            <p:nvPr/>
          </p:nvSpPr>
          <p:spPr>
            <a:xfrm>
              <a:off x="19050" y="19050"/>
              <a:ext cx="4931029" cy="2773172"/>
            </a:xfrm>
            <a:custGeom>
              <a:avLst/>
              <a:gdLst/>
              <a:ahLst/>
              <a:cxnLst/>
              <a:rect l="l" t="t" r="r" b="b"/>
              <a:pathLst>
                <a:path w="4931029" h="2773172">
                  <a:moveTo>
                    <a:pt x="0" y="182880"/>
                  </a:moveTo>
                  <a:cubicBezTo>
                    <a:pt x="0" y="81915"/>
                    <a:pt x="82423" y="0"/>
                    <a:pt x="184023" y="0"/>
                  </a:cubicBezTo>
                  <a:lnTo>
                    <a:pt x="4747006" y="0"/>
                  </a:lnTo>
                  <a:cubicBezTo>
                    <a:pt x="4848606" y="0"/>
                    <a:pt x="4931029" y="81915"/>
                    <a:pt x="4931029" y="182880"/>
                  </a:cubicBezTo>
                  <a:lnTo>
                    <a:pt x="4931029" y="2590292"/>
                  </a:lnTo>
                  <a:cubicBezTo>
                    <a:pt x="4931029" y="2691257"/>
                    <a:pt x="4848606" y="2773172"/>
                    <a:pt x="4747006" y="2773172"/>
                  </a:cubicBezTo>
                  <a:lnTo>
                    <a:pt x="184023" y="2773172"/>
                  </a:lnTo>
                  <a:cubicBezTo>
                    <a:pt x="82423" y="2773172"/>
                    <a:pt x="0" y="2691257"/>
                    <a:pt x="0" y="2590292"/>
                  </a:cubicBezTo>
                  <a:close/>
                </a:path>
              </a:pathLst>
            </a:custGeom>
            <a:solidFill>
              <a:srgbClr val="FFFFFF"/>
            </a:solidFill>
          </p:spPr>
        </p:sp>
        <p:sp>
          <p:nvSpPr>
            <p:cNvPr id="35" name="Freeform 35"/>
            <p:cNvSpPr/>
            <p:nvPr/>
          </p:nvSpPr>
          <p:spPr>
            <a:xfrm>
              <a:off x="0" y="0"/>
              <a:ext cx="4969129" cy="2811272"/>
            </a:xfrm>
            <a:custGeom>
              <a:avLst/>
              <a:gdLst/>
              <a:ahLst/>
              <a:cxnLst/>
              <a:rect l="l" t="t" r="r" b="b"/>
              <a:pathLst>
                <a:path w="4969129" h="2811272">
                  <a:moveTo>
                    <a:pt x="0" y="201930"/>
                  </a:moveTo>
                  <a:cubicBezTo>
                    <a:pt x="0" y="90297"/>
                    <a:pt x="91059" y="0"/>
                    <a:pt x="203073" y="0"/>
                  </a:cubicBezTo>
                  <a:lnTo>
                    <a:pt x="4766056" y="0"/>
                  </a:lnTo>
                  <a:lnTo>
                    <a:pt x="4766056" y="19050"/>
                  </a:lnTo>
                  <a:lnTo>
                    <a:pt x="4766056" y="0"/>
                  </a:lnTo>
                  <a:cubicBezTo>
                    <a:pt x="4878070" y="0"/>
                    <a:pt x="4969129" y="90297"/>
                    <a:pt x="4969129" y="201930"/>
                  </a:cubicBezTo>
                  <a:lnTo>
                    <a:pt x="4950079" y="201930"/>
                  </a:lnTo>
                  <a:lnTo>
                    <a:pt x="4969129" y="201930"/>
                  </a:lnTo>
                  <a:lnTo>
                    <a:pt x="4969129" y="2609342"/>
                  </a:lnTo>
                  <a:lnTo>
                    <a:pt x="4950079" y="2609342"/>
                  </a:lnTo>
                  <a:lnTo>
                    <a:pt x="4969129" y="2609342"/>
                  </a:lnTo>
                  <a:cubicBezTo>
                    <a:pt x="4969129" y="2720975"/>
                    <a:pt x="4878070" y="2811272"/>
                    <a:pt x="4766056" y="2811272"/>
                  </a:cubicBezTo>
                  <a:lnTo>
                    <a:pt x="4766056" y="2792222"/>
                  </a:lnTo>
                  <a:lnTo>
                    <a:pt x="4766056" y="2811272"/>
                  </a:lnTo>
                  <a:lnTo>
                    <a:pt x="203073" y="2811272"/>
                  </a:lnTo>
                  <a:lnTo>
                    <a:pt x="203073" y="2792222"/>
                  </a:lnTo>
                  <a:lnTo>
                    <a:pt x="203073" y="2811272"/>
                  </a:lnTo>
                  <a:cubicBezTo>
                    <a:pt x="91059" y="2811272"/>
                    <a:pt x="0" y="2720975"/>
                    <a:pt x="0" y="2609342"/>
                  </a:cubicBezTo>
                  <a:lnTo>
                    <a:pt x="0" y="201930"/>
                  </a:lnTo>
                  <a:lnTo>
                    <a:pt x="19050" y="201930"/>
                  </a:lnTo>
                  <a:lnTo>
                    <a:pt x="0" y="201930"/>
                  </a:lnTo>
                  <a:moveTo>
                    <a:pt x="38100" y="201930"/>
                  </a:moveTo>
                  <a:lnTo>
                    <a:pt x="38100" y="2609342"/>
                  </a:lnTo>
                  <a:lnTo>
                    <a:pt x="19050" y="2609342"/>
                  </a:lnTo>
                  <a:lnTo>
                    <a:pt x="38100" y="2609342"/>
                  </a:lnTo>
                  <a:cubicBezTo>
                    <a:pt x="38100" y="2699766"/>
                    <a:pt x="111887" y="2773172"/>
                    <a:pt x="203073" y="2773172"/>
                  </a:cubicBezTo>
                  <a:lnTo>
                    <a:pt x="4766056" y="2773172"/>
                  </a:lnTo>
                  <a:cubicBezTo>
                    <a:pt x="4857242" y="2773172"/>
                    <a:pt x="4931029" y="2699766"/>
                    <a:pt x="4931029" y="2609342"/>
                  </a:cubicBezTo>
                  <a:lnTo>
                    <a:pt x="4931029" y="201930"/>
                  </a:lnTo>
                  <a:cubicBezTo>
                    <a:pt x="4931029" y="111506"/>
                    <a:pt x="4857242" y="38100"/>
                    <a:pt x="4766056" y="38100"/>
                  </a:cubicBezTo>
                  <a:lnTo>
                    <a:pt x="203073" y="38100"/>
                  </a:lnTo>
                  <a:lnTo>
                    <a:pt x="203073" y="19050"/>
                  </a:lnTo>
                  <a:lnTo>
                    <a:pt x="203073" y="38100"/>
                  </a:lnTo>
                  <a:cubicBezTo>
                    <a:pt x="111887" y="38100"/>
                    <a:pt x="38100" y="111506"/>
                    <a:pt x="38100" y="201930"/>
                  </a:cubicBezTo>
                  <a:close/>
                </a:path>
              </a:pathLst>
            </a:custGeom>
            <a:solidFill>
              <a:srgbClr val="FF7047"/>
            </a:solidFill>
          </p:spPr>
        </p:sp>
      </p:grpSp>
      <p:grpSp>
        <p:nvGrpSpPr>
          <p:cNvPr id="36" name="Group 36"/>
          <p:cNvGrpSpPr/>
          <p:nvPr/>
        </p:nvGrpSpPr>
        <p:grpSpPr>
          <a:xfrm>
            <a:off x="5175942" y="5245284"/>
            <a:ext cx="114300" cy="2079869"/>
            <a:chOff x="0" y="0"/>
            <a:chExt cx="152400" cy="2773159"/>
          </a:xfrm>
        </p:grpSpPr>
        <p:sp>
          <p:nvSpPr>
            <p:cNvPr id="37" name="Freeform 37"/>
            <p:cNvSpPr/>
            <p:nvPr/>
          </p:nvSpPr>
          <p:spPr>
            <a:xfrm>
              <a:off x="0" y="0"/>
              <a:ext cx="152400" cy="2773172"/>
            </a:xfrm>
            <a:custGeom>
              <a:avLst/>
              <a:gdLst/>
              <a:ahLst/>
              <a:cxnLst/>
              <a:rect l="l" t="t" r="r" b="b"/>
              <a:pathLst>
                <a:path w="152400" h="2773172">
                  <a:moveTo>
                    <a:pt x="0" y="76200"/>
                  </a:moveTo>
                  <a:cubicBezTo>
                    <a:pt x="0" y="34163"/>
                    <a:pt x="34163" y="0"/>
                    <a:pt x="76200" y="0"/>
                  </a:cubicBezTo>
                  <a:cubicBezTo>
                    <a:pt x="118237" y="0"/>
                    <a:pt x="152400" y="34163"/>
                    <a:pt x="152400" y="76200"/>
                  </a:cubicBezTo>
                  <a:lnTo>
                    <a:pt x="152400" y="2696972"/>
                  </a:lnTo>
                  <a:cubicBezTo>
                    <a:pt x="152400" y="2739009"/>
                    <a:pt x="118237" y="2773172"/>
                    <a:pt x="76200" y="2773172"/>
                  </a:cubicBezTo>
                  <a:cubicBezTo>
                    <a:pt x="34163" y="2773172"/>
                    <a:pt x="0" y="2739009"/>
                    <a:pt x="0" y="2696972"/>
                  </a:cubicBezTo>
                  <a:close/>
                </a:path>
              </a:pathLst>
            </a:custGeom>
            <a:solidFill>
              <a:srgbClr val="FF7047"/>
            </a:solidFill>
          </p:spPr>
        </p:sp>
      </p:grpSp>
      <p:sp>
        <p:nvSpPr>
          <p:cNvPr id="38" name="TextBox 38"/>
          <p:cNvSpPr txBox="1"/>
          <p:nvPr/>
        </p:nvSpPr>
        <p:spPr>
          <a:xfrm>
            <a:off x="5516461" y="5461978"/>
            <a:ext cx="3160071" cy="627164"/>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FastAPI &amp; Google Drive API</a:t>
            </a:r>
          </a:p>
        </p:txBody>
      </p:sp>
      <p:sp>
        <p:nvSpPr>
          <p:cNvPr id="39" name="TextBox 39"/>
          <p:cNvSpPr txBox="1"/>
          <p:nvPr/>
        </p:nvSpPr>
        <p:spPr>
          <a:xfrm>
            <a:off x="5516461" y="6198975"/>
            <a:ext cx="3160071"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RESTful API layer and cloud storage integration for real-time data exchange.</a:t>
            </a:r>
          </a:p>
        </p:txBody>
      </p:sp>
      <p:grpSp>
        <p:nvGrpSpPr>
          <p:cNvPr id="40" name="Group 40"/>
          <p:cNvGrpSpPr/>
          <p:nvPr/>
        </p:nvGrpSpPr>
        <p:grpSpPr>
          <a:xfrm>
            <a:off x="1334691" y="7468324"/>
            <a:ext cx="3726656" cy="2108444"/>
            <a:chOff x="0" y="0"/>
            <a:chExt cx="4968875" cy="2811259"/>
          </a:xfrm>
        </p:grpSpPr>
        <p:sp>
          <p:nvSpPr>
            <p:cNvPr id="41" name="Freeform 41"/>
            <p:cNvSpPr/>
            <p:nvPr/>
          </p:nvSpPr>
          <p:spPr>
            <a:xfrm>
              <a:off x="19050" y="19050"/>
              <a:ext cx="4930775" cy="2773172"/>
            </a:xfrm>
            <a:custGeom>
              <a:avLst/>
              <a:gdLst/>
              <a:ahLst/>
              <a:cxnLst/>
              <a:rect l="l" t="t" r="r" b="b"/>
              <a:pathLst>
                <a:path w="4930775" h="2773172">
                  <a:moveTo>
                    <a:pt x="0" y="182880"/>
                  </a:moveTo>
                  <a:cubicBezTo>
                    <a:pt x="0" y="81915"/>
                    <a:pt x="82423" y="0"/>
                    <a:pt x="184023" y="0"/>
                  </a:cubicBezTo>
                  <a:lnTo>
                    <a:pt x="4746752" y="0"/>
                  </a:lnTo>
                  <a:cubicBezTo>
                    <a:pt x="4848352" y="0"/>
                    <a:pt x="4930775" y="81915"/>
                    <a:pt x="4930775" y="182880"/>
                  </a:cubicBezTo>
                  <a:lnTo>
                    <a:pt x="4930775" y="2590292"/>
                  </a:lnTo>
                  <a:cubicBezTo>
                    <a:pt x="4930775" y="2691257"/>
                    <a:pt x="4848352" y="2773172"/>
                    <a:pt x="4746752" y="2773172"/>
                  </a:cubicBezTo>
                  <a:lnTo>
                    <a:pt x="184023" y="2773172"/>
                  </a:lnTo>
                  <a:cubicBezTo>
                    <a:pt x="82423" y="2773172"/>
                    <a:pt x="0" y="2691257"/>
                    <a:pt x="0" y="2590292"/>
                  </a:cubicBezTo>
                  <a:close/>
                </a:path>
              </a:pathLst>
            </a:custGeom>
            <a:solidFill>
              <a:srgbClr val="FFFFFF"/>
            </a:solidFill>
          </p:spPr>
        </p:sp>
        <p:sp>
          <p:nvSpPr>
            <p:cNvPr id="42" name="Freeform 42"/>
            <p:cNvSpPr/>
            <p:nvPr/>
          </p:nvSpPr>
          <p:spPr>
            <a:xfrm>
              <a:off x="0" y="0"/>
              <a:ext cx="4968875" cy="2811272"/>
            </a:xfrm>
            <a:custGeom>
              <a:avLst/>
              <a:gdLst/>
              <a:ahLst/>
              <a:cxnLst/>
              <a:rect l="l" t="t" r="r" b="b"/>
              <a:pathLst>
                <a:path w="4968875" h="2811272">
                  <a:moveTo>
                    <a:pt x="0" y="201930"/>
                  </a:moveTo>
                  <a:cubicBezTo>
                    <a:pt x="0" y="90297"/>
                    <a:pt x="91059" y="0"/>
                    <a:pt x="203073" y="0"/>
                  </a:cubicBezTo>
                  <a:lnTo>
                    <a:pt x="4765802" y="0"/>
                  </a:lnTo>
                  <a:lnTo>
                    <a:pt x="4765802" y="19050"/>
                  </a:lnTo>
                  <a:lnTo>
                    <a:pt x="4765802" y="0"/>
                  </a:lnTo>
                  <a:cubicBezTo>
                    <a:pt x="4877816" y="0"/>
                    <a:pt x="4968875" y="90297"/>
                    <a:pt x="4968875" y="201930"/>
                  </a:cubicBezTo>
                  <a:lnTo>
                    <a:pt x="4949825" y="201930"/>
                  </a:lnTo>
                  <a:lnTo>
                    <a:pt x="4968875" y="201930"/>
                  </a:lnTo>
                  <a:lnTo>
                    <a:pt x="4968875" y="2609342"/>
                  </a:lnTo>
                  <a:lnTo>
                    <a:pt x="4949825" y="2609342"/>
                  </a:lnTo>
                  <a:lnTo>
                    <a:pt x="4968875" y="2609342"/>
                  </a:lnTo>
                  <a:cubicBezTo>
                    <a:pt x="4968875" y="2720975"/>
                    <a:pt x="4877816" y="2811272"/>
                    <a:pt x="4765802" y="2811272"/>
                  </a:cubicBezTo>
                  <a:lnTo>
                    <a:pt x="4765802" y="2792222"/>
                  </a:lnTo>
                  <a:lnTo>
                    <a:pt x="4765802" y="2811272"/>
                  </a:lnTo>
                  <a:lnTo>
                    <a:pt x="203073" y="2811272"/>
                  </a:lnTo>
                  <a:lnTo>
                    <a:pt x="203073" y="2792222"/>
                  </a:lnTo>
                  <a:lnTo>
                    <a:pt x="203073" y="2811272"/>
                  </a:lnTo>
                  <a:cubicBezTo>
                    <a:pt x="91059" y="2811272"/>
                    <a:pt x="0" y="2720975"/>
                    <a:pt x="0" y="2609342"/>
                  </a:cubicBezTo>
                  <a:lnTo>
                    <a:pt x="0" y="201930"/>
                  </a:lnTo>
                  <a:lnTo>
                    <a:pt x="19050" y="201930"/>
                  </a:lnTo>
                  <a:lnTo>
                    <a:pt x="0" y="201930"/>
                  </a:lnTo>
                  <a:moveTo>
                    <a:pt x="38100" y="201930"/>
                  </a:moveTo>
                  <a:lnTo>
                    <a:pt x="38100" y="2609342"/>
                  </a:lnTo>
                  <a:lnTo>
                    <a:pt x="19050" y="2609342"/>
                  </a:lnTo>
                  <a:lnTo>
                    <a:pt x="38100" y="2609342"/>
                  </a:lnTo>
                  <a:cubicBezTo>
                    <a:pt x="38100" y="2699766"/>
                    <a:pt x="111887" y="2773172"/>
                    <a:pt x="203073" y="2773172"/>
                  </a:cubicBezTo>
                  <a:lnTo>
                    <a:pt x="4765802" y="2773172"/>
                  </a:lnTo>
                  <a:cubicBezTo>
                    <a:pt x="4856988" y="2773172"/>
                    <a:pt x="4930775" y="2699766"/>
                    <a:pt x="4930775" y="2609342"/>
                  </a:cubicBezTo>
                  <a:lnTo>
                    <a:pt x="4930775" y="201930"/>
                  </a:lnTo>
                  <a:cubicBezTo>
                    <a:pt x="4930775" y="111506"/>
                    <a:pt x="4856988" y="38100"/>
                    <a:pt x="4765802" y="38100"/>
                  </a:cubicBezTo>
                  <a:lnTo>
                    <a:pt x="203073" y="38100"/>
                  </a:lnTo>
                  <a:lnTo>
                    <a:pt x="203073" y="19050"/>
                  </a:lnTo>
                  <a:lnTo>
                    <a:pt x="203073" y="38100"/>
                  </a:lnTo>
                  <a:cubicBezTo>
                    <a:pt x="111887" y="38100"/>
                    <a:pt x="38100" y="111506"/>
                    <a:pt x="38100" y="201930"/>
                  </a:cubicBezTo>
                  <a:close/>
                </a:path>
              </a:pathLst>
            </a:custGeom>
            <a:solidFill>
              <a:srgbClr val="FF7047"/>
            </a:solidFill>
          </p:spPr>
        </p:sp>
      </p:grpSp>
      <p:grpSp>
        <p:nvGrpSpPr>
          <p:cNvPr id="43" name="Group 43"/>
          <p:cNvGrpSpPr/>
          <p:nvPr/>
        </p:nvGrpSpPr>
        <p:grpSpPr>
          <a:xfrm>
            <a:off x="1320403" y="7482611"/>
            <a:ext cx="114300" cy="2079869"/>
            <a:chOff x="0" y="0"/>
            <a:chExt cx="152400" cy="2773159"/>
          </a:xfrm>
        </p:grpSpPr>
        <p:sp>
          <p:nvSpPr>
            <p:cNvPr id="44" name="Freeform 44"/>
            <p:cNvSpPr/>
            <p:nvPr/>
          </p:nvSpPr>
          <p:spPr>
            <a:xfrm>
              <a:off x="0" y="0"/>
              <a:ext cx="152400" cy="2773172"/>
            </a:xfrm>
            <a:custGeom>
              <a:avLst/>
              <a:gdLst/>
              <a:ahLst/>
              <a:cxnLst/>
              <a:rect l="l" t="t" r="r" b="b"/>
              <a:pathLst>
                <a:path w="152400" h="2773172">
                  <a:moveTo>
                    <a:pt x="0" y="76200"/>
                  </a:moveTo>
                  <a:cubicBezTo>
                    <a:pt x="0" y="34163"/>
                    <a:pt x="34163" y="0"/>
                    <a:pt x="76200" y="0"/>
                  </a:cubicBezTo>
                  <a:cubicBezTo>
                    <a:pt x="118237" y="0"/>
                    <a:pt x="152400" y="34163"/>
                    <a:pt x="152400" y="76200"/>
                  </a:cubicBezTo>
                  <a:lnTo>
                    <a:pt x="152400" y="2696972"/>
                  </a:lnTo>
                  <a:cubicBezTo>
                    <a:pt x="152400" y="2739009"/>
                    <a:pt x="118237" y="2773172"/>
                    <a:pt x="76200" y="2773172"/>
                  </a:cubicBezTo>
                  <a:cubicBezTo>
                    <a:pt x="34163" y="2773172"/>
                    <a:pt x="0" y="2739009"/>
                    <a:pt x="0" y="2696972"/>
                  </a:cubicBezTo>
                  <a:close/>
                </a:path>
              </a:pathLst>
            </a:custGeom>
            <a:solidFill>
              <a:srgbClr val="FF7047"/>
            </a:solidFill>
          </p:spPr>
        </p:sp>
      </p:grpSp>
      <p:sp>
        <p:nvSpPr>
          <p:cNvPr id="45" name="TextBox 45"/>
          <p:cNvSpPr txBox="1"/>
          <p:nvPr/>
        </p:nvSpPr>
        <p:spPr>
          <a:xfrm>
            <a:off x="1660922" y="7699305"/>
            <a:ext cx="3159919" cy="627164"/>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JSON Configuration &amp; Threaded Workers</a:t>
            </a:r>
          </a:p>
        </p:txBody>
      </p:sp>
      <p:sp>
        <p:nvSpPr>
          <p:cNvPr id="46" name="TextBox 46"/>
          <p:cNvSpPr txBox="1"/>
          <p:nvPr/>
        </p:nvSpPr>
        <p:spPr>
          <a:xfrm>
            <a:off x="1660922" y="8436302"/>
            <a:ext cx="3159919"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Flexible system configuration and parallel processing for high-throughput automation.</a:t>
            </a:r>
          </a:p>
        </p:txBody>
      </p:sp>
      <p:sp>
        <p:nvSpPr>
          <p:cNvPr id="47" name="TextBox 47"/>
          <p:cNvSpPr txBox="1"/>
          <p:nvPr/>
        </p:nvSpPr>
        <p:spPr>
          <a:xfrm>
            <a:off x="9394479" y="2844066"/>
            <a:ext cx="3471863" cy="295594"/>
          </a:xfrm>
          <a:prstGeom prst="rect">
            <a:avLst/>
          </a:prstGeom>
        </p:spPr>
        <p:txBody>
          <a:bodyPr wrap="square" lIns="0" tIns="0" rIns="0" bIns="0" rtlCol="0" anchor="t">
            <a:spAutoFit/>
          </a:bodyPr>
          <a:lstStyle/>
          <a:p>
            <a:pPr algn="l">
              <a:lnSpc>
                <a:spcPts val="2375"/>
              </a:lnSpc>
            </a:pPr>
            <a:r>
              <a:rPr lang="en-US" sz="1937" b="1" spc="7" dirty="0">
                <a:solidFill>
                  <a:srgbClr val="000000"/>
                </a:solidFill>
                <a:latin typeface="Merriweather Sans Bold"/>
                <a:ea typeface="Merriweather Sans Bold"/>
                <a:cs typeface="Merriweather Sans Bold"/>
                <a:sym typeface="Merriweather Sans Bold"/>
              </a:rPr>
              <a:t>System Capability Layers</a:t>
            </a:r>
          </a:p>
        </p:txBody>
      </p:sp>
      <p:grpSp>
        <p:nvGrpSpPr>
          <p:cNvPr id="48" name="Group 48"/>
          <p:cNvGrpSpPr/>
          <p:nvPr/>
        </p:nvGrpSpPr>
        <p:grpSpPr>
          <a:xfrm>
            <a:off x="9389716" y="3312004"/>
            <a:ext cx="3707606" cy="1742484"/>
            <a:chOff x="0" y="0"/>
            <a:chExt cx="4943475" cy="2323313"/>
          </a:xfrm>
        </p:grpSpPr>
        <p:sp>
          <p:nvSpPr>
            <p:cNvPr id="49" name="Freeform 49"/>
            <p:cNvSpPr/>
            <p:nvPr/>
          </p:nvSpPr>
          <p:spPr>
            <a:xfrm>
              <a:off x="6350" y="6350"/>
              <a:ext cx="4930775" cy="2310638"/>
            </a:xfrm>
            <a:custGeom>
              <a:avLst/>
              <a:gdLst/>
              <a:ahLst/>
              <a:cxnLst/>
              <a:rect l="l" t="t" r="r" b="b"/>
              <a:pathLst>
                <a:path w="4930775" h="2310638">
                  <a:moveTo>
                    <a:pt x="0" y="237236"/>
                  </a:moveTo>
                  <a:cubicBezTo>
                    <a:pt x="0" y="106172"/>
                    <a:pt x="106553" y="0"/>
                    <a:pt x="237871" y="0"/>
                  </a:cubicBezTo>
                  <a:lnTo>
                    <a:pt x="4692904" y="0"/>
                  </a:lnTo>
                  <a:cubicBezTo>
                    <a:pt x="4824349" y="0"/>
                    <a:pt x="4930775" y="106172"/>
                    <a:pt x="4930775" y="237236"/>
                  </a:cubicBezTo>
                  <a:lnTo>
                    <a:pt x="4930775" y="2073402"/>
                  </a:lnTo>
                  <a:cubicBezTo>
                    <a:pt x="4930775" y="2204466"/>
                    <a:pt x="4824222" y="2310638"/>
                    <a:pt x="4692904" y="2310638"/>
                  </a:cubicBezTo>
                  <a:lnTo>
                    <a:pt x="237871" y="2310638"/>
                  </a:lnTo>
                  <a:cubicBezTo>
                    <a:pt x="106553" y="2310638"/>
                    <a:pt x="0" y="2204339"/>
                    <a:pt x="0" y="2073402"/>
                  </a:cubicBezTo>
                  <a:close/>
                </a:path>
              </a:pathLst>
            </a:custGeom>
            <a:solidFill>
              <a:srgbClr val="FFFFFF"/>
            </a:solidFill>
          </p:spPr>
        </p:sp>
        <p:sp>
          <p:nvSpPr>
            <p:cNvPr id="50" name="Freeform 50"/>
            <p:cNvSpPr/>
            <p:nvPr/>
          </p:nvSpPr>
          <p:spPr>
            <a:xfrm>
              <a:off x="0" y="0"/>
              <a:ext cx="4943475" cy="2323338"/>
            </a:xfrm>
            <a:custGeom>
              <a:avLst/>
              <a:gdLst/>
              <a:ahLst/>
              <a:cxnLst/>
              <a:rect l="l" t="t" r="r" b="b"/>
              <a:pathLst>
                <a:path w="4943475" h="2323338">
                  <a:moveTo>
                    <a:pt x="0" y="243586"/>
                  </a:moveTo>
                  <a:cubicBezTo>
                    <a:pt x="0" y="109093"/>
                    <a:pt x="109347" y="0"/>
                    <a:pt x="244221" y="0"/>
                  </a:cubicBezTo>
                  <a:lnTo>
                    <a:pt x="4699254" y="0"/>
                  </a:lnTo>
                  <a:lnTo>
                    <a:pt x="4699254" y="6350"/>
                  </a:lnTo>
                  <a:lnTo>
                    <a:pt x="4699254" y="0"/>
                  </a:lnTo>
                  <a:cubicBezTo>
                    <a:pt x="4834128" y="0"/>
                    <a:pt x="4943475" y="109093"/>
                    <a:pt x="4943475" y="243586"/>
                  </a:cubicBezTo>
                  <a:lnTo>
                    <a:pt x="4937125" y="243586"/>
                  </a:lnTo>
                  <a:lnTo>
                    <a:pt x="4943475" y="243586"/>
                  </a:lnTo>
                  <a:lnTo>
                    <a:pt x="4943475" y="2079752"/>
                  </a:lnTo>
                  <a:lnTo>
                    <a:pt x="4937125" y="2079752"/>
                  </a:lnTo>
                  <a:lnTo>
                    <a:pt x="4943475" y="2079752"/>
                  </a:lnTo>
                  <a:cubicBezTo>
                    <a:pt x="4943475" y="2214245"/>
                    <a:pt x="4834128" y="2323338"/>
                    <a:pt x="4699254" y="2323338"/>
                  </a:cubicBezTo>
                  <a:lnTo>
                    <a:pt x="4699254" y="2316988"/>
                  </a:lnTo>
                  <a:lnTo>
                    <a:pt x="4699254" y="2323338"/>
                  </a:lnTo>
                  <a:lnTo>
                    <a:pt x="244221" y="2323338"/>
                  </a:lnTo>
                  <a:lnTo>
                    <a:pt x="244221" y="2316988"/>
                  </a:lnTo>
                  <a:lnTo>
                    <a:pt x="244221" y="2323338"/>
                  </a:lnTo>
                  <a:cubicBezTo>
                    <a:pt x="109347" y="2323338"/>
                    <a:pt x="0" y="2214245"/>
                    <a:pt x="0" y="2079752"/>
                  </a:cubicBezTo>
                  <a:lnTo>
                    <a:pt x="0" y="243586"/>
                  </a:lnTo>
                  <a:lnTo>
                    <a:pt x="6350" y="243586"/>
                  </a:lnTo>
                  <a:lnTo>
                    <a:pt x="0" y="243586"/>
                  </a:lnTo>
                  <a:moveTo>
                    <a:pt x="12700" y="243586"/>
                  </a:moveTo>
                  <a:lnTo>
                    <a:pt x="12700" y="2079752"/>
                  </a:lnTo>
                  <a:lnTo>
                    <a:pt x="6350" y="2079752"/>
                  </a:lnTo>
                  <a:lnTo>
                    <a:pt x="12700" y="2079752"/>
                  </a:lnTo>
                  <a:cubicBezTo>
                    <a:pt x="12700" y="2207260"/>
                    <a:pt x="116332" y="2310638"/>
                    <a:pt x="244221" y="2310638"/>
                  </a:cubicBezTo>
                  <a:lnTo>
                    <a:pt x="4699254" y="2310638"/>
                  </a:lnTo>
                  <a:cubicBezTo>
                    <a:pt x="4827143" y="2310638"/>
                    <a:pt x="4930775" y="2207260"/>
                    <a:pt x="4930775" y="2079752"/>
                  </a:cubicBezTo>
                  <a:lnTo>
                    <a:pt x="4930775" y="243586"/>
                  </a:lnTo>
                  <a:cubicBezTo>
                    <a:pt x="4930775" y="116078"/>
                    <a:pt x="4827143" y="12700"/>
                    <a:pt x="4699254" y="12700"/>
                  </a:cubicBezTo>
                  <a:lnTo>
                    <a:pt x="244221" y="12700"/>
                  </a:lnTo>
                  <a:lnTo>
                    <a:pt x="244221" y="6350"/>
                  </a:lnTo>
                  <a:lnTo>
                    <a:pt x="244221" y="12700"/>
                  </a:lnTo>
                  <a:cubicBezTo>
                    <a:pt x="116332" y="12700"/>
                    <a:pt x="12700" y="116078"/>
                    <a:pt x="12700" y="243586"/>
                  </a:cubicBezTo>
                  <a:close/>
                </a:path>
              </a:pathLst>
            </a:custGeom>
            <a:solidFill>
              <a:srgbClr val="FF7047"/>
            </a:solidFill>
          </p:spPr>
        </p:sp>
      </p:grpSp>
      <p:sp>
        <p:nvSpPr>
          <p:cNvPr id="51" name="TextBox 51"/>
          <p:cNvSpPr txBox="1"/>
          <p:nvPr/>
        </p:nvSpPr>
        <p:spPr>
          <a:xfrm>
            <a:off x="9601648" y="3514411"/>
            <a:ext cx="2471147" cy="318345"/>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Data Ingestion</a:t>
            </a:r>
          </a:p>
        </p:txBody>
      </p:sp>
      <p:sp>
        <p:nvSpPr>
          <p:cNvPr id="52" name="TextBox 52"/>
          <p:cNvSpPr txBox="1"/>
          <p:nvPr/>
        </p:nvSpPr>
        <p:spPr>
          <a:xfrm>
            <a:off x="9601648" y="3942588"/>
            <a:ext cx="3283744"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Raw biometric device data is ingested, validated, and preprocessed automatically.</a:t>
            </a:r>
          </a:p>
        </p:txBody>
      </p:sp>
      <p:grpSp>
        <p:nvGrpSpPr>
          <p:cNvPr id="53" name="Group 53"/>
          <p:cNvGrpSpPr/>
          <p:nvPr/>
        </p:nvGrpSpPr>
        <p:grpSpPr>
          <a:xfrm>
            <a:off x="13245255" y="3312004"/>
            <a:ext cx="3707759" cy="1742484"/>
            <a:chOff x="0" y="0"/>
            <a:chExt cx="4943678" cy="2323313"/>
          </a:xfrm>
        </p:grpSpPr>
        <p:sp>
          <p:nvSpPr>
            <p:cNvPr id="54" name="Freeform 54"/>
            <p:cNvSpPr/>
            <p:nvPr/>
          </p:nvSpPr>
          <p:spPr>
            <a:xfrm>
              <a:off x="6350" y="6350"/>
              <a:ext cx="4930902" cy="2310638"/>
            </a:xfrm>
            <a:custGeom>
              <a:avLst/>
              <a:gdLst/>
              <a:ahLst/>
              <a:cxnLst/>
              <a:rect l="l" t="t" r="r" b="b"/>
              <a:pathLst>
                <a:path w="4930902" h="2310638">
                  <a:moveTo>
                    <a:pt x="0" y="237236"/>
                  </a:moveTo>
                  <a:cubicBezTo>
                    <a:pt x="0" y="106172"/>
                    <a:pt x="106553" y="0"/>
                    <a:pt x="237871" y="0"/>
                  </a:cubicBezTo>
                  <a:lnTo>
                    <a:pt x="4693031" y="0"/>
                  </a:lnTo>
                  <a:cubicBezTo>
                    <a:pt x="4824476" y="0"/>
                    <a:pt x="4930902" y="106172"/>
                    <a:pt x="4930902" y="237236"/>
                  </a:cubicBezTo>
                  <a:lnTo>
                    <a:pt x="4930902" y="2073402"/>
                  </a:lnTo>
                  <a:cubicBezTo>
                    <a:pt x="4930902" y="2204466"/>
                    <a:pt x="4824349" y="2310638"/>
                    <a:pt x="4693031" y="2310638"/>
                  </a:cubicBezTo>
                  <a:lnTo>
                    <a:pt x="237871" y="2310638"/>
                  </a:lnTo>
                  <a:cubicBezTo>
                    <a:pt x="106553" y="2310638"/>
                    <a:pt x="0" y="2204339"/>
                    <a:pt x="0" y="2073402"/>
                  </a:cubicBezTo>
                  <a:close/>
                </a:path>
              </a:pathLst>
            </a:custGeom>
            <a:solidFill>
              <a:srgbClr val="FFFFFF"/>
            </a:solidFill>
          </p:spPr>
        </p:sp>
        <p:sp>
          <p:nvSpPr>
            <p:cNvPr id="55" name="Freeform 55"/>
            <p:cNvSpPr/>
            <p:nvPr/>
          </p:nvSpPr>
          <p:spPr>
            <a:xfrm>
              <a:off x="0" y="0"/>
              <a:ext cx="4943602" cy="2323338"/>
            </a:xfrm>
            <a:custGeom>
              <a:avLst/>
              <a:gdLst/>
              <a:ahLst/>
              <a:cxnLst/>
              <a:rect l="l" t="t" r="r" b="b"/>
              <a:pathLst>
                <a:path w="4943602" h="2323338">
                  <a:moveTo>
                    <a:pt x="0" y="243586"/>
                  </a:moveTo>
                  <a:cubicBezTo>
                    <a:pt x="0" y="109093"/>
                    <a:pt x="109347" y="0"/>
                    <a:pt x="244221" y="0"/>
                  </a:cubicBezTo>
                  <a:lnTo>
                    <a:pt x="4699381" y="0"/>
                  </a:lnTo>
                  <a:lnTo>
                    <a:pt x="4699381" y="6350"/>
                  </a:lnTo>
                  <a:lnTo>
                    <a:pt x="4699381" y="0"/>
                  </a:lnTo>
                  <a:cubicBezTo>
                    <a:pt x="4834255" y="0"/>
                    <a:pt x="4943602" y="109093"/>
                    <a:pt x="4943602" y="243586"/>
                  </a:cubicBezTo>
                  <a:lnTo>
                    <a:pt x="4937252" y="243586"/>
                  </a:lnTo>
                  <a:lnTo>
                    <a:pt x="4943602" y="243586"/>
                  </a:lnTo>
                  <a:lnTo>
                    <a:pt x="4943602" y="2079752"/>
                  </a:lnTo>
                  <a:lnTo>
                    <a:pt x="4937252" y="2079752"/>
                  </a:lnTo>
                  <a:lnTo>
                    <a:pt x="4943602" y="2079752"/>
                  </a:lnTo>
                  <a:cubicBezTo>
                    <a:pt x="4943602" y="2214245"/>
                    <a:pt x="4834255" y="2323338"/>
                    <a:pt x="4699381" y="2323338"/>
                  </a:cubicBezTo>
                  <a:lnTo>
                    <a:pt x="4699381" y="2316988"/>
                  </a:lnTo>
                  <a:lnTo>
                    <a:pt x="4699381" y="2323338"/>
                  </a:lnTo>
                  <a:lnTo>
                    <a:pt x="244221" y="2323338"/>
                  </a:lnTo>
                  <a:lnTo>
                    <a:pt x="244221" y="2316988"/>
                  </a:lnTo>
                  <a:lnTo>
                    <a:pt x="244221" y="2323338"/>
                  </a:lnTo>
                  <a:cubicBezTo>
                    <a:pt x="109347" y="2323338"/>
                    <a:pt x="0" y="2214245"/>
                    <a:pt x="0" y="2079752"/>
                  </a:cubicBezTo>
                  <a:lnTo>
                    <a:pt x="0" y="243586"/>
                  </a:lnTo>
                  <a:lnTo>
                    <a:pt x="6350" y="243586"/>
                  </a:lnTo>
                  <a:lnTo>
                    <a:pt x="0" y="243586"/>
                  </a:lnTo>
                  <a:moveTo>
                    <a:pt x="12700" y="243586"/>
                  </a:moveTo>
                  <a:lnTo>
                    <a:pt x="12700" y="2079752"/>
                  </a:lnTo>
                  <a:lnTo>
                    <a:pt x="6350" y="2079752"/>
                  </a:lnTo>
                  <a:lnTo>
                    <a:pt x="12700" y="2079752"/>
                  </a:lnTo>
                  <a:cubicBezTo>
                    <a:pt x="12700" y="2207260"/>
                    <a:pt x="116332" y="2310638"/>
                    <a:pt x="244221" y="2310638"/>
                  </a:cubicBezTo>
                  <a:lnTo>
                    <a:pt x="4699381" y="2310638"/>
                  </a:lnTo>
                  <a:cubicBezTo>
                    <a:pt x="4827270" y="2310638"/>
                    <a:pt x="4930902" y="2207260"/>
                    <a:pt x="4930902" y="2079752"/>
                  </a:cubicBezTo>
                  <a:lnTo>
                    <a:pt x="4930902" y="243586"/>
                  </a:lnTo>
                  <a:cubicBezTo>
                    <a:pt x="4931029" y="116078"/>
                    <a:pt x="4827270" y="12700"/>
                    <a:pt x="4699381" y="12700"/>
                  </a:cubicBezTo>
                  <a:lnTo>
                    <a:pt x="244221" y="12700"/>
                  </a:lnTo>
                  <a:lnTo>
                    <a:pt x="244221" y="6350"/>
                  </a:lnTo>
                  <a:lnTo>
                    <a:pt x="244221" y="12700"/>
                  </a:lnTo>
                  <a:cubicBezTo>
                    <a:pt x="116332" y="12700"/>
                    <a:pt x="12700" y="116078"/>
                    <a:pt x="12700" y="243586"/>
                  </a:cubicBezTo>
                  <a:close/>
                </a:path>
              </a:pathLst>
            </a:custGeom>
            <a:solidFill>
              <a:srgbClr val="FF7047"/>
            </a:solidFill>
          </p:spPr>
        </p:sp>
      </p:grpSp>
      <p:sp>
        <p:nvSpPr>
          <p:cNvPr id="56" name="TextBox 56"/>
          <p:cNvSpPr txBox="1"/>
          <p:nvPr/>
        </p:nvSpPr>
        <p:spPr>
          <a:xfrm>
            <a:off x="13457187" y="3514411"/>
            <a:ext cx="2746477" cy="318345"/>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Attendance Intelligence</a:t>
            </a:r>
          </a:p>
        </p:txBody>
      </p:sp>
      <p:sp>
        <p:nvSpPr>
          <p:cNvPr id="57" name="TextBox 57"/>
          <p:cNvSpPr txBox="1"/>
          <p:nvPr/>
        </p:nvSpPr>
        <p:spPr>
          <a:xfrm>
            <a:off x="13457187" y="3942588"/>
            <a:ext cx="3283896"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Business rules and logic transform raw timestamps into meaningful attendance records.</a:t>
            </a:r>
          </a:p>
        </p:txBody>
      </p:sp>
      <p:grpSp>
        <p:nvGrpSpPr>
          <p:cNvPr id="58" name="Group 58"/>
          <p:cNvGrpSpPr/>
          <p:nvPr/>
        </p:nvGrpSpPr>
        <p:grpSpPr>
          <a:xfrm>
            <a:off x="9389716" y="5202422"/>
            <a:ext cx="3707606" cy="1742484"/>
            <a:chOff x="0" y="0"/>
            <a:chExt cx="4943475" cy="2323313"/>
          </a:xfrm>
        </p:grpSpPr>
        <p:sp>
          <p:nvSpPr>
            <p:cNvPr id="59" name="Freeform 59"/>
            <p:cNvSpPr/>
            <p:nvPr/>
          </p:nvSpPr>
          <p:spPr>
            <a:xfrm>
              <a:off x="6350" y="6350"/>
              <a:ext cx="4930775" cy="2310638"/>
            </a:xfrm>
            <a:custGeom>
              <a:avLst/>
              <a:gdLst/>
              <a:ahLst/>
              <a:cxnLst/>
              <a:rect l="l" t="t" r="r" b="b"/>
              <a:pathLst>
                <a:path w="4930775" h="2310638">
                  <a:moveTo>
                    <a:pt x="0" y="237236"/>
                  </a:moveTo>
                  <a:cubicBezTo>
                    <a:pt x="0" y="106172"/>
                    <a:pt x="106553" y="0"/>
                    <a:pt x="237871" y="0"/>
                  </a:cubicBezTo>
                  <a:lnTo>
                    <a:pt x="4692904" y="0"/>
                  </a:lnTo>
                  <a:cubicBezTo>
                    <a:pt x="4824349" y="0"/>
                    <a:pt x="4930775" y="106172"/>
                    <a:pt x="4930775" y="237236"/>
                  </a:cubicBezTo>
                  <a:lnTo>
                    <a:pt x="4930775" y="2073402"/>
                  </a:lnTo>
                  <a:cubicBezTo>
                    <a:pt x="4930775" y="2204466"/>
                    <a:pt x="4824222" y="2310638"/>
                    <a:pt x="4692904" y="2310638"/>
                  </a:cubicBezTo>
                  <a:lnTo>
                    <a:pt x="237871" y="2310638"/>
                  </a:lnTo>
                  <a:cubicBezTo>
                    <a:pt x="106553" y="2310638"/>
                    <a:pt x="0" y="2204339"/>
                    <a:pt x="0" y="2073402"/>
                  </a:cubicBezTo>
                  <a:close/>
                </a:path>
              </a:pathLst>
            </a:custGeom>
            <a:solidFill>
              <a:srgbClr val="FFFFFF"/>
            </a:solidFill>
          </p:spPr>
        </p:sp>
        <p:sp>
          <p:nvSpPr>
            <p:cNvPr id="60" name="Freeform 60"/>
            <p:cNvSpPr/>
            <p:nvPr/>
          </p:nvSpPr>
          <p:spPr>
            <a:xfrm>
              <a:off x="0" y="0"/>
              <a:ext cx="4943475" cy="2323338"/>
            </a:xfrm>
            <a:custGeom>
              <a:avLst/>
              <a:gdLst/>
              <a:ahLst/>
              <a:cxnLst/>
              <a:rect l="l" t="t" r="r" b="b"/>
              <a:pathLst>
                <a:path w="4943475" h="2323338">
                  <a:moveTo>
                    <a:pt x="0" y="243586"/>
                  </a:moveTo>
                  <a:cubicBezTo>
                    <a:pt x="0" y="109093"/>
                    <a:pt x="109347" y="0"/>
                    <a:pt x="244221" y="0"/>
                  </a:cubicBezTo>
                  <a:lnTo>
                    <a:pt x="4699254" y="0"/>
                  </a:lnTo>
                  <a:lnTo>
                    <a:pt x="4699254" y="6350"/>
                  </a:lnTo>
                  <a:lnTo>
                    <a:pt x="4699254" y="0"/>
                  </a:lnTo>
                  <a:cubicBezTo>
                    <a:pt x="4834128" y="0"/>
                    <a:pt x="4943475" y="109093"/>
                    <a:pt x="4943475" y="243586"/>
                  </a:cubicBezTo>
                  <a:lnTo>
                    <a:pt x="4937125" y="243586"/>
                  </a:lnTo>
                  <a:lnTo>
                    <a:pt x="4943475" y="243586"/>
                  </a:lnTo>
                  <a:lnTo>
                    <a:pt x="4943475" y="2079752"/>
                  </a:lnTo>
                  <a:lnTo>
                    <a:pt x="4937125" y="2079752"/>
                  </a:lnTo>
                  <a:lnTo>
                    <a:pt x="4943475" y="2079752"/>
                  </a:lnTo>
                  <a:cubicBezTo>
                    <a:pt x="4943475" y="2214245"/>
                    <a:pt x="4834128" y="2323338"/>
                    <a:pt x="4699254" y="2323338"/>
                  </a:cubicBezTo>
                  <a:lnTo>
                    <a:pt x="4699254" y="2316988"/>
                  </a:lnTo>
                  <a:lnTo>
                    <a:pt x="4699254" y="2323338"/>
                  </a:lnTo>
                  <a:lnTo>
                    <a:pt x="244221" y="2323338"/>
                  </a:lnTo>
                  <a:lnTo>
                    <a:pt x="244221" y="2316988"/>
                  </a:lnTo>
                  <a:lnTo>
                    <a:pt x="244221" y="2323338"/>
                  </a:lnTo>
                  <a:cubicBezTo>
                    <a:pt x="109347" y="2323338"/>
                    <a:pt x="0" y="2214245"/>
                    <a:pt x="0" y="2079752"/>
                  </a:cubicBezTo>
                  <a:lnTo>
                    <a:pt x="0" y="243586"/>
                  </a:lnTo>
                  <a:lnTo>
                    <a:pt x="6350" y="243586"/>
                  </a:lnTo>
                  <a:lnTo>
                    <a:pt x="0" y="243586"/>
                  </a:lnTo>
                  <a:moveTo>
                    <a:pt x="12700" y="243586"/>
                  </a:moveTo>
                  <a:lnTo>
                    <a:pt x="12700" y="2079752"/>
                  </a:lnTo>
                  <a:lnTo>
                    <a:pt x="6350" y="2079752"/>
                  </a:lnTo>
                  <a:lnTo>
                    <a:pt x="12700" y="2079752"/>
                  </a:lnTo>
                  <a:cubicBezTo>
                    <a:pt x="12700" y="2207260"/>
                    <a:pt x="116332" y="2310638"/>
                    <a:pt x="244221" y="2310638"/>
                  </a:cubicBezTo>
                  <a:lnTo>
                    <a:pt x="4699254" y="2310638"/>
                  </a:lnTo>
                  <a:cubicBezTo>
                    <a:pt x="4827143" y="2310638"/>
                    <a:pt x="4930775" y="2207260"/>
                    <a:pt x="4930775" y="2079752"/>
                  </a:cubicBezTo>
                  <a:lnTo>
                    <a:pt x="4930775" y="243586"/>
                  </a:lnTo>
                  <a:cubicBezTo>
                    <a:pt x="4930775" y="116078"/>
                    <a:pt x="4827143" y="12700"/>
                    <a:pt x="4699254" y="12700"/>
                  </a:cubicBezTo>
                  <a:lnTo>
                    <a:pt x="244221" y="12700"/>
                  </a:lnTo>
                  <a:lnTo>
                    <a:pt x="244221" y="6350"/>
                  </a:lnTo>
                  <a:lnTo>
                    <a:pt x="244221" y="12700"/>
                  </a:lnTo>
                  <a:cubicBezTo>
                    <a:pt x="116332" y="12700"/>
                    <a:pt x="12700" y="116078"/>
                    <a:pt x="12700" y="243586"/>
                  </a:cubicBezTo>
                  <a:close/>
                </a:path>
              </a:pathLst>
            </a:custGeom>
            <a:solidFill>
              <a:srgbClr val="FF7047"/>
            </a:solidFill>
          </p:spPr>
        </p:sp>
      </p:grpSp>
      <p:sp>
        <p:nvSpPr>
          <p:cNvPr id="61" name="TextBox 61"/>
          <p:cNvSpPr txBox="1"/>
          <p:nvPr/>
        </p:nvSpPr>
        <p:spPr>
          <a:xfrm>
            <a:off x="9601648" y="5404828"/>
            <a:ext cx="2471147" cy="318345"/>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Report Generation</a:t>
            </a:r>
          </a:p>
        </p:txBody>
      </p:sp>
      <p:sp>
        <p:nvSpPr>
          <p:cNvPr id="62" name="TextBox 62"/>
          <p:cNvSpPr txBox="1"/>
          <p:nvPr/>
        </p:nvSpPr>
        <p:spPr>
          <a:xfrm>
            <a:off x="9601648" y="5833005"/>
            <a:ext cx="3283744"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Structured reports are produced with institutional formatting and historical context.</a:t>
            </a:r>
          </a:p>
        </p:txBody>
      </p:sp>
      <p:grpSp>
        <p:nvGrpSpPr>
          <p:cNvPr id="63" name="Group 63"/>
          <p:cNvGrpSpPr/>
          <p:nvPr/>
        </p:nvGrpSpPr>
        <p:grpSpPr>
          <a:xfrm>
            <a:off x="13245255" y="5202422"/>
            <a:ext cx="3707759" cy="1742484"/>
            <a:chOff x="0" y="0"/>
            <a:chExt cx="4943678" cy="2323313"/>
          </a:xfrm>
        </p:grpSpPr>
        <p:sp>
          <p:nvSpPr>
            <p:cNvPr id="64" name="Freeform 64"/>
            <p:cNvSpPr/>
            <p:nvPr/>
          </p:nvSpPr>
          <p:spPr>
            <a:xfrm>
              <a:off x="6350" y="6350"/>
              <a:ext cx="4930902" cy="2310638"/>
            </a:xfrm>
            <a:custGeom>
              <a:avLst/>
              <a:gdLst/>
              <a:ahLst/>
              <a:cxnLst/>
              <a:rect l="l" t="t" r="r" b="b"/>
              <a:pathLst>
                <a:path w="4930902" h="2310638">
                  <a:moveTo>
                    <a:pt x="0" y="237236"/>
                  </a:moveTo>
                  <a:cubicBezTo>
                    <a:pt x="0" y="106172"/>
                    <a:pt x="106553" y="0"/>
                    <a:pt x="237871" y="0"/>
                  </a:cubicBezTo>
                  <a:lnTo>
                    <a:pt x="4693031" y="0"/>
                  </a:lnTo>
                  <a:cubicBezTo>
                    <a:pt x="4824476" y="0"/>
                    <a:pt x="4930902" y="106172"/>
                    <a:pt x="4930902" y="237236"/>
                  </a:cubicBezTo>
                  <a:lnTo>
                    <a:pt x="4930902" y="2073402"/>
                  </a:lnTo>
                  <a:cubicBezTo>
                    <a:pt x="4930902" y="2204466"/>
                    <a:pt x="4824349" y="2310638"/>
                    <a:pt x="4693031" y="2310638"/>
                  </a:cubicBezTo>
                  <a:lnTo>
                    <a:pt x="237871" y="2310638"/>
                  </a:lnTo>
                  <a:cubicBezTo>
                    <a:pt x="106553" y="2310638"/>
                    <a:pt x="0" y="2204339"/>
                    <a:pt x="0" y="2073402"/>
                  </a:cubicBezTo>
                  <a:close/>
                </a:path>
              </a:pathLst>
            </a:custGeom>
            <a:solidFill>
              <a:srgbClr val="FFFFFF"/>
            </a:solidFill>
          </p:spPr>
        </p:sp>
        <p:sp>
          <p:nvSpPr>
            <p:cNvPr id="65" name="Freeform 65"/>
            <p:cNvSpPr/>
            <p:nvPr/>
          </p:nvSpPr>
          <p:spPr>
            <a:xfrm>
              <a:off x="0" y="0"/>
              <a:ext cx="4943602" cy="2323338"/>
            </a:xfrm>
            <a:custGeom>
              <a:avLst/>
              <a:gdLst/>
              <a:ahLst/>
              <a:cxnLst/>
              <a:rect l="l" t="t" r="r" b="b"/>
              <a:pathLst>
                <a:path w="4943602" h="2323338">
                  <a:moveTo>
                    <a:pt x="0" y="243586"/>
                  </a:moveTo>
                  <a:cubicBezTo>
                    <a:pt x="0" y="109093"/>
                    <a:pt x="109347" y="0"/>
                    <a:pt x="244221" y="0"/>
                  </a:cubicBezTo>
                  <a:lnTo>
                    <a:pt x="4699381" y="0"/>
                  </a:lnTo>
                  <a:lnTo>
                    <a:pt x="4699381" y="6350"/>
                  </a:lnTo>
                  <a:lnTo>
                    <a:pt x="4699381" y="0"/>
                  </a:lnTo>
                  <a:cubicBezTo>
                    <a:pt x="4834255" y="0"/>
                    <a:pt x="4943602" y="109093"/>
                    <a:pt x="4943602" y="243586"/>
                  </a:cubicBezTo>
                  <a:lnTo>
                    <a:pt x="4937252" y="243586"/>
                  </a:lnTo>
                  <a:lnTo>
                    <a:pt x="4943602" y="243586"/>
                  </a:lnTo>
                  <a:lnTo>
                    <a:pt x="4943602" y="2079752"/>
                  </a:lnTo>
                  <a:lnTo>
                    <a:pt x="4937252" y="2079752"/>
                  </a:lnTo>
                  <a:lnTo>
                    <a:pt x="4943602" y="2079752"/>
                  </a:lnTo>
                  <a:cubicBezTo>
                    <a:pt x="4943602" y="2214245"/>
                    <a:pt x="4834255" y="2323338"/>
                    <a:pt x="4699381" y="2323338"/>
                  </a:cubicBezTo>
                  <a:lnTo>
                    <a:pt x="4699381" y="2316988"/>
                  </a:lnTo>
                  <a:lnTo>
                    <a:pt x="4699381" y="2323338"/>
                  </a:lnTo>
                  <a:lnTo>
                    <a:pt x="244221" y="2323338"/>
                  </a:lnTo>
                  <a:lnTo>
                    <a:pt x="244221" y="2316988"/>
                  </a:lnTo>
                  <a:lnTo>
                    <a:pt x="244221" y="2323338"/>
                  </a:lnTo>
                  <a:cubicBezTo>
                    <a:pt x="109347" y="2323338"/>
                    <a:pt x="0" y="2214245"/>
                    <a:pt x="0" y="2079752"/>
                  </a:cubicBezTo>
                  <a:lnTo>
                    <a:pt x="0" y="243586"/>
                  </a:lnTo>
                  <a:lnTo>
                    <a:pt x="6350" y="243586"/>
                  </a:lnTo>
                  <a:lnTo>
                    <a:pt x="0" y="243586"/>
                  </a:lnTo>
                  <a:moveTo>
                    <a:pt x="12700" y="243586"/>
                  </a:moveTo>
                  <a:lnTo>
                    <a:pt x="12700" y="2079752"/>
                  </a:lnTo>
                  <a:lnTo>
                    <a:pt x="6350" y="2079752"/>
                  </a:lnTo>
                  <a:lnTo>
                    <a:pt x="12700" y="2079752"/>
                  </a:lnTo>
                  <a:cubicBezTo>
                    <a:pt x="12700" y="2207260"/>
                    <a:pt x="116332" y="2310638"/>
                    <a:pt x="244221" y="2310638"/>
                  </a:cubicBezTo>
                  <a:lnTo>
                    <a:pt x="4699381" y="2310638"/>
                  </a:lnTo>
                  <a:cubicBezTo>
                    <a:pt x="4827270" y="2310638"/>
                    <a:pt x="4930902" y="2207260"/>
                    <a:pt x="4930902" y="2079752"/>
                  </a:cubicBezTo>
                  <a:lnTo>
                    <a:pt x="4930902" y="243586"/>
                  </a:lnTo>
                  <a:cubicBezTo>
                    <a:pt x="4931029" y="116078"/>
                    <a:pt x="4827270" y="12700"/>
                    <a:pt x="4699381" y="12700"/>
                  </a:cubicBezTo>
                  <a:lnTo>
                    <a:pt x="244221" y="12700"/>
                  </a:lnTo>
                  <a:lnTo>
                    <a:pt x="244221" y="6350"/>
                  </a:lnTo>
                  <a:lnTo>
                    <a:pt x="244221" y="12700"/>
                  </a:lnTo>
                  <a:cubicBezTo>
                    <a:pt x="116332" y="12700"/>
                    <a:pt x="12700" y="116078"/>
                    <a:pt x="12700" y="243586"/>
                  </a:cubicBezTo>
                  <a:close/>
                </a:path>
              </a:pathLst>
            </a:custGeom>
            <a:solidFill>
              <a:srgbClr val="FF7047"/>
            </a:solidFill>
          </p:spPr>
        </p:sp>
      </p:grpSp>
      <p:sp>
        <p:nvSpPr>
          <p:cNvPr id="66" name="TextBox 66"/>
          <p:cNvSpPr txBox="1"/>
          <p:nvPr/>
        </p:nvSpPr>
        <p:spPr>
          <a:xfrm>
            <a:off x="13457187" y="5404828"/>
            <a:ext cx="2471147" cy="318345"/>
          </a:xfrm>
          <a:prstGeom prst="rect">
            <a:avLst/>
          </a:prstGeom>
        </p:spPr>
        <p:txBody>
          <a:bodyPr lIns="0" tIns="0" rIns="0" bIns="0" rtlCol="0" anchor="t">
            <a:spAutoFit/>
          </a:bodyPr>
          <a:lstStyle/>
          <a:p>
            <a:pPr algn="l">
              <a:lnSpc>
                <a:spcPts val="2375"/>
              </a:lnSpc>
            </a:pPr>
            <a:r>
              <a:rPr lang="en-US" sz="1937">
                <a:solidFill>
                  <a:srgbClr val="000000"/>
                </a:solidFill>
                <a:latin typeface="Inter"/>
                <a:ea typeface="Inter"/>
                <a:cs typeface="Inter"/>
                <a:sym typeface="Inter"/>
              </a:rPr>
              <a:t>Dashboard Sync</a:t>
            </a:r>
          </a:p>
        </p:txBody>
      </p:sp>
      <p:sp>
        <p:nvSpPr>
          <p:cNvPr id="67" name="TextBox 67"/>
          <p:cNvSpPr txBox="1"/>
          <p:nvPr/>
        </p:nvSpPr>
        <p:spPr>
          <a:xfrm>
            <a:off x="13457187" y="5833005"/>
            <a:ext cx="3283896" cy="899960"/>
          </a:xfrm>
          <a:prstGeom prst="rect">
            <a:avLst/>
          </a:prstGeom>
        </p:spPr>
        <p:txBody>
          <a:bodyPr lIns="0" tIns="0" rIns="0" bIns="0" rtlCol="0" anchor="t">
            <a:spAutoFit/>
          </a:bodyPr>
          <a:lstStyle/>
          <a:p>
            <a:pPr algn="l">
              <a:lnSpc>
                <a:spcPts val="2187"/>
              </a:lnSpc>
            </a:pPr>
            <a:r>
              <a:rPr lang="en-US" sz="1500">
                <a:solidFill>
                  <a:srgbClr val="000000"/>
                </a:solidFill>
                <a:latin typeface="Arimo"/>
                <a:ea typeface="Arimo"/>
                <a:cs typeface="Arimo"/>
                <a:sym typeface="Arimo"/>
              </a:rPr>
              <a:t>Processed data is synchronized to stakeholder dashboards via automated workflows.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2112874" y="318421"/>
            <a:ext cx="2046703" cy="391687"/>
            <a:chOff x="0" y="0"/>
            <a:chExt cx="2728938" cy="522249"/>
          </a:xfrm>
        </p:grpSpPr>
        <p:sp>
          <p:nvSpPr>
            <p:cNvPr id="7" name="Freeform 7"/>
            <p:cNvSpPr/>
            <p:nvPr/>
          </p:nvSpPr>
          <p:spPr>
            <a:xfrm>
              <a:off x="-1524" y="-1651"/>
              <a:ext cx="2732024" cy="525526"/>
            </a:xfrm>
            <a:custGeom>
              <a:avLst/>
              <a:gdLst/>
              <a:ahLst/>
              <a:cxnLst/>
              <a:rect l="l" t="t" r="r" b="b"/>
              <a:pathLst>
                <a:path w="2732024" h="525526">
                  <a:moveTo>
                    <a:pt x="0" y="224282"/>
                  </a:moveTo>
                  <a:cubicBezTo>
                    <a:pt x="0" y="100457"/>
                    <a:pt x="100330" y="127"/>
                    <a:pt x="224155" y="0"/>
                  </a:cubicBezTo>
                  <a:lnTo>
                    <a:pt x="2507869" y="0"/>
                  </a:lnTo>
                  <a:lnTo>
                    <a:pt x="2507869" y="1651"/>
                  </a:lnTo>
                  <a:lnTo>
                    <a:pt x="2507869" y="127"/>
                  </a:lnTo>
                  <a:cubicBezTo>
                    <a:pt x="2631694" y="127"/>
                    <a:pt x="2732024" y="100457"/>
                    <a:pt x="2732024" y="224282"/>
                  </a:cubicBezTo>
                  <a:lnTo>
                    <a:pt x="2730500" y="224282"/>
                  </a:lnTo>
                  <a:lnTo>
                    <a:pt x="2732024" y="224282"/>
                  </a:lnTo>
                  <a:lnTo>
                    <a:pt x="2732024" y="301371"/>
                  </a:lnTo>
                  <a:lnTo>
                    <a:pt x="2730500" y="301371"/>
                  </a:lnTo>
                  <a:lnTo>
                    <a:pt x="2732024" y="301371"/>
                  </a:lnTo>
                  <a:cubicBezTo>
                    <a:pt x="2732024" y="425196"/>
                    <a:pt x="2631694" y="525526"/>
                    <a:pt x="2507869" y="525526"/>
                  </a:cubicBezTo>
                  <a:lnTo>
                    <a:pt x="2507869" y="524002"/>
                  </a:lnTo>
                  <a:lnTo>
                    <a:pt x="2507869" y="525526"/>
                  </a:lnTo>
                  <a:lnTo>
                    <a:pt x="224155" y="525526"/>
                  </a:lnTo>
                  <a:lnTo>
                    <a:pt x="224155" y="524002"/>
                  </a:lnTo>
                  <a:lnTo>
                    <a:pt x="224155" y="525526"/>
                  </a:lnTo>
                  <a:cubicBezTo>
                    <a:pt x="100330" y="525526"/>
                    <a:pt x="0" y="425069"/>
                    <a:pt x="0" y="301371"/>
                  </a:cubicBezTo>
                  <a:lnTo>
                    <a:pt x="0" y="224282"/>
                  </a:lnTo>
                  <a:lnTo>
                    <a:pt x="1524" y="224282"/>
                  </a:lnTo>
                  <a:lnTo>
                    <a:pt x="0" y="224282"/>
                  </a:lnTo>
                  <a:moveTo>
                    <a:pt x="3175" y="224282"/>
                  </a:moveTo>
                  <a:lnTo>
                    <a:pt x="3175" y="301371"/>
                  </a:lnTo>
                  <a:lnTo>
                    <a:pt x="1524" y="301371"/>
                  </a:lnTo>
                  <a:lnTo>
                    <a:pt x="3048" y="301371"/>
                  </a:lnTo>
                  <a:cubicBezTo>
                    <a:pt x="3175" y="423418"/>
                    <a:pt x="102108" y="522351"/>
                    <a:pt x="224155" y="522351"/>
                  </a:cubicBezTo>
                  <a:lnTo>
                    <a:pt x="2507869" y="522351"/>
                  </a:lnTo>
                  <a:cubicBezTo>
                    <a:pt x="2629916" y="522351"/>
                    <a:pt x="2728849" y="423418"/>
                    <a:pt x="2728849" y="301371"/>
                  </a:cubicBezTo>
                  <a:lnTo>
                    <a:pt x="2728849" y="224282"/>
                  </a:lnTo>
                  <a:cubicBezTo>
                    <a:pt x="2728849" y="102235"/>
                    <a:pt x="2629916" y="3302"/>
                    <a:pt x="2507869" y="3302"/>
                  </a:cubicBezTo>
                  <a:lnTo>
                    <a:pt x="224155" y="3302"/>
                  </a:lnTo>
                  <a:lnTo>
                    <a:pt x="224155" y="1651"/>
                  </a:lnTo>
                  <a:lnTo>
                    <a:pt x="224155" y="3175"/>
                  </a:lnTo>
                  <a:cubicBezTo>
                    <a:pt x="102108" y="3175"/>
                    <a:pt x="3048" y="102235"/>
                    <a:pt x="3048" y="224282"/>
                  </a:cubicBezTo>
                  <a:close/>
                </a:path>
              </a:pathLst>
            </a:custGeom>
            <a:solidFill>
              <a:srgbClr val="ED7D31"/>
            </a:solidFill>
          </p:spPr>
        </p:sp>
      </p:grpSp>
      <p:sp>
        <p:nvSpPr>
          <p:cNvPr id="8" name="TextBox 8"/>
          <p:cNvSpPr txBox="1"/>
          <p:nvPr/>
        </p:nvSpPr>
        <p:spPr>
          <a:xfrm>
            <a:off x="2217496" y="419100"/>
            <a:ext cx="1943252" cy="179536"/>
          </a:xfrm>
          <a:prstGeom prst="rect">
            <a:avLst/>
          </a:prstGeom>
        </p:spPr>
        <p:txBody>
          <a:bodyPr wrap="square" lIns="0" tIns="0" rIns="0" bIns="0" rtlCol="0" anchor="t">
            <a:spAutoFit/>
          </a:bodyPr>
          <a:lstStyle/>
          <a:p>
            <a:pPr algn="l">
              <a:lnSpc>
                <a:spcPts val="1437"/>
              </a:lnSpc>
            </a:pPr>
            <a:r>
              <a:rPr lang="en-US" sz="1312" b="1" spc="5" dirty="0">
                <a:solidFill>
                  <a:srgbClr val="C55A11"/>
                </a:solidFill>
                <a:latin typeface="Merriweather Sans Bold"/>
                <a:ea typeface="Merriweather Sans Bold"/>
                <a:cs typeface="Merriweather Sans Bold"/>
                <a:sym typeface="Merriweather Sans Bold"/>
              </a:rPr>
              <a:t>INSTITUTIONAL VALUE</a:t>
            </a:r>
          </a:p>
        </p:txBody>
      </p:sp>
      <p:sp>
        <p:nvSpPr>
          <p:cNvPr id="9" name="TextBox 9"/>
          <p:cNvSpPr txBox="1"/>
          <p:nvPr/>
        </p:nvSpPr>
        <p:spPr>
          <a:xfrm>
            <a:off x="2124656" y="808472"/>
            <a:ext cx="10677820" cy="520912"/>
          </a:xfrm>
          <a:prstGeom prst="rect">
            <a:avLst/>
          </a:prstGeom>
        </p:spPr>
        <p:txBody>
          <a:bodyPr wrap="square" lIns="0" tIns="0" rIns="0" bIns="0" rtlCol="0" anchor="t">
            <a:spAutoFit/>
          </a:bodyPr>
          <a:lstStyle/>
          <a:p>
            <a:pPr algn="l">
              <a:lnSpc>
                <a:spcPts val="4250"/>
              </a:lnSpc>
            </a:pPr>
            <a:r>
              <a:rPr lang="en-US" sz="3500" dirty="0">
                <a:solidFill>
                  <a:srgbClr val="0C0D0F"/>
                </a:solidFill>
                <a:latin typeface="Inter"/>
                <a:ea typeface="Inter"/>
                <a:cs typeface="Inter"/>
                <a:sym typeface="Inter"/>
              </a:rPr>
              <a:t>Measurable Impact Across Every Stakeholder</a:t>
            </a:r>
          </a:p>
        </p:txBody>
      </p:sp>
      <p:sp>
        <p:nvSpPr>
          <p:cNvPr id="10" name="TextBox 10"/>
          <p:cNvSpPr txBox="1"/>
          <p:nvPr/>
        </p:nvSpPr>
        <p:spPr>
          <a:xfrm>
            <a:off x="2124656" y="1527905"/>
            <a:ext cx="13755738" cy="494109"/>
          </a:xfrm>
          <a:prstGeom prst="rect">
            <a:avLst/>
          </a:prstGeom>
        </p:spPr>
        <p:txBody>
          <a:bodyPr lIns="0" tIns="0" rIns="0" bIns="0" rtlCol="0" anchor="t">
            <a:spAutoFit/>
          </a:bodyPr>
          <a:lstStyle/>
          <a:p>
            <a:pPr algn="just">
              <a:lnSpc>
                <a:spcPts val="1812"/>
              </a:lnSpc>
            </a:pPr>
            <a:r>
              <a:rPr lang="en-US" sz="1500">
                <a:solidFill>
                  <a:srgbClr val="000000"/>
                </a:solidFill>
                <a:latin typeface="Arimo"/>
                <a:ea typeface="Arimo"/>
                <a:cs typeface="Arimo"/>
                <a:sym typeface="Arimo"/>
              </a:rPr>
              <a:t>BIOSYNC creates structural operational improvements across the institution — reducing manual workload, accelerating report generation, minimizing errors, and strengthening attendance visibility for every stakeholder group.</a:t>
            </a:r>
          </a:p>
        </p:txBody>
      </p:sp>
      <p:sp>
        <p:nvSpPr>
          <p:cNvPr id="11" name="TextBox 11"/>
          <p:cNvSpPr txBox="1"/>
          <p:nvPr/>
        </p:nvSpPr>
        <p:spPr>
          <a:xfrm>
            <a:off x="2124656" y="2273084"/>
            <a:ext cx="2180482" cy="282026"/>
          </a:xfrm>
          <a:prstGeom prst="rect">
            <a:avLst/>
          </a:prstGeom>
        </p:spPr>
        <p:txBody>
          <a:bodyPr lIns="0" tIns="0" rIns="0" bIns="0" rtlCol="0" anchor="t">
            <a:spAutoFit/>
          </a:bodyPr>
          <a:lstStyle/>
          <a:p>
            <a:pPr algn="l">
              <a:lnSpc>
                <a:spcPts val="2125"/>
              </a:lnSpc>
            </a:pPr>
            <a:r>
              <a:rPr lang="en-US" sz="1750">
                <a:solidFill>
                  <a:srgbClr val="0C0D0F"/>
                </a:solidFill>
                <a:latin typeface="Inter"/>
                <a:ea typeface="Inter"/>
                <a:cs typeface="Inter"/>
                <a:sym typeface="Inter"/>
              </a:rPr>
              <a:t>Before BIOSYNC</a:t>
            </a:r>
          </a:p>
        </p:txBody>
      </p:sp>
      <p:grpSp>
        <p:nvGrpSpPr>
          <p:cNvPr id="12" name="Group 12"/>
          <p:cNvGrpSpPr/>
          <p:nvPr/>
        </p:nvGrpSpPr>
        <p:grpSpPr>
          <a:xfrm>
            <a:off x="2115131" y="2683554"/>
            <a:ext cx="6684169" cy="1276198"/>
            <a:chOff x="0" y="0"/>
            <a:chExt cx="8912225" cy="1701597"/>
          </a:xfrm>
        </p:grpSpPr>
        <p:sp>
          <p:nvSpPr>
            <p:cNvPr id="13" name="Freeform 13"/>
            <p:cNvSpPr/>
            <p:nvPr/>
          </p:nvSpPr>
          <p:spPr>
            <a:xfrm>
              <a:off x="12700" y="12700"/>
              <a:ext cx="8886825" cy="1676146"/>
            </a:xfrm>
            <a:custGeom>
              <a:avLst/>
              <a:gdLst/>
              <a:ahLst/>
              <a:cxnLst/>
              <a:rect l="l" t="t" r="r" b="b"/>
              <a:pathLst>
                <a:path w="8886825" h="1676146">
                  <a:moveTo>
                    <a:pt x="0" y="121920"/>
                  </a:moveTo>
                  <a:cubicBezTo>
                    <a:pt x="0" y="54610"/>
                    <a:pt x="55245" y="0"/>
                    <a:pt x="123444" y="0"/>
                  </a:cubicBezTo>
                  <a:lnTo>
                    <a:pt x="8763381" y="0"/>
                  </a:lnTo>
                  <a:cubicBezTo>
                    <a:pt x="8831580" y="0"/>
                    <a:pt x="8886825" y="54610"/>
                    <a:pt x="8886825" y="121920"/>
                  </a:cubicBezTo>
                  <a:lnTo>
                    <a:pt x="8886825" y="1554226"/>
                  </a:lnTo>
                  <a:cubicBezTo>
                    <a:pt x="8886825" y="1621536"/>
                    <a:pt x="8831580" y="1676146"/>
                    <a:pt x="8763381" y="1676146"/>
                  </a:cubicBezTo>
                  <a:lnTo>
                    <a:pt x="123444" y="1676146"/>
                  </a:lnTo>
                  <a:cubicBezTo>
                    <a:pt x="55245" y="1676146"/>
                    <a:pt x="0" y="1621536"/>
                    <a:pt x="0" y="1554226"/>
                  </a:cubicBezTo>
                  <a:close/>
                </a:path>
              </a:pathLst>
            </a:custGeom>
            <a:solidFill>
              <a:srgbClr val="FFFFFF"/>
            </a:solidFill>
          </p:spPr>
        </p:sp>
        <p:sp>
          <p:nvSpPr>
            <p:cNvPr id="14" name="Freeform 14"/>
            <p:cNvSpPr/>
            <p:nvPr/>
          </p:nvSpPr>
          <p:spPr>
            <a:xfrm>
              <a:off x="0" y="0"/>
              <a:ext cx="8912225" cy="1701546"/>
            </a:xfrm>
            <a:custGeom>
              <a:avLst/>
              <a:gdLst/>
              <a:ahLst/>
              <a:cxnLst/>
              <a:rect l="l" t="t" r="r" b="b"/>
              <a:pathLst>
                <a:path w="8912225" h="1701546">
                  <a:moveTo>
                    <a:pt x="0" y="134620"/>
                  </a:moveTo>
                  <a:cubicBezTo>
                    <a:pt x="0" y="60071"/>
                    <a:pt x="61087" y="0"/>
                    <a:pt x="136144" y="0"/>
                  </a:cubicBezTo>
                  <a:lnTo>
                    <a:pt x="8776081" y="0"/>
                  </a:lnTo>
                  <a:lnTo>
                    <a:pt x="8776081" y="12700"/>
                  </a:lnTo>
                  <a:lnTo>
                    <a:pt x="8776081" y="0"/>
                  </a:lnTo>
                  <a:cubicBezTo>
                    <a:pt x="8851138" y="0"/>
                    <a:pt x="8912225" y="60071"/>
                    <a:pt x="8912225" y="134620"/>
                  </a:cubicBezTo>
                  <a:lnTo>
                    <a:pt x="8899525" y="134620"/>
                  </a:lnTo>
                  <a:lnTo>
                    <a:pt x="8912225" y="134620"/>
                  </a:lnTo>
                  <a:lnTo>
                    <a:pt x="8912225" y="1566926"/>
                  </a:lnTo>
                  <a:lnTo>
                    <a:pt x="8899525" y="1566926"/>
                  </a:lnTo>
                  <a:lnTo>
                    <a:pt x="8912225" y="1566926"/>
                  </a:lnTo>
                  <a:cubicBezTo>
                    <a:pt x="8912225" y="1641475"/>
                    <a:pt x="8851138" y="1701546"/>
                    <a:pt x="8776081" y="1701546"/>
                  </a:cubicBezTo>
                  <a:lnTo>
                    <a:pt x="8776081" y="1688846"/>
                  </a:lnTo>
                  <a:lnTo>
                    <a:pt x="8776081" y="1701546"/>
                  </a:lnTo>
                  <a:lnTo>
                    <a:pt x="136144" y="1701546"/>
                  </a:lnTo>
                  <a:lnTo>
                    <a:pt x="136144" y="1688846"/>
                  </a:lnTo>
                  <a:lnTo>
                    <a:pt x="136144" y="1701546"/>
                  </a:lnTo>
                  <a:cubicBezTo>
                    <a:pt x="61087" y="1701546"/>
                    <a:pt x="0" y="1641475"/>
                    <a:pt x="0" y="1566926"/>
                  </a:cubicBezTo>
                  <a:lnTo>
                    <a:pt x="0" y="134620"/>
                  </a:lnTo>
                  <a:lnTo>
                    <a:pt x="12700" y="134620"/>
                  </a:lnTo>
                  <a:lnTo>
                    <a:pt x="0" y="134620"/>
                  </a:lnTo>
                  <a:moveTo>
                    <a:pt x="25400" y="134620"/>
                  </a:moveTo>
                  <a:lnTo>
                    <a:pt x="25400" y="1566926"/>
                  </a:lnTo>
                  <a:lnTo>
                    <a:pt x="12700" y="1566926"/>
                  </a:lnTo>
                  <a:lnTo>
                    <a:pt x="25400" y="1566926"/>
                  </a:lnTo>
                  <a:cubicBezTo>
                    <a:pt x="25400" y="1627124"/>
                    <a:pt x="74803" y="1676146"/>
                    <a:pt x="136144" y="1676146"/>
                  </a:cubicBezTo>
                  <a:lnTo>
                    <a:pt x="8776081" y="1676146"/>
                  </a:lnTo>
                  <a:cubicBezTo>
                    <a:pt x="8837423" y="1676146"/>
                    <a:pt x="8886825" y="1627124"/>
                    <a:pt x="8886825" y="1566926"/>
                  </a:cubicBezTo>
                  <a:lnTo>
                    <a:pt x="8886825" y="134620"/>
                  </a:lnTo>
                  <a:cubicBezTo>
                    <a:pt x="8886825" y="74422"/>
                    <a:pt x="8837423" y="25400"/>
                    <a:pt x="8776081" y="25400"/>
                  </a:cubicBezTo>
                  <a:lnTo>
                    <a:pt x="136144" y="25400"/>
                  </a:lnTo>
                  <a:lnTo>
                    <a:pt x="136144" y="12700"/>
                  </a:lnTo>
                  <a:lnTo>
                    <a:pt x="136144" y="25400"/>
                  </a:lnTo>
                  <a:cubicBezTo>
                    <a:pt x="74803" y="25400"/>
                    <a:pt x="25400" y="74422"/>
                    <a:pt x="25400" y="134620"/>
                  </a:cubicBezTo>
                  <a:close/>
                </a:path>
              </a:pathLst>
            </a:custGeom>
            <a:solidFill>
              <a:srgbClr val="FF7047"/>
            </a:solidFill>
          </p:spPr>
        </p:sp>
      </p:grpSp>
      <p:grpSp>
        <p:nvGrpSpPr>
          <p:cNvPr id="15" name="Group 15"/>
          <p:cNvGrpSpPr/>
          <p:nvPr/>
        </p:nvGrpSpPr>
        <p:grpSpPr>
          <a:xfrm>
            <a:off x="2105606" y="2693079"/>
            <a:ext cx="76200" cy="1257148"/>
            <a:chOff x="0" y="0"/>
            <a:chExt cx="101600" cy="1676197"/>
          </a:xfrm>
        </p:grpSpPr>
        <p:sp>
          <p:nvSpPr>
            <p:cNvPr id="16" name="Freeform 16"/>
            <p:cNvSpPr/>
            <p:nvPr/>
          </p:nvSpPr>
          <p:spPr>
            <a:xfrm>
              <a:off x="0" y="0"/>
              <a:ext cx="101600" cy="1676146"/>
            </a:xfrm>
            <a:custGeom>
              <a:avLst/>
              <a:gdLst/>
              <a:ahLst/>
              <a:cxnLst/>
              <a:rect l="l" t="t" r="r" b="b"/>
              <a:pathLst>
                <a:path w="101600" h="1676146">
                  <a:moveTo>
                    <a:pt x="0" y="50800"/>
                  </a:moveTo>
                  <a:cubicBezTo>
                    <a:pt x="0" y="22733"/>
                    <a:pt x="22733" y="0"/>
                    <a:pt x="50800" y="0"/>
                  </a:cubicBezTo>
                  <a:cubicBezTo>
                    <a:pt x="78867" y="0"/>
                    <a:pt x="101600" y="22733"/>
                    <a:pt x="101600" y="50800"/>
                  </a:cubicBezTo>
                  <a:lnTo>
                    <a:pt x="101600" y="1625346"/>
                  </a:lnTo>
                  <a:cubicBezTo>
                    <a:pt x="101600" y="1653413"/>
                    <a:pt x="78867" y="1676146"/>
                    <a:pt x="50800" y="1676146"/>
                  </a:cubicBezTo>
                  <a:cubicBezTo>
                    <a:pt x="22733" y="1676146"/>
                    <a:pt x="0" y="1653413"/>
                    <a:pt x="0" y="1625346"/>
                  </a:cubicBezTo>
                  <a:close/>
                </a:path>
              </a:pathLst>
            </a:custGeom>
            <a:solidFill>
              <a:srgbClr val="FF7047"/>
            </a:solidFill>
          </p:spPr>
        </p:sp>
      </p:grpSp>
      <p:sp>
        <p:nvSpPr>
          <p:cNvPr id="17" name="TextBox 17"/>
          <p:cNvSpPr txBox="1"/>
          <p:nvPr/>
        </p:nvSpPr>
        <p:spPr>
          <a:xfrm>
            <a:off x="2375278" y="2877036"/>
            <a:ext cx="2180482" cy="282026"/>
          </a:xfrm>
          <a:prstGeom prst="rect">
            <a:avLst/>
          </a:prstGeom>
        </p:spPr>
        <p:txBody>
          <a:bodyPr lIns="0" tIns="0" rIns="0" bIns="0" rtlCol="0" anchor="t">
            <a:spAutoFit/>
          </a:bodyPr>
          <a:lstStyle/>
          <a:p>
            <a:pPr algn="l">
              <a:lnSpc>
                <a:spcPts val="2125"/>
              </a:lnSpc>
            </a:pPr>
            <a:r>
              <a:rPr lang="en-US" sz="1750">
                <a:solidFill>
                  <a:srgbClr val="000000"/>
                </a:solidFill>
                <a:latin typeface="Inter"/>
                <a:ea typeface="Inter"/>
                <a:cs typeface="Inter"/>
                <a:sym typeface="Inter"/>
              </a:rPr>
              <a:t>Manual Data Entry</a:t>
            </a:r>
          </a:p>
        </p:txBody>
      </p:sp>
      <p:sp>
        <p:nvSpPr>
          <p:cNvPr id="18" name="TextBox 18"/>
          <p:cNvSpPr txBox="1"/>
          <p:nvPr/>
        </p:nvSpPr>
        <p:spPr>
          <a:xfrm>
            <a:off x="2375278" y="3243596"/>
            <a:ext cx="6221016" cy="513159"/>
          </a:xfrm>
          <a:prstGeom prst="rect">
            <a:avLst/>
          </a:prstGeom>
        </p:spPr>
        <p:txBody>
          <a:bodyPr lIns="0" tIns="0" rIns="0" bIns="0" rtlCol="0" anchor="t">
            <a:spAutoFit/>
          </a:bodyPr>
          <a:lstStyle/>
          <a:p>
            <a:pPr algn="l">
              <a:lnSpc>
                <a:spcPts val="1812"/>
              </a:lnSpc>
            </a:pPr>
            <a:r>
              <a:rPr lang="en-US" sz="1375">
                <a:solidFill>
                  <a:srgbClr val="000000"/>
                </a:solidFill>
                <a:latin typeface="Arimo"/>
                <a:ea typeface="Arimo"/>
                <a:cs typeface="Arimo"/>
                <a:sym typeface="Arimo"/>
              </a:rPr>
              <a:t>Staff manually compile attendance from raw device logs — a time-consuming, error-prone process.</a:t>
            </a:r>
          </a:p>
        </p:txBody>
      </p:sp>
      <p:grpSp>
        <p:nvGrpSpPr>
          <p:cNvPr id="19" name="Group 19"/>
          <p:cNvGrpSpPr/>
          <p:nvPr/>
        </p:nvGrpSpPr>
        <p:grpSpPr>
          <a:xfrm>
            <a:off x="2115131" y="4063336"/>
            <a:ext cx="6684169" cy="1038673"/>
            <a:chOff x="0" y="0"/>
            <a:chExt cx="8912225" cy="1384897"/>
          </a:xfrm>
        </p:grpSpPr>
        <p:sp>
          <p:nvSpPr>
            <p:cNvPr id="20" name="Freeform 20"/>
            <p:cNvSpPr/>
            <p:nvPr/>
          </p:nvSpPr>
          <p:spPr>
            <a:xfrm>
              <a:off x="12700" y="12700"/>
              <a:ext cx="8886825" cy="1359535"/>
            </a:xfrm>
            <a:custGeom>
              <a:avLst/>
              <a:gdLst/>
              <a:ahLst/>
              <a:cxnLst/>
              <a:rect l="l" t="t" r="r" b="b"/>
              <a:pathLst>
                <a:path w="8886825" h="1359535">
                  <a:moveTo>
                    <a:pt x="0" y="121920"/>
                  </a:moveTo>
                  <a:cubicBezTo>
                    <a:pt x="0" y="54610"/>
                    <a:pt x="55499" y="0"/>
                    <a:pt x="123825" y="0"/>
                  </a:cubicBezTo>
                  <a:lnTo>
                    <a:pt x="8763000" y="0"/>
                  </a:lnTo>
                  <a:cubicBezTo>
                    <a:pt x="8831453" y="0"/>
                    <a:pt x="8886825" y="54610"/>
                    <a:pt x="8886825" y="121920"/>
                  </a:cubicBezTo>
                  <a:lnTo>
                    <a:pt x="8886825" y="1237615"/>
                  </a:lnTo>
                  <a:cubicBezTo>
                    <a:pt x="8886825" y="1304925"/>
                    <a:pt x="8831326" y="1359535"/>
                    <a:pt x="8763000" y="1359535"/>
                  </a:cubicBezTo>
                  <a:lnTo>
                    <a:pt x="123825" y="1359535"/>
                  </a:lnTo>
                  <a:cubicBezTo>
                    <a:pt x="55372" y="1359535"/>
                    <a:pt x="0" y="1304925"/>
                    <a:pt x="0" y="1237615"/>
                  </a:cubicBezTo>
                  <a:close/>
                </a:path>
              </a:pathLst>
            </a:custGeom>
            <a:solidFill>
              <a:srgbClr val="FFFFFF"/>
            </a:solidFill>
          </p:spPr>
        </p:sp>
        <p:sp>
          <p:nvSpPr>
            <p:cNvPr id="21" name="Freeform 21"/>
            <p:cNvSpPr/>
            <p:nvPr/>
          </p:nvSpPr>
          <p:spPr>
            <a:xfrm>
              <a:off x="0" y="0"/>
              <a:ext cx="8912225" cy="1384935"/>
            </a:xfrm>
            <a:custGeom>
              <a:avLst/>
              <a:gdLst/>
              <a:ahLst/>
              <a:cxnLst/>
              <a:rect l="l" t="t" r="r" b="b"/>
              <a:pathLst>
                <a:path w="8912225" h="1384935">
                  <a:moveTo>
                    <a:pt x="0" y="134620"/>
                  </a:moveTo>
                  <a:cubicBezTo>
                    <a:pt x="0" y="60071"/>
                    <a:pt x="61341" y="0"/>
                    <a:pt x="136525" y="0"/>
                  </a:cubicBezTo>
                  <a:lnTo>
                    <a:pt x="8775700" y="0"/>
                  </a:lnTo>
                  <a:lnTo>
                    <a:pt x="8775700" y="12700"/>
                  </a:lnTo>
                  <a:lnTo>
                    <a:pt x="8775700" y="0"/>
                  </a:lnTo>
                  <a:cubicBezTo>
                    <a:pt x="8850884" y="0"/>
                    <a:pt x="8912225" y="60071"/>
                    <a:pt x="8912225" y="134620"/>
                  </a:cubicBezTo>
                  <a:lnTo>
                    <a:pt x="8899525" y="134620"/>
                  </a:lnTo>
                  <a:lnTo>
                    <a:pt x="8912225" y="134620"/>
                  </a:lnTo>
                  <a:lnTo>
                    <a:pt x="8912225" y="1250315"/>
                  </a:lnTo>
                  <a:lnTo>
                    <a:pt x="8899525" y="1250315"/>
                  </a:lnTo>
                  <a:lnTo>
                    <a:pt x="8912225" y="1250315"/>
                  </a:lnTo>
                  <a:cubicBezTo>
                    <a:pt x="8912225" y="1324864"/>
                    <a:pt x="8850884" y="1384935"/>
                    <a:pt x="8775700" y="1384935"/>
                  </a:cubicBezTo>
                  <a:lnTo>
                    <a:pt x="8775700" y="1372235"/>
                  </a:lnTo>
                  <a:lnTo>
                    <a:pt x="8775700" y="1384935"/>
                  </a:lnTo>
                  <a:lnTo>
                    <a:pt x="136525" y="1384935"/>
                  </a:lnTo>
                  <a:lnTo>
                    <a:pt x="136525" y="1372235"/>
                  </a:lnTo>
                  <a:lnTo>
                    <a:pt x="136525" y="1384935"/>
                  </a:lnTo>
                  <a:cubicBezTo>
                    <a:pt x="61341" y="1384935"/>
                    <a:pt x="0" y="1324864"/>
                    <a:pt x="0" y="1250315"/>
                  </a:cubicBezTo>
                  <a:lnTo>
                    <a:pt x="0" y="134620"/>
                  </a:lnTo>
                  <a:lnTo>
                    <a:pt x="12700" y="134620"/>
                  </a:lnTo>
                  <a:lnTo>
                    <a:pt x="0" y="134620"/>
                  </a:lnTo>
                  <a:moveTo>
                    <a:pt x="25400" y="134620"/>
                  </a:moveTo>
                  <a:lnTo>
                    <a:pt x="25400" y="1250315"/>
                  </a:lnTo>
                  <a:lnTo>
                    <a:pt x="12700" y="1250315"/>
                  </a:lnTo>
                  <a:lnTo>
                    <a:pt x="25400" y="1250315"/>
                  </a:lnTo>
                  <a:cubicBezTo>
                    <a:pt x="25400" y="1310386"/>
                    <a:pt x="74930" y="1359535"/>
                    <a:pt x="136525" y="1359535"/>
                  </a:cubicBezTo>
                  <a:lnTo>
                    <a:pt x="8775700" y="1359535"/>
                  </a:lnTo>
                  <a:cubicBezTo>
                    <a:pt x="8837295" y="1359535"/>
                    <a:pt x="8886825" y="1310386"/>
                    <a:pt x="8886825" y="1250315"/>
                  </a:cubicBezTo>
                  <a:lnTo>
                    <a:pt x="8886825" y="134620"/>
                  </a:lnTo>
                  <a:cubicBezTo>
                    <a:pt x="8886825" y="74549"/>
                    <a:pt x="8837295" y="25400"/>
                    <a:pt x="8775700" y="25400"/>
                  </a:cubicBezTo>
                  <a:lnTo>
                    <a:pt x="136525" y="25400"/>
                  </a:lnTo>
                  <a:lnTo>
                    <a:pt x="136525" y="12700"/>
                  </a:lnTo>
                  <a:lnTo>
                    <a:pt x="136525" y="25400"/>
                  </a:lnTo>
                  <a:cubicBezTo>
                    <a:pt x="74930" y="25400"/>
                    <a:pt x="25400" y="74549"/>
                    <a:pt x="25400" y="134620"/>
                  </a:cubicBezTo>
                  <a:close/>
                </a:path>
              </a:pathLst>
            </a:custGeom>
            <a:solidFill>
              <a:srgbClr val="FF7047"/>
            </a:solidFill>
          </p:spPr>
        </p:sp>
      </p:grpSp>
      <p:grpSp>
        <p:nvGrpSpPr>
          <p:cNvPr id="22" name="Group 22"/>
          <p:cNvGrpSpPr/>
          <p:nvPr/>
        </p:nvGrpSpPr>
        <p:grpSpPr>
          <a:xfrm>
            <a:off x="2105606" y="4072861"/>
            <a:ext cx="76200" cy="1019623"/>
            <a:chOff x="0" y="0"/>
            <a:chExt cx="101600" cy="1359497"/>
          </a:xfrm>
        </p:grpSpPr>
        <p:sp>
          <p:nvSpPr>
            <p:cNvPr id="23" name="Freeform 23"/>
            <p:cNvSpPr/>
            <p:nvPr/>
          </p:nvSpPr>
          <p:spPr>
            <a:xfrm>
              <a:off x="0" y="0"/>
              <a:ext cx="101600" cy="1359535"/>
            </a:xfrm>
            <a:custGeom>
              <a:avLst/>
              <a:gdLst/>
              <a:ahLst/>
              <a:cxnLst/>
              <a:rect l="l" t="t" r="r" b="b"/>
              <a:pathLst>
                <a:path w="101600" h="1359535">
                  <a:moveTo>
                    <a:pt x="0" y="50800"/>
                  </a:moveTo>
                  <a:cubicBezTo>
                    <a:pt x="0" y="22733"/>
                    <a:pt x="22733" y="0"/>
                    <a:pt x="50800" y="0"/>
                  </a:cubicBezTo>
                  <a:cubicBezTo>
                    <a:pt x="78867" y="0"/>
                    <a:pt x="101600" y="22733"/>
                    <a:pt x="101600" y="50800"/>
                  </a:cubicBezTo>
                  <a:lnTo>
                    <a:pt x="101600" y="1308735"/>
                  </a:lnTo>
                  <a:cubicBezTo>
                    <a:pt x="101600" y="1336802"/>
                    <a:pt x="78867" y="1359535"/>
                    <a:pt x="50800" y="1359535"/>
                  </a:cubicBezTo>
                  <a:cubicBezTo>
                    <a:pt x="22733" y="1359535"/>
                    <a:pt x="0" y="1336802"/>
                    <a:pt x="0" y="1308735"/>
                  </a:cubicBezTo>
                  <a:close/>
                </a:path>
              </a:pathLst>
            </a:custGeom>
            <a:solidFill>
              <a:srgbClr val="FF7047"/>
            </a:solidFill>
          </p:spPr>
        </p:sp>
      </p:grpSp>
      <p:sp>
        <p:nvSpPr>
          <p:cNvPr id="24" name="TextBox 24"/>
          <p:cNvSpPr txBox="1"/>
          <p:nvPr/>
        </p:nvSpPr>
        <p:spPr>
          <a:xfrm>
            <a:off x="2375278" y="4256818"/>
            <a:ext cx="2180482" cy="282026"/>
          </a:xfrm>
          <a:prstGeom prst="rect">
            <a:avLst/>
          </a:prstGeom>
        </p:spPr>
        <p:txBody>
          <a:bodyPr lIns="0" tIns="0" rIns="0" bIns="0" rtlCol="0" anchor="t">
            <a:spAutoFit/>
          </a:bodyPr>
          <a:lstStyle/>
          <a:p>
            <a:pPr algn="l">
              <a:lnSpc>
                <a:spcPts val="2125"/>
              </a:lnSpc>
            </a:pPr>
            <a:r>
              <a:rPr lang="en-US" sz="1750">
                <a:solidFill>
                  <a:srgbClr val="000000"/>
                </a:solidFill>
                <a:latin typeface="Inter"/>
                <a:ea typeface="Inter"/>
                <a:cs typeface="Inter"/>
                <a:sym typeface="Inter"/>
              </a:rPr>
              <a:t>Delayed Reporting</a:t>
            </a:r>
          </a:p>
        </p:txBody>
      </p:sp>
      <p:sp>
        <p:nvSpPr>
          <p:cNvPr id="25" name="TextBox 25"/>
          <p:cNvSpPr txBox="1"/>
          <p:nvPr/>
        </p:nvSpPr>
        <p:spPr>
          <a:xfrm>
            <a:off x="2375278" y="4623378"/>
            <a:ext cx="6221016" cy="275634"/>
          </a:xfrm>
          <a:prstGeom prst="rect">
            <a:avLst/>
          </a:prstGeom>
        </p:spPr>
        <p:txBody>
          <a:bodyPr lIns="0" tIns="0" rIns="0" bIns="0" rtlCol="0" anchor="t">
            <a:spAutoFit/>
          </a:bodyPr>
          <a:lstStyle/>
          <a:p>
            <a:pPr algn="l">
              <a:lnSpc>
                <a:spcPts val="1812"/>
              </a:lnSpc>
            </a:pPr>
            <a:r>
              <a:rPr lang="en-US" sz="1375">
                <a:solidFill>
                  <a:srgbClr val="000000"/>
                </a:solidFill>
                <a:latin typeface="Arimo"/>
                <a:ea typeface="Arimo"/>
                <a:cs typeface="Arimo"/>
                <a:sym typeface="Arimo"/>
              </a:rPr>
              <a:t>Reports take hours or days to produce, limiting timely decision-making.</a:t>
            </a:r>
          </a:p>
        </p:txBody>
      </p:sp>
      <p:grpSp>
        <p:nvGrpSpPr>
          <p:cNvPr id="26" name="Group 26"/>
          <p:cNvGrpSpPr/>
          <p:nvPr/>
        </p:nvGrpSpPr>
        <p:grpSpPr>
          <a:xfrm>
            <a:off x="2115131" y="5205593"/>
            <a:ext cx="6684169" cy="1038673"/>
            <a:chOff x="0" y="0"/>
            <a:chExt cx="8912225" cy="1384897"/>
          </a:xfrm>
        </p:grpSpPr>
        <p:sp>
          <p:nvSpPr>
            <p:cNvPr id="27" name="Freeform 27"/>
            <p:cNvSpPr/>
            <p:nvPr/>
          </p:nvSpPr>
          <p:spPr>
            <a:xfrm>
              <a:off x="12700" y="12700"/>
              <a:ext cx="8886825" cy="1359535"/>
            </a:xfrm>
            <a:custGeom>
              <a:avLst/>
              <a:gdLst/>
              <a:ahLst/>
              <a:cxnLst/>
              <a:rect l="l" t="t" r="r" b="b"/>
              <a:pathLst>
                <a:path w="8886825" h="1359535">
                  <a:moveTo>
                    <a:pt x="0" y="121920"/>
                  </a:moveTo>
                  <a:cubicBezTo>
                    <a:pt x="0" y="54610"/>
                    <a:pt x="55499" y="0"/>
                    <a:pt x="123825" y="0"/>
                  </a:cubicBezTo>
                  <a:lnTo>
                    <a:pt x="8763000" y="0"/>
                  </a:lnTo>
                  <a:cubicBezTo>
                    <a:pt x="8831453" y="0"/>
                    <a:pt x="8886825" y="54610"/>
                    <a:pt x="8886825" y="121920"/>
                  </a:cubicBezTo>
                  <a:lnTo>
                    <a:pt x="8886825" y="1237615"/>
                  </a:lnTo>
                  <a:cubicBezTo>
                    <a:pt x="8886825" y="1304925"/>
                    <a:pt x="8831326" y="1359535"/>
                    <a:pt x="8763000" y="1359535"/>
                  </a:cubicBezTo>
                  <a:lnTo>
                    <a:pt x="123825" y="1359535"/>
                  </a:lnTo>
                  <a:cubicBezTo>
                    <a:pt x="55372" y="1359535"/>
                    <a:pt x="0" y="1304925"/>
                    <a:pt x="0" y="1237615"/>
                  </a:cubicBezTo>
                  <a:close/>
                </a:path>
              </a:pathLst>
            </a:custGeom>
            <a:solidFill>
              <a:srgbClr val="FFFFFF"/>
            </a:solidFill>
          </p:spPr>
        </p:sp>
        <p:sp>
          <p:nvSpPr>
            <p:cNvPr id="28" name="Freeform 28"/>
            <p:cNvSpPr/>
            <p:nvPr/>
          </p:nvSpPr>
          <p:spPr>
            <a:xfrm>
              <a:off x="0" y="0"/>
              <a:ext cx="8912225" cy="1384935"/>
            </a:xfrm>
            <a:custGeom>
              <a:avLst/>
              <a:gdLst/>
              <a:ahLst/>
              <a:cxnLst/>
              <a:rect l="l" t="t" r="r" b="b"/>
              <a:pathLst>
                <a:path w="8912225" h="1384935">
                  <a:moveTo>
                    <a:pt x="0" y="134620"/>
                  </a:moveTo>
                  <a:cubicBezTo>
                    <a:pt x="0" y="60071"/>
                    <a:pt x="61341" y="0"/>
                    <a:pt x="136525" y="0"/>
                  </a:cubicBezTo>
                  <a:lnTo>
                    <a:pt x="8775700" y="0"/>
                  </a:lnTo>
                  <a:lnTo>
                    <a:pt x="8775700" y="12700"/>
                  </a:lnTo>
                  <a:lnTo>
                    <a:pt x="8775700" y="0"/>
                  </a:lnTo>
                  <a:cubicBezTo>
                    <a:pt x="8850884" y="0"/>
                    <a:pt x="8912225" y="60071"/>
                    <a:pt x="8912225" y="134620"/>
                  </a:cubicBezTo>
                  <a:lnTo>
                    <a:pt x="8899525" y="134620"/>
                  </a:lnTo>
                  <a:lnTo>
                    <a:pt x="8912225" y="134620"/>
                  </a:lnTo>
                  <a:lnTo>
                    <a:pt x="8912225" y="1250315"/>
                  </a:lnTo>
                  <a:lnTo>
                    <a:pt x="8899525" y="1250315"/>
                  </a:lnTo>
                  <a:lnTo>
                    <a:pt x="8912225" y="1250315"/>
                  </a:lnTo>
                  <a:cubicBezTo>
                    <a:pt x="8912225" y="1324864"/>
                    <a:pt x="8850884" y="1384935"/>
                    <a:pt x="8775700" y="1384935"/>
                  </a:cubicBezTo>
                  <a:lnTo>
                    <a:pt x="8775700" y="1372235"/>
                  </a:lnTo>
                  <a:lnTo>
                    <a:pt x="8775700" y="1384935"/>
                  </a:lnTo>
                  <a:lnTo>
                    <a:pt x="136525" y="1384935"/>
                  </a:lnTo>
                  <a:lnTo>
                    <a:pt x="136525" y="1372235"/>
                  </a:lnTo>
                  <a:lnTo>
                    <a:pt x="136525" y="1384935"/>
                  </a:lnTo>
                  <a:cubicBezTo>
                    <a:pt x="61341" y="1384935"/>
                    <a:pt x="0" y="1324864"/>
                    <a:pt x="0" y="1250315"/>
                  </a:cubicBezTo>
                  <a:lnTo>
                    <a:pt x="0" y="134620"/>
                  </a:lnTo>
                  <a:lnTo>
                    <a:pt x="12700" y="134620"/>
                  </a:lnTo>
                  <a:lnTo>
                    <a:pt x="0" y="134620"/>
                  </a:lnTo>
                  <a:moveTo>
                    <a:pt x="25400" y="134620"/>
                  </a:moveTo>
                  <a:lnTo>
                    <a:pt x="25400" y="1250315"/>
                  </a:lnTo>
                  <a:lnTo>
                    <a:pt x="12700" y="1250315"/>
                  </a:lnTo>
                  <a:lnTo>
                    <a:pt x="25400" y="1250315"/>
                  </a:lnTo>
                  <a:cubicBezTo>
                    <a:pt x="25400" y="1310386"/>
                    <a:pt x="74930" y="1359535"/>
                    <a:pt x="136525" y="1359535"/>
                  </a:cubicBezTo>
                  <a:lnTo>
                    <a:pt x="8775700" y="1359535"/>
                  </a:lnTo>
                  <a:cubicBezTo>
                    <a:pt x="8837295" y="1359535"/>
                    <a:pt x="8886825" y="1310386"/>
                    <a:pt x="8886825" y="1250315"/>
                  </a:cubicBezTo>
                  <a:lnTo>
                    <a:pt x="8886825" y="134620"/>
                  </a:lnTo>
                  <a:cubicBezTo>
                    <a:pt x="8886825" y="74549"/>
                    <a:pt x="8837295" y="25400"/>
                    <a:pt x="8775700" y="25400"/>
                  </a:cubicBezTo>
                  <a:lnTo>
                    <a:pt x="136525" y="25400"/>
                  </a:lnTo>
                  <a:lnTo>
                    <a:pt x="136525" y="12700"/>
                  </a:lnTo>
                  <a:lnTo>
                    <a:pt x="136525" y="25400"/>
                  </a:lnTo>
                  <a:cubicBezTo>
                    <a:pt x="74930" y="25400"/>
                    <a:pt x="25400" y="74549"/>
                    <a:pt x="25400" y="134620"/>
                  </a:cubicBezTo>
                  <a:close/>
                </a:path>
              </a:pathLst>
            </a:custGeom>
            <a:solidFill>
              <a:srgbClr val="FF7047"/>
            </a:solidFill>
          </p:spPr>
        </p:sp>
      </p:grpSp>
      <p:grpSp>
        <p:nvGrpSpPr>
          <p:cNvPr id="29" name="Group 29"/>
          <p:cNvGrpSpPr/>
          <p:nvPr/>
        </p:nvGrpSpPr>
        <p:grpSpPr>
          <a:xfrm>
            <a:off x="2105606" y="5215118"/>
            <a:ext cx="76200" cy="1019623"/>
            <a:chOff x="0" y="0"/>
            <a:chExt cx="101600" cy="1359497"/>
          </a:xfrm>
        </p:grpSpPr>
        <p:sp>
          <p:nvSpPr>
            <p:cNvPr id="30" name="Freeform 30"/>
            <p:cNvSpPr/>
            <p:nvPr/>
          </p:nvSpPr>
          <p:spPr>
            <a:xfrm>
              <a:off x="0" y="0"/>
              <a:ext cx="101600" cy="1359535"/>
            </a:xfrm>
            <a:custGeom>
              <a:avLst/>
              <a:gdLst/>
              <a:ahLst/>
              <a:cxnLst/>
              <a:rect l="l" t="t" r="r" b="b"/>
              <a:pathLst>
                <a:path w="101600" h="1359535">
                  <a:moveTo>
                    <a:pt x="0" y="50800"/>
                  </a:moveTo>
                  <a:cubicBezTo>
                    <a:pt x="0" y="22733"/>
                    <a:pt x="22733" y="0"/>
                    <a:pt x="50800" y="0"/>
                  </a:cubicBezTo>
                  <a:cubicBezTo>
                    <a:pt x="78867" y="0"/>
                    <a:pt x="101600" y="22733"/>
                    <a:pt x="101600" y="50800"/>
                  </a:cubicBezTo>
                  <a:lnTo>
                    <a:pt x="101600" y="1308735"/>
                  </a:lnTo>
                  <a:cubicBezTo>
                    <a:pt x="101600" y="1336802"/>
                    <a:pt x="78867" y="1359535"/>
                    <a:pt x="50800" y="1359535"/>
                  </a:cubicBezTo>
                  <a:cubicBezTo>
                    <a:pt x="22733" y="1359535"/>
                    <a:pt x="0" y="1336802"/>
                    <a:pt x="0" y="1308735"/>
                  </a:cubicBezTo>
                  <a:close/>
                </a:path>
              </a:pathLst>
            </a:custGeom>
            <a:solidFill>
              <a:srgbClr val="FF7047"/>
            </a:solidFill>
          </p:spPr>
        </p:sp>
      </p:grpSp>
      <p:sp>
        <p:nvSpPr>
          <p:cNvPr id="31" name="TextBox 31"/>
          <p:cNvSpPr txBox="1"/>
          <p:nvPr/>
        </p:nvSpPr>
        <p:spPr>
          <a:xfrm>
            <a:off x="2375278" y="5399075"/>
            <a:ext cx="2911973" cy="282026"/>
          </a:xfrm>
          <a:prstGeom prst="rect">
            <a:avLst/>
          </a:prstGeom>
        </p:spPr>
        <p:txBody>
          <a:bodyPr lIns="0" tIns="0" rIns="0" bIns="0" rtlCol="0" anchor="t">
            <a:spAutoFit/>
          </a:bodyPr>
          <a:lstStyle/>
          <a:p>
            <a:pPr algn="l">
              <a:lnSpc>
                <a:spcPts val="2125"/>
              </a:lnSpc>
            </a:pPr>
            <a:r>
              <a:rPr lang="en-US" sz="1750">
                <a:solidFill>
                  <a:srgbClr val="000000"/>
                </a:solidFill>
                <a:latin typeface="Inter"/>
                <a:ea typeface="Inter"/>
                <a:cs typeface="Inter"/>
                <a:sym typeface="Inter"/>
              </a:rPr>
              <a:t>Fragmented Communication</a:t>
            </a:r>
          </a:p>
        </p:txBody>
      </p:sp>
      <p:sp>
        <p:nvSpPr>
          <p:cNvPr id="32" name="TextBox 32"/>
          <p:cNvSpPr txBox="1"/>
          <p:nvPr/>
        </p:nvSpPr>
        <p:spPr>
          <a:xfrm>
            <a:off x="2375278" y="5765635"/>
            <a:ext cx="6221016" cy="275634"/>
          </a:xfrm>
          <a:prstGeom prst="rect">
            <a:avLst/>
          </a:prstGeom>
        </p:spPr>
        <p:txBody>
          <a:bodyPr lIns="0" tIns="0" rIns="0" bIns="0" rtlCol="0" anchor="t">
            <a:spAutoFit/>
          </a:bodyPr>
          <a:lstStyle/>
          <a:p>
            <a:pPr algn="l">
              <a:lnSpc>
                <a:spcPts val="1812"/>
              </a:lnSpc>
            </a:pPr>
            <a:r>
              <a:rPr lang="en-US" sz="1375">
                <a:solidFill>
                  <a:srgbClr val="000000"/>
                </a:solidFill>
                <a:latin typeface="Arimo"/>
                <a:ea typeface="Arimo"/>
                <a:cs typeface="Arimo"/>
                <a:sym typeface="Arimo"/>
              </a:rPr>
              <a:t>No automated alerts or parent-facing visibility into attendance patterns.</a:t>
            </a:r>
          </a:p>
        </p:txBody>
      </p:sp>
      <p:sp>
        <p:nvSpPr>
          <p:cNvPr id="33" name="TextBox 33"/>
          <p:cNvSpPr txBox="1"/>
          <p:nvPr/>
        </p:nvSpPr>
        <p:spPr>
          <a:xfrm>
            <a:off x="9273616" y="2273084"/>
            <a:ext cx="2180482" cy="282026"/>
          </a:xfrm>
          <a:prstGeom prst="rect">
            <a:avLst/>
          </a:prstGeom>
        </p:spPr>
        <p:txBody>
          <a:bodyPr lIns="0" tIns="0" rIns="0" bIns="0" rtlCol="0" anchor="t">
            <a:spAutoFit/>
          </a:bodyPr>
          <a:lstStyle/>
          <a:p>
            <a:pPr algn="l">
              <a:lnSpc>
                <a:spcPts val="2125"/>
              </a:lnSpc>
            </a:pPr>
            <a:r>
              <a:rPr lang="en-US" sz="1750">
                <a:solidFill>
                  <a:srgbClr val="0C0D0F"/>
                </a:solidFill>
                <a:latin typeface="Inter"/>
                <a:ea typeface="Inter"/>
                <a:cs typeface="Inter"/>
                <a:sym typeface="Inter"/>
              </a:rPr>
              <a:t>After BIOSYNC</a:t>
            </a:r>
          </a:p>
        </p:txBody>
      </p:sp>
      <p:grpSp>
        <p:nvGrpSpPr>
          <p:cNvPr id="34" name="Group 34"/>
          <p:cNvGrpSpPr/>
          <p:nvPr/>
        </p:nvGrpSpPr>
        <p:grpSpPr>
          <a:xfrm>
            <a:off x="9268854" y="2688317"/>
            <a:ext cx="3231804" cy="1722682"/>
            <a:chOff x="0" y="0"/>
            <a:chExt cx="4309072" cy="2296909"/>
          </a:xfrm>
        </p:grpSpPr>
        <p:sp>
          <p:nvSpPr>
            <p:cNvPr id="35" name="Freeform 35"/>
            <p:cNvSpPr/>
            <p:nvPr/>
          </p:nvSpPr>
          <p:spPr>
            <a:xfrm>
              <a:off x="0" y="0"/>
              <a:ext cx="4309110" cy="2296922"/>
            </a:xfrm>
            <a:custGeom>
              <a:avLst/>
              <a:gdLst/>
              <a:ahLst/>
              <a:cxnLst/>
              <a:rect l="l" t="t" r="r" b="b"/>
              <a:pathLst>
                <a:path w="4309110" h="2296922">
                  <a:moveTo>
                    <a:pt x="0" y="215646"/>
                  </a:moveTo>
                  <a:cubicBezTo>
                    <a:pt x="0" y="96520"/>
                    <a:pt x="96774" y="0"/>
                    <a:pt x="216281" y="0"/>
                  </a:cubicBezTo>
                  <a:lnTo>
                    <a:pt x="4092829" y="0"/>
                  </a:lnTo>
                  <a:lnTo>
                    <a:pt x="4092829" y="6350"/>
                  </a:lnTo>
                  <a:lnTo>
                    <a:pt x="4092829" y="0"/>
                  </a:lnTo>
                  <a:cubicBezTo>
                    <a:pt x="4212209" y="0"/>
                    <a:pt x="4309110" y="96520"/>
                    <a:pt x="4309110" y="215646"/>
                  </a:cubicBezTo>
                  <a:lnTo>
                    <a:pt x="4302760" y="215646"/>
                  </a:lnTo>
                  <a:lnTo>
                    <a:pt x="4309110" y="215646"/>
                  </a:lnTo>
                  <a:lnTo>
                    <a:pt x="4309110" y="2081276"/>
                  </a:lnTo>
                  <a:lnTo>
                    <a:pt x="4302760" y="2081276"/>
                  </a:lnTo>
                  <a:lnTo>
                    <a:pt x="4309110" y="2081276"/>
                  </a:lnTo>
                  <a:cubicBezTo>
                    <a:pt x="4309110" y="2200402"/>
                    <a:pt x="4212336" y="2296922"/>
                    <a:pt x="4092829" y="2296922"/>
                  </a:cubicBezTo>
                  <a:lnTo>
                    <a:pt x="4092829" y="2290572"/>
                  </a:lnTo>
                  <a:lnTo>
                    <a:pt x="4092829" y="2296922"/>
                  </a:lnTo>
                  <a:lnTo>
                    <a:pt x="216281" y="2296922"/>
                  </a:lnTo>
                  <a:lnTo>
                    <a:pt x="216281" y="2290572"/>
                  </a:lnTo>
                  <a:lnTo>
                    <a:pt x="216281" y="2296922"/>
                  </a:lnTo>
                  <a:cubicBezTo>
                    <a:pt x="96901" y="2296922"/>
                    <a:pt x="0" y="2200402"/>
                    <a:pt x="0" y="2081276"/>
                  </a:cubicBezTo>
                  <a:lnTo>
                    <a:pt x="0" y="215646"/>
                  </a:lnTo>
                  <a:lnTo>
                    <a:pt x="6350" y="215646"/>
                  </a:lnTo>
                  <a:lnTo>
                    <a:pt x="0" y="215646"/>
                  </a:lnTo>
                  <a:moveTo>
                    <a:pt x="12700" y="215646"/>
                  </a:moveTo>
                  <a:lnTo>
                    <a:pt x="12700" y="2081276"/>
                  </a:lnTo>
                  <a:lnTo>
                    <a:pt x="6350" y="2081276"/>
                  </a:lnTo>
                  <a:lnTo>
                    <a:pt x="12700" y="2081276"/>
                  </a:lnTo>
                  <a:cubicBezTo>
                    <a:pt x="12700" y="2193417"/>
                    <a:pt x="103759" y="2284222"/>
                    <a:pt x="216281" y="2284222"/>
                  </a:cubicBezTo>
                  <a:lnTo>
                    <a:pt x="4092829" y="2284222"/>
                  </a:lnTo>
                  <a:cubicBezTo>
                    <a:pt x="4205224" y="2284222"/>
                    <a:pt x="4296410" y="2193290"/>
                    <a:pt x="4296410" y="2081276"/>
                  </a:cubicBezTo>
                  <a:lnTo>
                    <a:pt x="4296410" y="215646"/>
                  </a:lnTo>
                  <a:cubicBezTo>
                    <a:pt x="4296410" y="103632"/>
                    <a:pt x="4205224" y="12700"/>
                    <a:pt x="4092829" y="12700"/>
                  </a:cubicBezTo>
                  <a:lnTo>
                    <a:pt x="216281" y="12700"/>
                  </a:lnTo>
                  <a:lnTo>
                    <a:pt x="216281" y="6350"/>
                  </a:lnTo>
                  <a:lnTo>
                    <a:pt x="216281" y="12700"/>
                  </a:lnTo>
                  <a:cubicBezTo>
                    <a:pt x="103759" y="12700"/>
                    <a:pt x="12700" y="103632"/>
                    <a:pt x="12700" y="215646"/>
                  </a:cubicBezTo>
                  <a:close/>
                </a:path>
              </a:pathLst>
            </a:custGeom>
            <a:solidFill>
              <a:srgbClr val="ED7D31"/>
            </a:solidFill>
          </p:spPr>
        </p:sp>
      </p:grpSp>
      <p:sp>
        <p:nvSpPr>
          <p:cNvPr id="36" name="TextBox 36"/>
          <p:cNvSpPr txBox="1"/>
          <p:nvPr/>
        </p:nvSpPr>
        <p:spPr>
          <a:xfrm>
            <a:off x="9457563" y="2857289"/>
            <a:ext cx="2582037" cy="269304"/>
          </a:xfrm>
          <a:prstGeom prst="rect">
            <a:avLst/>
          </a:prstGeom>
        </p:spPr>
        <p:txBody>
          <a:bodyPr wrap="square" lIns="0" tIns="0" rIns="0" bIns="0" rtlCol="0" anchor="t">
            <a:spAutoFit/>
          </a:bodyPr>
          <a:lstStyle/>
          <a:p>
            <a:pPr algn="l">
              <a:lnSpc>
                <a:spcPts val="2125"/>
              </a:lnSpc>
            </a:pPr>
            <a:r>
              <a:rPr lang="en-US" sz="1750" dirty="0">
                <a:solidFill>
                  <a:srgbClr val="000000"/>
                </a:solidFill>
                <a:latin typeface="Inter"/>
                <a:ea typeface="Inter"/>
                <a:cs typeface="Inter"/>
                <a:sym typeface="Inter"/>
              </a:rPr>
              <a:t>Automated Processing</a:t>
            </a:r>
          </a:p>
        </p:txBody>
      </p:sp>
      <p:sp>
        <p:nvSpPr>
          <p:cNvPr id="37" name="TextBox 37"/>
          <p:cNvSpPr txBox="1"/>
          <p:nvPr/>
        </p:nvSpPr>
        <p:spPr>
          <a:xfrm>
            <a:off x="9457563" y="3234071"/>
            <a:ext cx="2854376" cy="988219"/>
          </a:xfrm>
          <a:prstGeom prst="rect">
            <a:avLst/>
          </a:prstGeom>
        </p:spPr>
        <p:txBody>
          <a:bodyPr lIns="0" tIns="0" rIns="0" bIns="0" rtlCol="0" anchor="t">
            <a:spAutoFit/>
          </a:bodyPr>
          <a:lstStyle/>
          <a:p>
            <a:pPr algn="l">
              <a:lnSpc>
                <a:spcPts val="1812"/>
              </a:lnSpc>
            </a:pPr>
            <a:r>
              <a:rPr lang="en-US" sz="1375" dirty="0">
                <a:solidFill>
                  <a:srgbClr val="000000"/>
                </a:solidFill>
                <a:latin typeface="Arimo"/>
                <a:ea typeface="Arimo"/>
                <a:cs typeface="Arimo"/>
                <a:sym typeface="Arimo"/>
              </a:rPr>
              <a:t>Biometric device data flows automatically through intelligent preprocessing and report generation.</a:t>
            </a:r>
          </a:p>
        </p:txBody>
      </p:sp>
      <p:grpSp>
        <p:nvGrpSpPr>
          <p:cNvPr id="38" name="Group 38"/>
          <p:cNvGrpSpPr/>
          <p:nvPr/>
        </p:nvGrpSpPr>
        <p:grpSpPr>
          <a:xfrm>
            <a:off x="12613767" y="2688317"/>
            <a:ext cx="3231804" cy="1722682"/>
            <a:chOff x="0" y="0"/>
            <a:chExt cx="4309072" cy="2296909"/>
          </a:xfrm>
        </p:grpSpPr>
        <p:sp>
          <p:nvSpPr>
            <p:cNvPr id="39" name="Freeform 39"/>
            <p:cNvSpPr/>
            <p:nvPr/>
          </p:nvSpPr>
          <p:spPr>
            <a:xfrm>
              <a:off x="0" y="0"/>
              <a:ext cx="4309110" cy="2296922"/>
            </a:xfrm>
            <a:custGeom>
              <a:avLst/>
              <a:gdLst/>
              <a:ahLst/>
              <a:cxnLst/>
              <a:rect l="l" t="t" r="r" b="b"/>
              <a:pathLst>
                <a:path w="4309110" h="2296922">
                  <a:moveTo>
                    <a:pt x="0" y="215646"/>
                  </a:moveTo>
                  <a:cubicBezTo>
                    <a:pt x="0" y="96520"/>
                    <a:pt x="96774" y="0"/>
                    <a:pt x="216281" y="0"/>
                  </a:cubicBezTo>
                  <a:lnTo>
                    <a:pt x="4092829" y="0"/>
                  </a:lnTo>
                  <a:lnTo>
                    <a:pt x="4092829" y="6350"/>
                  </a:lnTo>
                  <a:lnTo>
                    <a:pt x="4092829" y="0"/>
                  </a:lnTo>
                  <a:cubicBezTo>
                    <a:pt x="4212209" y="0"/>
                    <a:pt x="4309110" y="96520"/>
                    <a:pt x="4309110" y="215646"/>
                  </a:cubicBezTo>
                  <a:lnTo>
                    <a:pt x="4302760" y="215646"/>
                  </a:lnTo>
                  <a:lnTo>
                    <a:pt x="4309110" y="215646"/>
                  </a:lnTo>
                  <a:lnTo>
                    <a:pt x="4309110" y="2081276"/>
                  </a:lnTo>
                  <a:lnTo>
                    <a:pt x="4302760" y="2081276"/>
                  </a:lnTo>
                  <a:lnTo>
                    <a:pt x="4309110" y="2081276"/>
                  </a:lnTo>
                  <a:cubicBezTo>
                    <a:pt x="4309110" y="2200402"/>
                    <a:pt x="4212336" y="2296922"/>
                    <a:pt x="4092829" y="2296922"/>
                  </a:cubicBezTo>
                  <a:lnTo>
                    <a:pt x="4092829" y="2290572"/>
                  </a:lnTo>
                  <a:lnTo>
                    <a:pt x="4092829" y="2296922"/>
                  </a:lnTo>
                  <a:lnTo>
                    <a:pt x="216281" y="2296922"/>
                  </a:lnTo>
                  <a:lnTo>
                    <a:pt x="216281" y="2290572"/>
                  </a:lnTo>
                  <a:lnTo>
                    <a:pt x="216281" y="2296922"/>
                  </a:lnTo>
                  <a:cubicBezTo>
                    <a:pt x="96901" y="2296922"/>
                    <a:pt x="0" y="2200402"/>
                    <a:pt x="0" y="2081276"/>
                  </a:cubicBezTo>
                  <a:lnTo>
                    <a:pt x="0" y="215646"/>
                  </a:lnTo>
                  <a:lnTo>
                    <a:pt x="6350" y="215646"/>
                  </a:lnTo>
                  <a:lnTo>
                    <a:pt x="0" y="215646"/>
                  </a:lnTo>
                  <a:moveTo>
                    <a:pt x="12700" y="215646"/>
                  </a:moveTo>
                  <a:lnTo>
                    <a:pt x="12700" y="2081276"/>
                  </a:lnTo>
                  <a:lnTo>
                    <a:pt x="6350" y="2081276"/>
                  </a:lnTo>
                  <a:lnTo>
                    <a:pt x="12700" y="2081276"/>
                  </a:lnTo>
                  <a:cubicBezTo>
                    <a:pt x="12700" y="2193417"/>
                    <a:pt x="103759" y="2284222"/>
                    <a:pt x="216281" y="2284222"/>
                  </a:cubicBezTo>
                  <a:lnTo>
                    <a:pt x="4092829" y="2284222"/>
                  </a:lnTo>
                  <a:cubicBezTo>
                    <a:pt x="4205224" y="2284222"/>
                    <a:pt x="4296410" y="2193290"/>
                    <a:pt x="4296410" y="2081276"/>
                  </a:cubicBezTo>
                  <a:lnTo>
                    <a:pt x="4296410" y="215646"/>
                  </a:lnTo>
                  <a:cubicBezTo>
                    <a:pt x="4296410" y="103632"/>
                    <a:pt x="4205224" y="12700"/>
                    <a:pt x="4092829" y="12700"/>
                  </a:cubicBezTo>
                  <a:lnTo>
                    <a:pt x="216281" y="12700"/>
                  </a:lnTo>
                  <a:lnTo>
                    <a:pt x="216281" y="6350"/>
                  </a:lnTo>
                  <a:lnTo>
                    <a:pt x="216281" y="12700"/>
                  </a:lnTo>
                  <a:cubicBezTo>
                    <a:pt x="103759" y="12700"/>
                    <a:pt x="12700" y="103632"/>
                    <a:pt x="12700" y="215646"/>
                  </a:cubicBezTo>
                  <a:close/>
                </a:path>
              </a:pathLst>
            </a:custGeom>
            <a:solidFill>
              <a:srgbClr val="FF7047"/>
            </a:solidFill>
          </p:spPr>
        </p:sp>
      </p:grpSp>
      <p:sp>
        <p:nvSpPr>
          <p:cNvPr id="40" name="TextBox 40"/>
          <p:cNvSpPr txBox="1"/>
          <p:nvPr/>
        </p:nvSpPr>
        <p:spPr>
          <a:xfrm>
            <a:off x="12802476" y="2867511"/>
            <a:ext cx="2180482" cy="282026"/>
          </a:xfrm>
          <a:prstGeom prst="rect">
            <a:avLst/>
          </a:prstGeom>
        </p:spPr>
        <p:txBody>
          <a:bodyPr lIns="0" tIns="0" rIns="0" bIns="0" rtlCol="0" anchor="t">
            <a:spAutoFit/>
          </a:bodyPr>
          <a:lstStyle/>
          <a:p>
            <a:pPr algn="l">
              <a:lnSpc>
                <a:spcPts val="2125"/>
              </a:lnSpc>
            </a:pPr>
            <a:r>
              <a:rPr lang="en-US" sz="1750">
                <a:solidFill>
                  <a:srgbClr val="000000"/>
                </a:solidFill>
                <a:latin typeface="Inter"/>
                <a:ea typeface="Inter"/>
                <a:cs typeface="Inter"/>
                <a:sym typeface="Inter"/>
              </a:rPr>
              <a:t>Instant Reports</a:t>
            </a:r>
          </a:p>
        </p:txBody>
      </p:sp>
      <p:sp>
        <p:nvSpPr>
          <p:cNvPr id="41" name="TextBox 41"/>
          <p:cNvSpPr txBox="1"/>
          <p:nvPr/>
        </p:nvSpPr>
        <p:spPr>
          <a:xfrm>
            <a:off x="12802476" y="3234071"/>
            <a:ext cx="2854376" cy="750684"/>
          </a:xfrm>
          <a:prstGeom prst="rect">
            <a:avLst/>
          </a:prstGeom>
        </p:spPr>
        <p:txBody>
          <a:bodyPr lIns="0" tIns="0" rIns="0" bIns="0" rtlCol="0" anchor="t">
            <a:spAutoFit/>
          </a:bodyPr>
          <a:lstStyle/>
          <a:p>
            <a:pPr algn="l">
              <a:lnSpc>
                <a:spcPts val="1812"/>
              </a:lnSpc>
            </a:pPr>
            <a:r>
              <a:rPr lang="en-US" sz="1375">
                <a:solidFill>
                  <a:srgbClr val="000000"/>
                </a:solidFill>
                <a:latin typeface="Arimo"/>
                <a:ea typeface="Arimo"/>
                <a:cs typeface="Arimo"/>
                <a:sym typeface="Arimo"/>
              </a:rPr>
              <a:t>Structured reports generated in minutes with historical context and formatting.</a:t>
            </a:r>
          </a:p>
        </p:txBody>
      </p:sp>
      <p:grpSp>
        <p:nvGrpSpPr>
          <p:cNvPr id="42" name="Group 42"/>
          <p:cNvGrpSpPr/>
          <p:nvPr/>
        </p:nvGrpSpPr>
        <p:grpSpPr>
          <a:xfrm>
            <a:off x="9268854" y="4524108"/>
            <a:ext cx="6576717" cy="1247623"/>
            <a:chOff x="0" y="0"/>
            <a:chExt cx="8768956" cy="1663497"/>
          </a:xfrm>
        </p:grpSpPr>
        <p:sp>
          <p:nvSpPr>
            <p:cNvPr id="43" name="Freeform 43"/>
            <p:cNvSpPr/>
            <p:nvPr/>
          </p:nvSpPr>
          <p:spPr>
            <a:xfrm>
              <a:off x="0" y="0"/>
              <a:ext cx="8768842" cy="1663446"/>
            </a:xfrm>
            <a:custGeom>
              <a:avLst/>
              <a:gdLst/>
              <a:ahLst/>
              <a:cxnLst/>
              <a:rect l="l" t="t" r="r" b="b"/>
              <a:pathLst>
                <a:path w="8768842" h="1663446">
                  <a:moveTo>
                    <a:pt x="0" y="215646"/>
                  </a:moveTo>
                  <a:cubicBezTo>
                    <a:pt x="0" y="96520"/>
                    <a:pt x="97155" y="0"/>
                    <a:pt x="216916" y="0"/>
                  </a:cubicBezTo>
                  <a:lnTo>
                    <a:pt x="8551926" y="0"/>
                  </a:lnTo>
                  <a:lnTo>
                    <a:pt x="8551926" y="6350"/>
                  </a:lnTo>
                  <a:lnTo>
                    <a:pt x="8551926" y="0"/>
                  </a:lnTo>
                  <a:cubicBezTo>
                    <a:pt x="8671687" y="0"/>
                    <a:pt x="8768842" y="96520"/>
                    <a:pt x="8768842" y="215646"/>
                  </a:cubicBezTo>
                  <a:lnTo>
                    <a:pt x="8762492" y="215646"/>
                  </a:lnTo>
                  <a:lnTo>
                    <a:pt x="8768842" y="215646"/>
                  </a:lnTo>
                  <a:lnTo>
                    <a:pt x="8768842" y="1447800"/>
                  </a:lnTo>
                  <a:lnTo>
                    <a:pt x="8762492" y="1447800"/>
                  </a:lnTo>
                  <a:lnTo>
                    <a:pt x="8768842" y="1447800"/>
                  </a:lnTo>
                  <a:cubicBezTo>
                    <a:pt x="8768842" y="1566926"/>
                    <a:pt x="8671687" y="1663446"/>
                    <a:pt x="8551926" y="1663446"/>
                  </a:cubicBezTo>
                  <a:lnTo>
                    <a:pt x="8551926" y="1657096"/>
                  </a:lnTo>
                  <a:lnTo>
                    <a:pt x="8551926" y="1663446"/>
                  </a:lnTo>
                  <a:lnTo>
                    <a:pt x="216916" y="1663446"/>
                  </a:lnTo>
                  <a:lnTo>
                    <a:pt x="216916" y="1657096"/>
                  </a:lnTo>
                  <a:lnTo>
                    <a:pt x="216916" y="1663446"/>
                  </a:lnTo>
                  <a:cubicBezTo>
                    <a:pt x="97155" y="1663446"/>
                    <a:pt x="0" y="1566926"/>
                    <a:pt x="0" y="1447800"/>
                  </a:cubicBezTo>
                  <a:lnTo>
                    <a:pt x="0" y="215646"/>
                  </a:lnTo>
                  <a:lnTo>
                    <a:pt x="6350" y="215646"/>
                  </a:lnTo>
                  <a:lnTo>
                    <a:pt x="0" y="215646"/>
                  </a:lnTo>
                  <a:moveTo>
                    <a:pt x="12700" y="215646"/>
                  </a:moveTo>
                  <a:lnTo>
                    <a:pt x="12700" y="1447800"/>
                  </a:lnTo>
                  <a:lnTo>
                    <a:pt x="6350" y="1447800"/>
                  </a:lnTo>
                  <a:lnTo>
                    <a:pt x="12700" y="1447800"/>
                  </a:lnTo>
                  <a:cubicBezTo>
                    <a:pt x="12700" y="1559814"/>
                    <a:pt x="104140" y="1650746"/>
                    <a:pt x="216916" y="1650746"/>
                  </a:cubicBezTo>
                  <a:lnTo>
                    <a:pt x="8551926" y="1650746"/>
                  </a:lnTo>
                  <a:cubicBezTo>
                    <a:pt x="8664828" y="1650746"/>
                    <a:pt x="8756142" y="1559814"/>
                    <a:pt x="8756142" y="1447800"/>
                  </a:cubicBezTo>
                  <a:lnTo>
                    <a:pt x="8756142" y="215646"/>
                  </a:lnTo>
                  <a:cubicBezTo>
                    <a:pt x="8756142" y="103632"/>
                    <a:pt x="8664702" y="12700"/>
                    <a:pt x="8551926" y="12700"/>
                  </a:cubicBezTo>
                  <a:lnTo>
                    <a:pt x="216916" y="12700"/>
                  </a:lnTo>
                  <a:lnTo>
                    <a:pt x="216916" y="6350"/>
                  </a:lnTo>
                  <a:lnTo>
                    <a:pt x="216916" y="12700"/>
                  </a:lnTo>
                  <a:cubicBezTo>
                    <a:pt x="104140" y="12700"/>
                    <a:pt x="12700" y="103632"/>
                    <a:pt x="12700" y="215646"/>
                  </a:cubicBezTo>
                  <a:close/>
                </a:path>
              </a:pathLst>
            </a:custGeom>
            <a:solidFill>
              <a:srgbClr val="FF7047"/>
            </a:solidFill>
          </p:spPr>
        </p:sp>
      </p:grpSp>
      <p:sp>
        <p:nvSpPr>
          <p:cNvPr id="44" name="TextBox 44"/>
          <p:cNvSpPr txBox="1"/>
          <p:nvPr/>
        </p:nvSpPr>
        <p:spPr>
          <a:xfrm>
            <a:off x="9457563" y="4703302"/>
            <a:ext cx="2413102" cy="282026"/>
          </a:xfrm>
          <a:prstGeom prst="rect">
            <a:avLst/>
          </a:prstGeom>
        </p:spPr>
        <p:txBody>
          <a:bodyPr lIns="0" tIns="0" rIns="0" bIns="0" rtlCol="0" anchor="t">
            <a:spAutoFit/>
          </a:bodyPr>
          <a:lstStyle/>
          <a:p>
            <a:pPr algn="l">
              <a:lnSpc>
                <a:spcPts val="2125"/>
              </a:lnSpc>
            </a:pPr>
            <a:r>
              <a:rPr lang="en-US" sz="1750">
                <a:solidFill>
                  <a:srgbClr val="000000"/>
                </a:solidFill>
                <a:latin typeface="Inter"/>
                <a:ea typeface="Inter"/>
                <a:cs typeface="Inter"/>
                <a:sym typeface="Inter"/>
              </a:rPr>
              <a:t>Unified Communication</a:t>
            </a:r>
          </a:p>
        </p:txBody>
      </p:sp>
      <p:sp>
        <p:nvSpPr>
          <p:cNvPr id="45" name="TextBox 45"/>
          <p:cNvSpPr txBox="1"/>
          <p:nvPr/>
        </p:nvSpPr>
        <p:spPr>
          <a:xfrm>
            <a:off x="9457563" y="5069862"/>
            <a:ext cx="6199289" cy="513159"/>
          </a:xfrm>
          <a:prstGeom prst="rect">
            <a:avLst/>
          </a:prstGeom>
        </p:spPr>
        <p:txBody>
          <a:bodyPr lIns="0" tIns="0" rIns="0" bIns="0" rtlCol="0" anchor="t">
            <a:spAutoFit/>
          </a:bodyPr>
          <a:lstStyle/>
          <a:p>
            <a:pPr algn="l">
              <a:lnSpc>
                <a:spcPts val="1812"/>
              </a:lnSpc>
            </a:pPr>
            <a:r>
              <a:rPr lang="en-US" sz="1375">
                <a:solidFill>
                  <a:srgbClr val="000000"/>
                </a:solidFill>
                <a:latin typeface="Arimo"/>
                <a:ea typeface="Arimo"/>
                <a:cs typeface="Arimo"/>
                <a:sym typeface="Arimo"/>
              </a:rPr>
              <a:t>Automated notifications and parent dashboards create seamless institutional communication.</a:t>
            </a:r>
          </a:p>
        </p:txBody>
      </p:sp>
      <p:sp>
        <p:nvSpPr>
          <p:cNvPr id="46" name="TextBox 46"/>
          <p:cNvSpPr txBox="1"/>
          <p:nvPr/>
        </p:nvSpPr>
        <p:spPr>
          <a:xfrm>
            <a:off x="2124656" y="7107298"/>
            <a:ext cx="2180482" cy="253451"/>
          </a:xfrm>
          <a:prstGeom prst="rect">
            <a:avLst/>
          </a:prstGeom>
        </p:spPr>
        <p:txBody>
          <a:bodyPr lIns="0" tIns="0" rIns="0" bIns="0" rtlCol="0" anchor="t">
            <a:spAutoFit/>
          </a:bodyPr>
          <a:lstStyle/>
          <a:p>
            <a:pPr algn="l">
              <a:lnSpc>
                <a:spcPts val="2125"/>
              </a:lnSpc>
            </a:pPr>
            <a:r>
              <a:rPr lang="en-US" sz="2000">
                <a:solidFill>
                  <a:srgbClr val="000000"/>
                </a:solidFill>
                <a:latin typeface="Inter"/>
                <a:ea typeface="Inter"/>
                <a:cs typeface="Inter"/>
                <a:sym typeface="Inter"/>
              </a:rPr>
              <a:t>Administrators</a:t>
            </a:r>
          </a:p>
        </p:txBody>
      </p:sp>
      <p:sp>
        <p:nvSpPr>
          <p:cNvPr id="47" name="TextBox 47"/>
          <p:cNvSpPr txBox="1"/>
          <p:nvPr/>
        </p:nvSpPr>
        <p:spPr>
          <a:xfrm>
            <a:off x="2124656" y="7415222"/>
            <a:ext cx="6801145" cy="494109"/>
          </a:xfrm>
          <a:prstGeom prst="rect">
            <a:avLst/>
          </a:prstGeom>
        </p:spPr>
        <p:txBody>
          <a:bodyPr lIns="0" tIns="0" rIns="0" bIns="0" rtlCol="0" anchor="t">
            <a:spAutoFit/>
          </a:bodyPr>
          <a:lstStyle/>
          <a:p>
            <a:pPr algn="l">
              <a:lnSpc>
                <a:spcPts val="1812"/>
              </a:lnSpc>
            </a:pPr>
            <a:r>
              <a:rPr lang="en-US" sz="1500">
                <a:solidFill>
                  <a:srgbClr val="000000"/>
                </a:solidFill>
                <a:latin typeface="Arimo"/>
                <a:ea typeface="Arimo"/>
                <a:cs typeface="Arimo"/>
                <a:sym typeface="Arimo"/>
              </a:rPr>
              <a:t>Full operational control with automated workflows, system monitoring, and institutional reporting.</a:t>
            </a:r>
          </a:p>
        </p:txBody>
      </p:sp>
      <p:sp>
        <p:nvSpPr>
          <p:cNvPr id="48" name="TextBox 48"/>
          <p:cNvSpPr txBox="1"/>
          <p:nvPr/>
        </p:nvSpPr>
        <p:spPr>
          <a:xfrm>
            <a:off x="9079097" y="7107298"/>
            <a:ext cx="2180482" cy="253451"/>
          </a:xfrm>
          <a:prstGeom prst="rect">
            <a:avLst/>
          </a:prstGeom>
        </p:spPr>
        <p:txBody>
          <a:bodyPr lIns="0" tIns="0" rIns="0" bIns="0" rtlCol="0" anchor="t">
            <a:spAutoFit/>
          </a:bodyPr>
          <a:lstStyle/>
          <a:p>
            <a:pPr algn="l">
              <a:lnSpc>
                <a:spcPts val="2125"/>
              </a:lnSpc>
            </a:pPr>
            <a:r>
              <a:rPr lang="en-US" sz="2000">
                <a:solidFill>
                  <a:srgbClr val="000000"/>
                </a:solidFill>
                <a:latin typeface="Inter"/>
                <a:ea typeface="Inter"/>
                <a:cs typeface="Inter"/>
                <a:sym typeface="Inter"/>
              </a:rPr>
              <a:t>Faculty &amp; Staff</a:t>
            </a:r>
          </a:p>
        </p:txBody>
      </p:sp>
      <p:sp>
        <p:nvSpPr>
          <p:cNvPr id="49" name="TextBox 49"/>
          <p:cNvSpPr txBox="1"/>
          <p:nvPr/>
        </p:nvSpPr>
        <p:spPr>
          <a:xfrm>
            <a:off x="9079097" y="7415222"/>
            <a:ext cx="6801298" cy="256584"/>
          </a:xfrm>
          <a:prstGeom prst="rect">
            <a:avLst/>
          </a:prstGeom>
        </p:spPr>
        <p:txBody>
          <a:bodyPr lIns="0" tIns="0" rIns="0" bIns="0" rtlCol="0" anchor="t">
            <a:spAutoFit/>
          </a:bodyPr>
          <a:lstStyle/>
          <a:p>
            <a:pPr algn="l">
              <a:lnSpc>
                <a:spcPts val="1812"/>
              </a:lnSpc>
            </a:pPr>
            <a:r>
              <a:rPr lang="en-US" sz="1500">
                <a:solidFill>
                  <a:srgbClr val="000000"/>
                </a:solidFill>
                <a:latin typeface="Arimo"/>
                <a:ea typeface="Arimo"/>
                <a:cs typeface="Arimo"/>
                <a:sym typeface="Arimo"/>
              </a:rPr>
              <a:t>Real-time attendance insights and class-level data without manual compilation.</a:t>
            </a:r>
          </a:p>
        </p:txBody>
      </p:sp>
      <p:sp>
        <p:nvSpPr>
          <p:cNvPr id="50" name="TextBox 50"/>
          <p:cNvSpPr txBox="1"/>
          <p:nvPr/>
        </p:nvSpPr>
        <p:spPr>
          <a:xfrm>
            <a:off x="2124656" y="8763010"/>
            <a:ext cx="2180482" cy="253451"/>
          </a:xfrm>
          <a:prstGeom prst="rect">
            <a:avLst/>
          </a:prstGeom>
        </p:spPr>
        <p:txBody>
          <a:bodyPr lIns="0" tIns="0" rIns="0" bIns="0" rtlCol="0" anchor="t">
            <a:spAutoFit/>
          </a:bodyPr>
          <a:lstStyle/>
          <a:p>
            <a:pPr algn="l">
              <a:lnSpc>
                <a:spcPts val="2125"/>
              </a:lnSpc>
            </a:pPr>
            <a:r>
              <a:rPr lang="en-US" sz="2000">
                <a:solidFill>
                  <a:srgbClr val="000000"/>
                </a:solidFill>
                <a:latin typeface="Inter"/>
                <a:ea typeface="Inter"/>
                <a:cs typeface="Inter"/>
                <a:sym typeface="Inter"/>
              </a:rPr>
              <a:t>Parents</a:t>
            </a:r>
          </a:p>
        </p:txBody>
      </p:sp>
      <p:sp>
        <p:nvSpPr>
          <p:cNvPr id="51" name="TextBox 51"/>
          <p:cNvSpPr txBox="1"/>
          <p:nvPr/>
        </p:nvSpPr>
        <p:spPr>
          <a:xfrm>
            <a:off x="2124656" y="9070934"/>
            <a:ext cx="6801145" cy="494109"/>
          </a:xfrm>
          <a:prstGeom prst="rect">
            <a:avLst/>
          </a:prstGeom>
        </p:spPr>
        <p:txBody>
          <a:bodyPr lIns="0" tIns="0" rIns="0" bIns="0" rtlCol="0" anchor="t">
            <a:spAutoFit/>
          </a:bodyPr>
          <a:lstStyle/>
          <a:p>
            <a:pPr algn="l">
              <a:lnSpc>
                <a:spcPts val="1812"/>
              </a:lnSpc>
            </a:pPr>
            <a:r>
              <a:rPr lang="en-US" sz="1500">
                <a:solidFill>
                  <a:srgbClr val="000000"/>
                </a:solidFill>
                <a:latin typeface="Arimo"/>
                <a:ea typeface="Arimo"/>
                <a:cs typeface="Arimo"/>
                <a:sym typeface="Arimo"/>
              </a:rPr>
              <a:t>Dedicated interface for tracking their child's attendance and receiving automated notifications.</a:t>
            </a:r>
          </a:p>
        </p:txBody>
      </p:sp>
      <p:sp>
        <p:nvSpPr>
          <p:cNvPr id="52" name="TextBox 52"/>
          <p:cNvSpPr txBox="1"/>
          <p:nvPr/>
        </p:nvSpPr>
        <p:spPr>
          <a:xfrm>
            <a:off x="9079096" y="8774478"/>
            <a:ext cx="2655703" cy="269304"/>
          </a:xfrm>
          <a:prstGeom prst="rect">
            <a:avLst/>
          </a:prstGeom>
        </p:spPr>
        <p:txBody>
          <a:bodyPr wrap="square" lIns="0" tIns="0" rIns="0" bIns="0" rtlCol="0" anchor="t">
            <a:spAutoFit/>
          </a:bodyPr>
          <a:lstStyle/>
          <a:p>
            <a:pPr algn="l">
              <a:lnSpc>
                <a:spcPts val="2125"/>
              </a:lnSpc>
            </a:pPr>
            <a:r>
              <a:rPr lang="en-US" sz="2000" dirty="0">
                <a:solidFill>
                  <a:srgbClr val="000000"/>
                </a:solidFill>
                <a:latin typeface="Inter"/>
                <a:ea typeface="Inter"/>
                <a:cs typeface="Inter"/>
                <a:sym typeface="Inter"/>
              </a:rPr>
              <a:t>Institutional Workflow</a:t>
            </a:r>
          </a:p>
        </p:txBody>
      </p:sp>
      <p:sp>
        <p:nvSpPr>
          <p:cNvPr id="53" name="TextBox 53"/>
          <p:cNvSpPr txBox="1"/>
          <p:nvPr/>
        </p:nvSpPr>
        <p:spPr>
          <a:xfrm>
            <a:off x="9079097" y="9070934"/>
            <a:ext cx="6801298" cy="494109"/>
          </a:xfrm>
          <a:prstGeom prst="rect">
            <a:avLst/>
          </a:prstGeom>
        </p:spPr>
        <p:txBody>
          <a:bodyPr lIns="0" tIns="0" rIns="0" bIns="0" rtlCol="0" anchor="t">
            <a:spAutoFit/>
          </a:bodyPr>
          <a:lstStyle/>
          <a:p>
            <a:pPr algn="l">
              <a:lnSpc>
                <a:spcPts val="1812"/>
              </a:lnSpc>
            </a:pPr>
            <a:r>
              <a:rPr lang="en-US" sz="1500">
                <a:solidFill>
                  <a:srgbClr val="000000"/>
                </a:solidFill>
                <a:latin typeface="Arimo"/>
                <a:ea typeface="Arimo"/>
                <a:cs typeface="Arimo"/>
                <a:sym typeface="Arimo"/>
              </a:rPr>
              <a:t>Structured access and automated processes that strengthen the entire operational framework.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2230707" y="581177"/>
            <a:ext cx="1763897" cy="294684"/>
            <a:chOff x="0" y="0"/>
            <a:chExt cx="2351862" cy="392913"/>
          </a:xfrm>
        </p:grpSpPr>
        <p:sp>
          <p:nvSpPr>
            <p:cNvPr id="7" name="Freeform 7"/>
            <p:cNvSpPr/>
            <p:nvPr/>
          </p:nvSpPr>
          <p:spPr>
            <a:xfrm>
              <a:off x="-1524" y="-1651"/>
              <a:ext cx="2354961" cy="396240"/>
            </a:xfrm>
            <a:custGeom>
              <a:avLst/>
              <a:gdLst/>
              <a:ahLst/>
              <a:cxnLst/>
              <a:rect l="l" t="t" r="r" b="b"/>
              <a:pathLst>
                <a:path w="2354961" h="396240">
                  <a:moveTo>
                    <a:pt x="0" y="169164"/>
                  </a:moveTo>
                  <a:cubicBezTo>
                    <a:pt x="0" y="75692"/>
                    <a:pt x="75565" y="127"/>
                    <a:pt x="169037" y="0"/>
                  </a:cubicBezTo>
                  <a:lnTo>
                    <a:pt x="2185924" y="0"/>
                  </a:lnTo>
                  <a:lnTo>
                    <a:pt x="2185924" y="1651"/>
                  </a:lnTo>
                  <a:lnTo>
                    <a:pt x="2185924" y="127"/>
                  </a:lnTo>
                  <a:cubicBezTo>
                    <a:pt x="2279269" y="127"/>
                    <a:pt x="2354961" y="75819"/>
                    <a:pt x="2354961" y="169164"/>
                  </a:cubicBezTo>
                  <a:lnTo>
                    <a:pt x="2353437" y="169164"/>
                  </a:lnTo>
                  <a:lnTo>
                    <a:pt x="2354961" y="169164"/>
                  </a:lnTo>
                  <a:lnTo>
                    <a:pt x="2354961" y="227203"/>
                  </a:lnTo>
                  <a:lnTo>
                    <a:pt x="2353437" y="227203"/>
                  </a:lnTo>
                  <a:lnTo>
                    <a:pt x="2354961" y="227203"/>
                  </a:lnTo>
                  <a:cubicBezTo>
                    <a:pt x="2354961" y="320548"/>
                    <a:pt x="2279269" y="396240"/>
                    <a:pt x="2185924" y="396240"/>
                  </a:cubicBezTo>
                  <a:lnTo>
                    <a:pt x="2185924" y="394716"/>
                  </a:lnTo>
                  <a:lnTo>
                    <a:pt x="2185924" y="396240"/>
                  </a:lnTo>
                  <a:lnTo>
                    <a:pt x="169037" y="396240"/>
                  </a:lnTo>
                  <a:lnTo>
                    <a:pt x="169037" y="394716"/>
                  </a:lnTo>
                  <a:lnTo>
                    <a:pt x="169037" y="396240"/>
                  </a:lnTo>
                  <a:cubicBezTo>
                    <a:pt x="75565" y="396113"/>
                    <a:pt x="0" y="320421"/>
                    <a:pt x="0" y="227076"/>
                  </a:cubicBezTo>
                  <a:lnTo>
                    <a:pt x="0" y="169164"/>
                  </a:lnTo>
                  <a:lnTo>
                    <a:pt x="1524" y="169164"/>
                  </a:lnTo>
                  <a:lnTo>
                    <a:pt x="0" y="169164"/>
                  </a:lnTo>
                  <a:moveTo>
                    <a:pt x="3175" y="169164"/>
                  </a:moveTo>
                  <a:lnTo>
                    <a:pt x="3175" y="227203"/>
                  </a:lnTo>
                  <a:lnTo>
                    <a:pt x="1524" y="227203"/>
                  </a:lnTo>
                  <a:lnTo>
                    <a:pt x="3048" y="227203"/>
                  </a:lnTo>
                  <a:cubicBezTo>
                    <a:pt x="3048" y="318770"/>
                    <a:pt x="77343" y="393065"/>
                    <a:pt x="168910" y="393065"/>
                  </a:cubicBezTo>
                  <a:lnTo>
                    <a:pt x="2185924" y="393065"/>
                  </a:lnTo>
                  <a:cubicBezTo>
                    <a:pt x="2277491" y="393065"/>
                    <a:pt x="2351786" y="318770"/>
                    <a:pt x="2351786" y="227203"/>
                  </a:cubicBezTo>
                  <a:lnTo>
                    <a:pt x="2351786" y="169164"/>
                  </a:lnTo>
                  <a:cubicBezTo>
                    <a:pt x="2351786" y="77470"/>
                    <a:pt x="2277491" y="3175"/>
                    <a:pt x="2185924" y="3175"/>
                  </a:cubicBezTo>
                  <a:lnTo>
                    <a:pt x="169037" y="3175"/>
                  </a:lnTo>
                  <a:lnTo>
                    <a:pt x="169037" y="1651"/>
                  </a:lnTo>
                  <a:lnTo>
                    <a:pt x="169037" y="3175"/>
                  </a:lnTo>
                  <a:cubicBezTo>
                    <a:pt x="77343" y="3175"/>
                    <a:pt x="3048" y="77470"/>
                    <a:pt x="3048" y="169164"/>
                  </a:cubicBezTo>
                  <a:close/>
                </a:path>
              </a:pathLst>
            </a:custGeom>
            <a:solidFill>
              <a:srgbClr val="ED7D31"/>
            </a:solidFill>
          </p:spPr>
        </p:sp>
      </p:grpSp>
      <p:sp>
        <p:nvSpPr>
          <p:cNvPr id="8" name="TextBox 8"/>
          <p:cNvSpPr txBox="1"/>
          <p:nvPr/>
        </p:nvSpPr>
        <p:spPr>
          <a:xfrm>
            <a:off x="2370687" y="642937"/>
            <a:ext cx="1659274" cy="131416"/>
          </a:xfrm>
          <a:prstGeom prst="rect">
            <a:avLst/>
          </a:prstGeom>
        </p:spPr>
        <p:txBody>
          <a:bodyPr lIns="0" tIns="0" rIns="0" bIns="0" rtlCol="0" anchor="t">
            <a:spAutoFit/>
          </a:bodyPr>
          <a:lstStyle/>
          <a:p>
            <a:pPr algn="l">
              <a:lnSpc>
                <a:spcPts val="1437"/>
              </a:lnSpc>
            </a:pPr>
            <a:r>
              <a:rPr lang="en-US" sz="1312" b="1" spc="5">
                <a:solidFill>
                  <a:srgbClr val="C55A11"/>
                </a:solidFill>
                <a:latin typeface="Merriweather Sans Bold"/>
                <a:ea typeface="Merriweather Sans Bold"/>
                <a:cs typeface="Merriweather Sans Bold"/>
                <a:sym typeface="Merriweather Sans Bold"/>
              </a:rPr>
              <a:t>FUTURE ROADMAP</a:t>
            </a:r>
          </a:p>
        </p:txBody>
      </p:sp>
      <p:sp>
        <p:nvSpPr>
          <p:cNvPr id="9" name="TextBox 9"/>
          <p:cNvSpPr txBox="1"/>
          <p:nvPr/>
        </p:nvSpPr>
        <p:spPr>
          <a:xfrm>
            <a:off x="2266055" y="905770"/>
            <a:ext cx="7348690" cy="564061"/>
          </a:xfrm>
          <a:prstGeom prst="rect">
            <a:avLst/>
          </a:prstGeom>
        </p:spPr>
        <p:txBody>
          <a:bodyPr lIns="0" tIns="0" rIns="0" bIns="0" rtlCol="0" anchor="t">
            <a:spAutoFit/>
          </a:bodyPr>
          <a:lstStyle/>
          <a:p>
            <a:pPr algn="l">
              <a:lnSpc>
                <a:spcPts val="4249"/>
              </a:lnSpc>
            </a:pPr>
            <a:r>
              <a:rPr lang="en-US" sz="3374">
                <a:solidFill>
                  <a:srgbClr val="000000"/>
                </a:solidFill>
                <a:latin typeface="Inter"/>
                <a:ea typeface="Inter"/>
                <a:cs typeface="Inter"/>
                <a:sym typeface="Inter"/>
              </a:rPr>
              <a:t>Scalability &amp; the Future of BIOSYNC</a:t>
            </a:r>
          </a:p>
        </p:txBody>
      </p:sp>
      <p:sp>
        <p:nvSpPr>
          <p:cNvPr id="10" name="TextBox 10"/>
          <p:cNvSpPr txBox="1"/>
          <p:nvPr/>
        </p:nvSpPr>
        <p:spPr>
          <a:xfrm>
            <a:off x="2266055" y="1615678"/>
            <a:ext cx="13755738" cy="513159"/>
          </a:xfrm>
          <a:prstGeom prst="rect">
            <a:avLst/>
          </a:prstGeom>
        </p:spPr>
        <p:txBody>
          <a:bodyPr lIns="0" tIns="0" rIns="0" bIns="0" rtlCol="0" anchor="t">
            <a:spAutoFit/>
          </a:bodyPr>
          <a:lstStyle/>
          <a:p>
            <a:pPr algn="l">
              <a:lnSpc>
                <a:spcPts val="1812"/>
              </a:lnSpc>
            </a:pPr>
            <a:r>
              <a:rPr lang="en-US" sz="1375">
                <a:solidFill>
                  <a:srgbClr val="000000"/>
                </a:solidFill>
                <a:latin typeface="Arimo"/>
                <a:ea typeface="Arimo"/>
                <a:cs typeface="Arimo"/>
                <a:sym typeface="Arimo"/>
              </a:rPr>
              <a:t>BIOSYNC is a scalable platform with a strong roadmap — designed to grow alongside institutional needs, expand in capability, and integrate with the broader educational technology ecosystem.</a:t>
            </a:r>
          </a:p>
        </p:txBody>
      </p:sp>
      <p:grpSp>
        <p:nvGrpSpPr>
          <p:cNvPr id="11" name="Group 11"/>
          <p:cNvGrpSpPr/>
          <p:nvPr/>
        </p:nvGrpSpPr>
        <p:grpSpPr>
          <a:xfrm>
            <a:off x="9134323" y="2266798"/>
            <a:ext cx="19050" cy="4948980"/>
            <a:chOff x="0" y="0"/>
            <a:chExt cx="25400" cy="6598641"/>
          </a:xfrm>
        </p:grpSpPr>
        <p:sp>
          <p:nvSpPr>
            <p:cNvPr id="12" name="Freeform 12"/>
            <p:cNvSpPr/>
            <p:nvPr/>
          </p:nvSpPr>
          <p:spPr>
            <a:xfrm>
              <a:off x="0" y="0"/>
              <a:ext cx="25400" cy="6598666"/>
            </a:xfrm>
            <a:custGeom>
              <a:avLst/>
              <a:gdLst/>
              <a:ahLst/>
              <a:cxnLst/>
              <a:rect l="l" t="t" r="r" b="b"/>
              <a:pathLst>
                <a:path w="25400" h="6598666">
                  <a:moveTo>
                    <a:pt x="0" y="12700"/>
                  </a:moveTo>
                  <a:cubicBezTo>
                    <a:pt x="0" y="5715"/>
                    <a:pt x="5715" y="0"/>
                    <a:pt x="12700" y="0"/>
                  </a:cubicBezTo>
                  <a:cubicBezTo>
                    <a:pt x="19685" y="0"/>
                    <a:pt x="25400" y="5715"/>
                    <a:pt x="25400" y="12700"/>
                  </a:cubicBezTo>
                  <a:lnTo>
                    <a:pt x="25400" y="6585966"/>
                  </a:lnTo>
                  <a:cubicBezTo>
                    <a:pt x="25400" y="6592951"/>
                    <a:pt x="19685" y="6598666"/>
                    <a:pt x="12700" y="6598666"/>
                  </a:cubicBezTo>
                  <a:cubicBezTo>
                    <a:pt x="5715" y="6598666"/>
                    <a:pt x="0" y="6592951"/>
                    <a:pt x="0" y="6585966"/>
                  </a:cubicBezTo>
                  <a:close/>
                </a:path>
              </a:pathLst>
            </a:custGeom>
            <a:solidFill>
              <a:srgbClr val="000000">
                <a:alpha val="392"/>
              </a:srgbClr>
            </a:solidFill>
          </p:spPr>
        </p:sp>
      </p:grpSp>
      <p:grpSp>
        <p:nvGrpSpPr>
          <p:cNvPr id="13" name="Group 13"/>
          <p:cNvGrpSpPr/>
          <p:nvPr/>
        </p:nvGrpSpPr>
        <p:grpSpPr>
          <a:xfrm>
            <a:off x="8443389" y="2453430"/>
            <a:ext cx="523284" cy="19050"/>
            <a:chOff x="0" y="0"/>
            <a:chExt cx="697713" cy="25400"/>
          </a:xfrm>
        </p:grpSpPr>
        <p:sp>
          <p:nvSpPr>
            <p:cNvPr id="14" name="Freeform 14"/>
            <p:cNvSpPr/>
            <p:nvPr/>
          </p:nvSpPr>
          <p:spPr>
            <a:xfrm>
              <a:off x="0" y="0"/>
              <a:ext cx="697738" cy="25400"/>
            </a:xfrm>
            <a:custGeom>
              <a:avLst/>
              <a:gdLst/>
              <a:ahLst/>
              <a:cxnLst/>
              <a:rect l="l" t="t" r="r" b="b"/>
              <a:pathLst>
                <a:path w="697738" h="25400">
                  <a:moveTo>
                    <a:pt x="0" y="12700"/>
                  </a:moveTo>
                  <a:cubicBezTo>
                    <a:pt x="0" y="5715"/>
                    <a:pt x="5715" y="0"/>
                    <a:pt x="12700" y="0"/>
                  </a:cubicBezTo>
                  <a:lnTo>
                    <a:pt x="685038" y="0"/>
                  </a:lnTo>
                  <a:cubicBezTo>
                    <a:pt x="692023" y="0"/>
                    <a:pt x="697738" y="5715"/>
                    <a:pt x="697738" y="12700"/>
                  </a:cubicBezTo>
                  <a:cubicBezTo>
                    <a:pt x="697738" y="19685"/>
                    <a:pt x="692023" y="25400"/>
                    <a:pt x="685038" y="25400"/>
                  </a:cubicBezTo>
                  <a:lnTo>
                    <a:pt x="12700" y="25400"/>
                  </a:lnTo>
                  <a:cubicBezTo>
                    <a:pt x="5715" y="25400"/>
                    <a:pt x="0" y="19685"/>
                    <a:pt x="0" y="12700"/>
                  </a:cubicBezTo>
                  <a:close/>
                </a:path>
              </a:pathLst>
            </a:custGeom>
            <a:solidFill>
              <a:srgbClr val="FF7047"/>
            </a:solidFill>
          </p:spPr>
        </p:sp>
      </p:grpSp>
      <p:grpSp>
        <p:nvGrpSpPr>
          <p:cNvPr id="15" name="Group 15"/>
          <p:cNvGrpSpPr/>
          <p:nvPr/>
        </p:nvGrpSpPr>
        <p:grpSpPr>
          <a:xfrm>
            <a:off x="8942861" y="2262035"/>
            <a:ext cx="401984" cy="401984"/>
            <a:chOff x="0" y="0"/>
            <a:chExt cx="535978" cy="535978"/>
          </a:xfrm>
        </p:grpSpPr>
        <p:sp>
          <p:nvSpPr>
            <p:cNvPr id="16" name="Freeform 16"/>
            <p:cNvSpPr/>
            <p:nvPr/>
          </p:nvSpPr>
          <p:spPr>
            <a:xfrm>
              <a:off x="6350" y="6350"/>
              <a:ext cx="523240" cy="523240"/>
            </a:xfrm>
            <a:custGeom>
              <a:avLst/>
              <a:gdLst/>
              <a:ahLst/>
              <a:cxnLst/>
              <a:rect l="l" t="t" r="r" b="b"/>
              <a:pathLst>
                <a:path w="523240" h="523240">
                  <a:moveTo>
                    <a:pt x="0" y="209296"/>
                  </a:moveTo>
                  <a:cubicBezTo>
                    <a:pt x="0" y="93726"/>
                    <a:pt x="93726" y="0"/>
                    <a:pt x="209296" y="0"/>
                  </a:cubicBezTo>
                  <a:lnTo>
                    <a:pt x="313944" y="0"/>
                  </a:lnTo>
                  <a:cubicBezTo>
                    <a:pt x="429514" y="0"/>
                    <a:pt x="523240" y="93726"/>
                    <a:pt x="523240" y="209296"/>
                  </a:cubicBezTo>
                  <a:lnTo>
                    <a:pt x="523240" y="313944"/>
                  </a:lnTo>
                  <a:cubicBezTo>
                    <a:pt x="523240" y="429514"/>
                    <a:pt x="429514" y="523240"/>
                    <a:pt x="313944" y="523240"/>
                  </a:cubicBezTo>
                  <a:lnTo>
                    <a:pt x="209296" y="523240"/>
                  </a:lnTo>
                  <a:cubicBezTo>
                    <a:pt x="93726" y="523240"/>
                    <a:pt x="0" y="429514"/>
                    <a:pt x="0" y="313944"/>
                  </a:cubicBezTo>
                  <a:close/>
                </a:path>
              </a:pathLst>
            </a:custGeom>
            <a:solidFill>
              <a:srgbClr val="FFFFFF"/>
            </a:solidFill>
          </p:spPr>
        </p:sp>
        <p:sp>
          <p:nvSpPr>
            <p:cNvPr id="17" name="Freeform 17"/>
            <p:cNvSpPr/>
            <p:nvPr/>
          </p:nvSpPr>
          <p:spPr>
            <a:xfrm>
              <a:off x="0" y="0"/>
              <a:ext cx="535940" cy="535940"/>
            </a:xfrm>
            <a:custGeom>
              <a:avLst/>
              <a:gdLst/>
              <a:ahLst/>
              <a:cxnLst/>
              <a:rect l="l" t="t" r="r" b="b"/>
              <a:pathLst>
                <a:path w="535940" h="535940">
                  <a:moveTo>
                    <a:pt x="0" y="215646"/>
                  </a:moveTo>
                  <a:cubicBezTo>
                    <a:pt x="0" y="96520"/>
                    <a:pt x="96520" y="0"/>
                    <a:pt x="215646" y="0"/>
                  </a:cubicBezTo>
                  <a:lnTo>
                    <a:pt x="320294" y="0"/>
                  </a:lnTo>
                  <a:lnTo>
                    <a:pt x="320294" y="6350"/>
                  </a:lnTo>
                  <a:lnTo>
                    <a:pt x="320294" y="0"/>
                  </a:lnTo>
                  <a:cubicBezTo>
                    <a:pt x="439420" y="0"/>
                    <a:pt x="535940" y="96520"/>
                    <a:pt x="535940" y="215646"/>
                  </a:cubicBezTo>
                  <a:lnTo>
                    <a:pt x="529590" y="215646"/>
                  </a:lnTo>
                  <a:lnTo>
                    <a:pt x="535940" y="215646"/>
                  </a:lnTo>
                  <a:lnTo>
                    <a:pt x="535940" y="320294"/>
                  </a:lnTo>
                  <a:lnTo>
                    <a:pt x="529590" y="320294"/>
                  </a:lnTo>
                  <a:lnTo>
                    <a:pt x="535940" y="320294"/>
                  </a:lnTo>
                  <a:cubicBezTo>
                    <a:pt x="535940" y="439420"/>
                    <a:pt x="439420" y="535940"/>
                    <a:pt x="320294" y="535940"/>
                  </a:cubicBezTo>
                  <a:lnTo>
                    <a:pt x="320294" y="529590"/>
                  </a:lnTo>
                  <a:lnTo>
                    <a:pt x="320294" y="535940"/>
                  </a:lnTo>
                  <a:lnTo>
                    <a:pt x="215646" y="535940"/>
                  </a:lnTo>
                  <a:lnTo>
                    <a:pt x="215646" y="529590"/>
                  </a:lnTo>
                  <a:lnTo>
                    <a:pt x="215646" y="535940"/>
                  </a:lnTo>
                  <a:cubicBezTo>
                    <a:pt x="96520" y="535940"/>
                    <a:pt x="0" y="439420"/>
                    <a:pt x="0" y="320294"/>
                  </a:cubicBezTo>
                  <a:lnTo>
                    <a:pt x="0" y="215646"/>
                  </a:lnTo>
                  <a:lnTo>
                    <a:pt x="6350" y="215646"/>
                  </a:lnTo>
                  <a:lnTo>
                    <a:pt x="0" y="215646"/>
                  </a:lnTo>
                  <a:moveTo>
                    <a:pt x="12700" y="215646"/>
                  </a:moveTo>
                  <a:lnTo>
                    <a:pt x="12700" y="320294"/>
                  </a:lnTo>
                  <a:lnTo>
                    <a:pt x="6350" y="320294"/>
                  </a:lnTo>
                  <a:lnTo>
                    <a:pt x="12700" y="320294"/>
                  </a:lnTo>
                  <a:cubicBezTo>
                    <a:pt x="12700" y="432435"/>
                    <a:pt x="103632" y="523240"/>
                    <a:pt x="215646" y="523240"/>
                  </a:cubicBezTo>
                  <a:lnTo>
                    <a:pt x="320294" y="523240"/>
                  </a:lnTo>
                  <a:cubicBezTo>
                    <a:pt x="432435" y="523240"/>
                    <a:pt x="523240" y="432308"/>
                    <a:pt x="523240" y="320294"/>
                  </a:cubicBezTo>
                  <a:lnTo>
                    <a:pt x="523240" y="215646"/>
                  </a:lnTo>
                  <a:cubicBezTo>
                    <a:pt x="523240" y="103632"/>
                    <a:pt x="432435" y="12700"/>
                    <a:pt x="320294" y="12700"/>
                  </a:cubicBezTo>
                  <a:lnTo>
                    <a:pt x="215646" y="12700"/>
                  </a:lnTo>
                  <a:lnTo>
                    <a:pt x="215646" y="6350"/>
                  </a:lnTo>
                  <a:lnTo>
                    <a:pt x="215646" y="12700"/>
                  </a:lnTo>
                  <a:cubicBezTo>
                    <a:pt x="103632" y="12700"/>
                    <a:pt x="12700" y="103632"/>
                    <a:pt x="12700" y="215646"/>
                  </a:cubicBezTo>
                  <a:close/>
                </a:path>
              </a:pathLst>
            </a:custGeom>
            <a:solidFill>
              <a:srgbClr val="FF7047"/>
            </a:solidFill>
          </p:spPr>
        </p:sp>
      </p:grpSp>
      <p:sp>
        <p:nvSpPr>
          <p:cNvPr id="18" name="TextBox 18"/>
          <p:cNvSpPr txBox="1"/>
          <p:nvPr/>
        </p:nvSpPr>
        <p:spPr>
          <a:xfrm>
            <a:off x="9012955" y="2398747"/>
            <a:ext cx="261642" cy="298399"/>
          </a:xfrm>
          <a:prstGeom prst="rect">
            <a:avLst/>
          </a:prstGeom>
        </p:spPr>
        <p:txBody>
          <a:bodyPr lIns="0" tIns="0" rIns="0" bIns="0" rtlCol="0" anchor="t">
            <a:spAutoFit/>
          </a:bodyPr>
          <a:lstStyle/>
          <a:p>
            <a:pPr algn="ctr">
              <a:lnSpc>
                <a:spcPts val="2000"/>
              </a:lnSpc>
            </a:pPr>
            <a:r>
              <a:rPr lang="en-US" sz="2000">
                <a:solidFill>
                  <a:srgbClr val="000000"/>
                </a:solidFill>
                <a:latin typeface="Inter"/>
                <a:ea typeface="Inter"/>
                <a:cs typeface="Inter"/>
                <a:sym typeface="Inter"/>
              </a:rPr>
              <a:t>1</a:t>
            </a:r>
          </a:p>
        </p:txBody>
      </p:sp>
      <p:sp>
        <p:nvSpPr>
          <p:cNvPr id="19" name="TextBox 19"/>
          <p:cNvSpPr txBox="1"/>
          <p:nvPr/>
        </p:nvSpPr>
        <p:spPr>
          <a:xfrm>
            <a:off x="5579716" y="2317109"/>
            <a:ext cx="2692003" cy="282026"/>
          </a:xfrm>
          <a:prstGeom prst="rect">
            <a:avLst/>
          </a:prstGeom>
        </p:spPr>
        <p:txBody>
          <a:bodyPr lIns="0" tIns="0" rIns="0" bIns="0" rtlCol="0" anchor="t">
            <a:spAutoFit/>
          </a:bodyPr>
          <a:lstStyle/>
          <a:p>
            <a:pPr algn="r">
              <a:lnSpc>
                <a:spcPts val="2124"/>
              </a:lnSpc>
            </a:pPr>
            <a:r>
              <a:rPr lang="en-US" sz="1687">
                <a:solidFill>
                  <a:srgbClr val="000000"/>
                </a:solidFill>
                <a:latin typeface="Inter"/>
                <a:ea typeface="Inter"/>
                <a:cs typeface="Inter"/>
                <a:sym typeface="Inter"/>
              </a:rPr>
              <a:t>Phase 1 — Access Control</a:t>
            </a:r>
          </a:p>
        </p:txBody>
      </p:sp>
      <p:sp>
        <p:nvSpPr>
          <p:cNvPr id="20" name="TextBox 20"/>
          <p:cNvSpPr txBox="1"/>
          <p:nvPr/>
        </p:nvSpPr>
        <p:spPr>
          <a:xfrm>
            <a:off x="2266055" y="2625033"/>
            <a:ext cx="6005665" cy="522684"/>
          </a:xfrm>
          <a:prstGeom prst="rect">
            <a:avLst/>
          </a:prstGeom>
        </p:spPr>
        <p:txBody>
          <a:bodyPr lIns="0" tIns="0" rIns="0" bIns="0" rtlCol="0" anchor="t">
            <a:spAutoFit/>
          </a:bodyPr>
          <a:lstStyle/>
          <a:p>
            <a:pPr algn="r">
              <a:lnSpc>
                <a:spcPts val="1812"/>
              </a:lnSpc>
            </a:pPr>
            <a:r>
              <a:rPr lang="en-US" sz="1312">
                <a:solidFill>
                  <a:srgbClr val="000000"/>
                </a:solidFill>
                <a:latin typeface="Arimo"/>
                <a:ea typeface="Arimo"/>
                <a:cs typeface="Arimo"/>
                <a:sym typeface="Arimo"/>
              </a:rPr>
              <a:t>Role-based access control with granular permissions for administrators, staff, and parents.</a:t>
            </a:r>
          </a:p>
        </p:txBody>
      </p:sp>
      <p:grpSp>
        <p:nvGrpSpPr>
          <p:cNvPr id="21" name="Group 21"/>
          <p:cNvGrpSpPr/>
          <p:nvPr/>
        </p:nvGrpSpPr>
        <p:grpSpPr>
          <a:xfrm>
            <a:off x="9321032" y="3396405"/>
            <a:ext cx="523284" cy="19050"/>
            <a:chOff x="0" y="0"/>
            <a:chExt cx="697713" cy="25400"/>
          </a:xfrm>
        </p:grpSpPr>
        <p:sp>
          <p:nvSpPr>
            <p:cNvPr id="22" name="Freeform 22"/>
            <p:cNvSpPr/>
            <p:nvPr/>
          </p:nvSpPr>
          <p:spPr>
            <a:xfrm>
              <a:off x="0" y="0"/>
              <a:ext cx="697738" cy="25400"/>
            </a:xfrm>
            <a:custGeom>
              <a:avLst/>
              <a:gdLst/>
              <a:ahLst/>
              <a:cxnLst/>
              <a:rect l="l" t="t" r="r" b="b"/>
              <a:pathLst>
                <a:path w="697738" h="25400">
                  <a:moveTo>
                    <a:pt x="0" y="12700"/>
                  </a:moveTo>
                  <a:cubicBezTo>
                    <a:pt x="0" y="5715"/>
                    <a:pt x="5715" y="0"/>
                    <a:pt x="12700" y="0"/>
                  </a:cubicBezTo>
                  <a:lnTo>
                    <a:pt x="685038" y="0"/>
                  </a:lnTo>
                  <a:cubicBezTo>
                    <a:pt x="692023" y="0"/>
                    <a:pt x="697738" y="5715"/>
                    <a:pt x="697738" y="12700"/>
                  </a:cubicBezTo>
                  <a:cubicBezTo>
                    <a:pt x="697738" y="19685"/>
                    <a:pt x="692023" y="25400"/>
                    <a:pt x="685038" y="25400"/>
                  </a:cubicBezTo>
                  <a:lnTo>
                    <a:pt x="12700" y="25400"/>
                  </a:lnTo>
                  <a:cubicBezTo>
                    <a:pt x="5715" y="25400"/>
                    <a:pt x="0" y="19685"/>
                    <a:pt x="0" y="12700"/>
                  </a:cubicBezTo>
                  <a:close/>
                </a:path>
              </a:pathLst>
            </a:custGeom>
            <a:solidFill>
              <a:srgbClr val="FF7047"/>
            </a:solidFill>
          </p:spPr>
        </p:sp>
      </p:grpSp>
      <p:grpSp>
        <p:nvGrpSpPr>
          <p:cNvPr id="23" name="Group 23"/>
          <p:cNvGrpSpPr/>
          <p:nvPr/>
        </p:nvGrpSpPr>
        <p:grpSpPr>
          <a:xfrm>
            <a:off x="8942861" y="3205010"/>
            <a:ext cx="401984" cy="401984"/>
            <a:chOff x="0" y="0"/>
            <a:chExt cx="535978" cy="535978"/>
          </a:xfrm>
        </p:grpSpPr>
        <p:sp>
          <p:nvSpPr>
            <p:cNvPr id="24" name="Freeform 24"/>
            <p:cNvSpPr/>
            <p:nvPr/>
          </p:nvSpPr>
          <p:spPr>
            <a:xfrm>
              <a:off x="6350" y="6350"/>
              <a:ext cx="523240" cy="523240"/>
            </a:xfrm>
            <a:custGeom>
              <a:avLst/>
              <a:gdLst/>
              <a:ahLst/>
              <a:cxnLst/>
              <a:rect l="l" t="t" r="r" b="b"/>
              <a:pathLst>
                <a:path w="523240" h="523240">
                  <a:moveTo>
                    <a:pt x="0" y="209296"/>
                  </a:moveTo>
                  <a:cubicBezTo>
                    <a:pt x="0" y="93726"/>
                    <a:pt x="93726" y="0"/>
                    <a:pt x="209296" y="0"/>
                  </a:cubicBezTo>
                  <a:lnTo>
                    <a:pt x="313944" y="0"/>
                  </a:lnTo>
                  <a:cubicBezTo>
                    <a:pt x="429514" y="0"/>
                    <a:pt x="523240" y="93726"/>
                    <a:pt x="523240" y="209296"/>
                  </a:cubicBezTo>
                  <a:lnTo>
                    <a:pt x="523240" y="313944"/>
                  </a:lnTo>
                  <a:cubicBezTo>
                    <a:pt x="523240" y="429514"/>
                    <a:pt x="429514" y="523240"/>
                    <a:pt x="313944" y="523240"/>
                  </a:cubicBezTo>
                  <a:lnTo>
                    <a:pt x="209296" y="523240"/>
                  </a:lnTo>
                  <a:cubicBezTo>
                    <a:pt x="93726" y="523240"/>
                    <a:pt x="0" y="429514"/>
                    <a:pt x="0" y="313944"/>
                  </a:cubicBezTo>
                  <a:close/>
                </a:path>
              </a:pathLst>
            </a:custGeom>
            <a:solidFill>
              <a:srgbClr val="FFFFFF"/>
            </a:solidFill>
          </p:spPr>
        </p:sp>
        <p:sp>
          <p:nvSpPr>
            <p:cNvPr id="25" name="Freeform 25"/>
            <p:cNvSpPr/>
            <p:nvPr/>
          </p:nvSpPr>
          <p:spPr>
            <a:xfrm>
              <a:off x="0" y="0"/>
              <a:ext cx="535940" cy="535940"/>
            </a:xfrm>
            <a:custGeom>
              <a:avLst/>
              <a:gdLst/>
              <a:ahLst/>
              <a:cxnLst/>
              <a:rect l="l" t="t" r="r" b="b"/>
              <a:pathLst>
                <a:path w="535940" h="535940">
                  <a:moveTo>
                    <a:pt x="0" y="215646"/>
                  </a:moveTo>
                  <a:cubicBezTo>
                    <a:pt x="0" y="96520"/>
                    <a:pt x="96520" y="0"/>
                    <a:pt x="215646" y="0"/>
                  </a:cubicBezTo>
                  <a:lnTo>
                    <a:pt x="320294" y="0"/>
                  </a:lnTo>
                  <a:lnTo>
                    <a:pt x="320294" y="6350"/>
                  </a:lnTo>
                  <a:lnTo>
                    <a:pt x="320294" y="0"/>
                  </a:lnTo>
                  <a:cubicBezTo>
                    <a:pt x="439420" y="0"/>
                    <a:pt x="535940" y="96520"/>
                    <a:pt x="535940" y="215646"/>
                  </a:cubicBezTo>
                  <a:lnTo>
                    <a:pt x="529590" y="215646"/>
                  </a:lnTo>
                  <a:lnTo>
                    <a:pt x="535940" y="215646"/>
                  </a:lnTo>
                  <a:lnTo>
                    <a:pt x="535940" y="320294"/>
                  </a:lnTo>
                  <a:lnTo>
                    <a:pt x="529590" y="320294"/>
                  </a:lnTo>
                  <a:lnTo>
                    <a:pt x="535940" y="320294"/>
                  </a:lnTo>
                  <a:cubicBezTo>
                    <a:pt x="535940" y="439420"/>
                    <a:pt x="439420" y="535940"/>
                    <a:pt x="320294" y="535940"/>
                  </a:cubicBezTo>
                  <a:lnTo>
                    <a:pt x="320294" y="529590"/>
                  </a:lnTo>
                  <a:lnTo>
                    <a:pt x="320294" y="535940"/>
                  </a:lnTo>
                  <a:lnTo>
                    <a:pt x="215646" y="535940"/>
                  </a:lnTo>
                  <a:lnTo>
                    <a:pt x="215646" y="529590"/>
                  </a:lnTo>
                  <a:lnTo>
                    <a:pt x="215646" y="535940"/>
                  </a:lnTo>
                  <a:cubicBezTo>
                    <a:pt x="96520" y="535940"/>
                    <a:pt x="0" y="439420"/>
                    <a:pt x="0" y="320294"/>
                  </a:cubicBezTo>
                  <a:lnTo>
                    <a:pt x="0" y="215646"/>
                  </a:lnTo>
                  <a:lnTo>
                    <a:pt x="6350" y="215646"/>
                  </a:lnTo>
                  <a:lnTo>
                    <a:pt x="0" y="215646"/>
                  </a:lnTo>
                  <a:moveTo>
                    <a:pt x="12700" y="215646"/>
                  </a:moveTo>
                  <a:lnTo>
                    <a:pt x="12700" y="320294"/>
                  </a:lnTo>
                  <a:lnTo>
                    <a:pt x="6350" y="320294"/>
                  </a:lnTo>
                  <a:lnTo>
                    <a:pt x="12700" y="320294"/>
                  </a:lnTo>
                  <a:cubicBezTo>
                    <a:pt x="12700" y="432435"/>
                    <a:pt x="103632" y="523240"/>
                    <a:pt x="215646" y="523240"/>
                  </a:cubicBezTo>
                  <a:lnTo>
                    <a:pt x="320294" y="523240"/>
                  </a:lnTo>
                  <a:cubicBezTo>
                    <a:pt x="432435" y="523240"/>
                    <a:pt x="523240" y="432308"/>
                    <a:pt x="523240" y="320294"/>
                  </a:cubicBezTo>
                  <a:lnTo>
                    <a:pt x="523240" y="215646"/>
                  </a:lnTo>
                  <a:cubicBezTo>
                    <a:pt x="523240" y="103632"/>
                    <a:pt x="432435" y="12700"/>
                    <a:pt x="320294" y="12700"/>
                  </a:cubicBezTo>
                  <a:lnTo>
                    <a:pt x="215646" y="12700"/>
                  </a:lnTo>
                  <a:lnTo>
                    <a:pt x="215646" y="6350"/>
                  </a:lnTo>
                  <a:lnTo>
                    <a:pt x="215646" y="12700"/>
                  </a:lnTo>
                  <a:cubicBezTo>
                    <a:pt x="103632" y="12700"/>
                    <a:pt x="12700" y="103632"/>
                    <a:pt x="12700" y="215646"/>
                  </a:cubicBezTo>
                  <a:close/>
                </a:path>
              </a:pathLst>
            </a:custGeom>
            <a:solidFill>
              <a:srgbClr val="FF7047"/>
            </a:solidFill>
          </p:spPr>
        </p:sp>
      </p:grpSp>
      <p:sp>
        <p:nvSpPr>
          <p:cNvPr id="26" name="TextBox 26"/>
          <p:cNvSpPr txBox="1"/>
          <p:nvPr/>
        </p:nvSpPr>
        <p:spPr>
          <a:xfrm>
            <a:off x="9012955" y="3329940"/>
            <a:ext cx="261642" cy="298399"/>
          </a:xfrm>
          <a:prstGeom prst="rect">
            <a:avLst/>
          </a:prstGeom>
        </p:spPr>
        <p:txBody>
          <a:bodyPr lIns="0" tIns="0" rIns="0" bIns="0" rtlCol="0" anchor="t">
            <a:spAutoFit/>
          </a:bodyPr>
          <a:lstStyle/>
          <a:p>
            <a:pPr algn="ctr">
              <a:lnSpc>
                <a:spcPts val="2000"/>
              </a:lnSpc>
            </a:pPr>
            <a:r>
              <a:rPr lang="en-US" sz="2000">
                <a:solidFill>
                  <a:srgbClr val="000000"/>
                </a:solidFill>
                <a:latin typeface="Inter"/>
                <a:ea typeface="Inter"/>
                <a:cs typeface="Inter"/>
                <a:sym typeface="Inter"/>
              </a:rPr>
              <a:t>2</a:t>
            </a:r>
          </a:p>
        </p:txBody>
      </p:sp>
      <p:sp>
        <p:nvSpPr>
          <p:cNvPr id="27" name="TextBox 27"/>
          <p:cNvSpPr txBox="1"/>
          <p:nvPr/>
        </p:nvSpPr>
        <p:spPr>
          <a:xfrm>
            <a:off x="10015984" y="3260084"/>
            <a:ext cx="4233415" cy="253724"/>
          </a:xfrm>
          <a:prstGeom prst="rect">
            <a:avLst/>
          </a:prstGeom>
        </p:spPr>
        <p:txBody>
          <a:bodyPr wrap="square" lIns="0" tIns="0" rIns="0" bIns="0" rtlCol="0" anchor="t">
            <a:spAutoFit/>
          </a:bodyPr>
          <a:lstStyle/>
          <a:p>
            <a:pPr algn="l">
              <a:lnSpc>
                <a:spcPts val="2124"/>
              </a:lnSpc>
            </a:pPr>
            <a:r>
              <a:rPr lang="en-US" sz="1687" dirty="0">
                <a:solidFill>
                  <a:srgbClr val="000000"/>
                </a:solidFill>
                <a:latin typeface="Inter"/>
                <a:ea typeface="Inter"/>
                <a:cs typeface="Inter"/>
                <a:sym typeface="Inter"/>
              </a:rPr>
              <a:t>Phase 2 — Automated Attendance Alerts</a:t>
            </a:r>
          </a:p>
        </p:txBody>
      </p:sp>
      <p:sp>
        <p:nvSpPr>
          <p:cNvPr id="28" name="TextBox 28"/>
          <p:cNvSpPr txBox="1"/>
          <p:nvPr/>
        </p:nvSpPr>
        <p:spPr>
          <a:xfrm>
            <a:off x="10015985" y="3558483"/>
            <a:ext cx="6005808" cy="532209"/>
          </a:xfrm>
          <a:prstGeom prst="rect">
            <a:avLst/>
          </a:prstGeom>
        </p:spPr>
        <p:txBody>
          <a:bodyPr lIns="0" tIns="0" rIns="0" bIns="0" rtlCol="0" anchor="t">
            <a:spAutoFit/>
          </a:bodyPr>
          <a:lstStyle/>
          <a:p>
            <a:pPr algn="l">
              <a:lnSpc>
                <a:spcPts val="1812"/>
              </a:lnSpc>
            </a:pPr>
            <a:r>
              <a:rPr lang="en-US" sz="1312" b="1" dirty="0">
                <a:solidFill>
                  <a:srgbClr val="000000"/>
                </a:solidFill>
                <a:latin typeface="Calibri (MS) Bold"/>
                <a:ea typeface="Calibri (MS) Bold"/>
                <a:cs typeface="Calibri (MS) Bold"/>
                <a:sym typeface="Calibri (MS) Bold"/>
              </a:rPr>
              <a:t>Enable intelligent alerts for low attendance, repeated absences, and threshold-based</a:t>
            </a:r>
          </a:p>
        </p:txBody>
      </p:sp>
      <p:grpSp>
        <p:nvGrpSpPr>
          <p:cNvPr id="29" name="Group 29"/>
          <p:cNvGrpSpPr/>
          <p:nvPr/>
        </p:nvGrpSpPr>
        <p:grpSpPr>
          <a:xfrm>
            <a:off x="8443389" y="4246664"/>
            <a:ext cx="523284" cy="19050"/>
            <a:chOff x="0" y="0"/>
            <a:chExt cx="697713" cy="25400"/>
          </a:xfrm>
        </p:grpSpPr>
        <p:sp>
          <p:nvSpPr>
            <p:cNvPr id="30" name="Freeform 30"/>
            <p:cNvSpPr/>
            <p:nvPr/>
          </p:nvSpPr>
          <p:spPr>
            <a:xfrm>
              <a:off x="0" y="0"/>
              <a:ext cx="697738" cy="25400"/>
            </a:xfrm>
            <a:custGeom>
              <a:avLst/>
              <a:gdLst/>
              <a:ahLst/>
              <a:cxnLst/>
              <a:rect l="l" t="t" r="r" b="b"/>
              <a:pathLst>
                <a:path w="697738" h="25400">
                  <a:moveTo>
                    <a:pt x="0" y="12700"/>
                  </a:moveTo>
                  <a:cubicBezTo>
                    <a:pt x="0" y="5715"/>
                    <a:pt x="5715" y="0"/>
                    <a:pt x="12700" y="0"/>
                  </a:cubicBezTo>
                  <a:lnTo>
                    <a:pt x="685038" y="0"/>
                  </a:lnTo>
                  <a:cubicBezTo>
                    <a:pt x="692023" y="0"/>
                    <a:pt x="697738" y="5715"/>
                    <a:pt x="697738" y="12700"/>
                  </a:cubicBezTo>
                  <a:cubicBezTo>
                    <a:pt x="697738" y="19685"/>
                    <a:pt x="692023" y="25400"/>
                    <a:pt x="685038" y="25400"/>
                  </a:cubicBezTo>
                  <a:lnTo>
                    <a:pt x="12700" y="25400"/>
                  </a:lnTo>
                  <a:cubicBezTo>
                    <a:pt x="5715" y="25400"/>
                    <a:pt x="0" y="19685"/>
                    <a:pt x="0" y="12700"/>
                  </a:cubicBezTo>
                  <a:close/>
                </a:path>
              </a:pathLst>
            </a:custGeom>
            <a:solidFill>
              <a:srgbClr val="FF7047"/>
            </a:solidFill>
          </p:spPr>
        </p:sp>
      </p:grpSp>
      <p:grpSp>
        <p:nvGrpSpPr>
          <p:cNvPr id="31" name="Group 31"/>
          <p:cNvGrpSpPr/>
          <p:nvPr/>
        </p:nvGrpSpPr>
        <p:grpSpPr>
          <a:xfrm>
            <a:off x="8942861" y="4055269"/>
            <a:ext cx="401984" cy="401984"/>
            <a:chOff x="0" y="0"/>
            <a:chExt cx="535978" cy="535978"/>
          </a:xfrm>
        </p:grpSpPr>
        <p:sp>
          <p:nvSpPr>
            <p:cNvPr id="32" name="Freeform 32"/>
            <p:cNvSpPr/>
            <p:nvPr/>
          </p:nvSpPr>
          <p:spPr>
            <a:xfrm>
              <a:off x="6350" y="6350"/>
              <a:ext cx="523240" cy="523240"/>
            </a:xfrm>
            <a:custGeom>
              <a:avLst/>
              <a:gdLst/>
              <a:ahLst/>
              <a:cxnLst/>
              <a:rect l="l" t="t" r="r" b="b"/>
              <a:pathLst>
                <a:path w="523240" h="523240">
                  <a:moveTo>
                    <a:pt x="0" y="209296"/>
                  </a:moveTo>
                  <a:cubicBezTo>
                    <a:pt x="0" y="93726"/>
                    <a:pt x="93726" y="0"/>
                    <a:pt x="209296" y="0"/>
                  </a:cubicBezTo>
                  <a:lnTo>
                    <a:pt x="313944" y="0"/>
                  </a:lnTo>
                  <a:cubicBezTo>
                    <a:pt x="429514" y="0"/>
                    <a:pt x="523240" y="93726"/>
                    <a:pt x="523240" y="209296"/>
                  </a:cubicBezTo>
                  <a:lnTo>
                    <a:pt x="523240" y="313944"/>
                  </a:lnTo>
                  <a:cubicBezTo>
                    <a:pt x="523240" y="429514"/>
                    <a:pt x="429514" y="523240"/>
                    <a:pt x="313944" y="523240"/>
                  </a:cubicBezTo>
                  <a:lnTo>
                    <a:pt x="209296" y="523240"/>
                  </a:lnTo>
                  <a:cubicBezTo>
                    <a:pt x="93726" y="523240"/>
                    <a:pt x="0" y="429514"/>
                    <a:pt x="0" y="313944"/>
                  </a:cubicBezTo>
                  <a:close/>
                </a:path>
              </a:pathLst>
            </a:custGeom>
            <a:solidFill>
              <a:srgbClr val="FFFFFF"/>
            </a:solidFill>
          </p:spPr>
        </p:sp>
        <p:sp>
          <p:nvSpPr>
            <p:cNvPr id="33" name="Freeform 33"/>
            <p:cNvSpPr/>
            <p:nvPr/>
          </p:nvSpPr>
          <p:spPr>
            <a:xfrm>
              <a:off x="0" y="0"/>
              <a:ext cx="535940" cy="535940"/>
            </a:xfrm>
            <a:custGeom>
              <a:avLst/>
              <a:gdLst/>
              <a:ahLst/>
              <a:cxnLst/>
              <a:rect l="l" t="t" r="r" b="b"/>
              <a:pathLst>
                <a:path w="535940" h="535940">
                  <a:moveTo>
                    <a:pt x="0" y="215646"/>
                  </a:moveTo>
                  <a:cubicBezTo>
                    <a:pt x="0" y="96520"/>
                    <a:pt x="96520" y="0"/>
                    <a:pt x="215646" y="0"/>
                  </a:cubicBezTo>
                  <a:lnTo>
                    <a:pt x="320294" y="0"/>
                  </a:lnTo>
                  <a:lnTo>
                    <a:pt x="320294" y="6350"/>
                  </a:lnTo>
                  <a:lnTo>
                    <a:pt x="320294" y="0"/>
                  </a:lnTo>
                  <a:cubicBezTo>
                    <a:pt x="439420" y="0"/>
                    <a:pt x="535940" y="96520"/>
                    <a:pt x="535940" y="215646"/>
                  </a:cubicBezTo>
                  <a:lnTo>
                    <a:pt x="529590" y="215646"/>
                  </a:lnTo>
                  <a:lnTo>
                    <a:pt x="535940" y="215646"/>
                  </a:lnTo>
                  <a:lnTo>
                    <a:pt x="535940" y="320294"/>
                  </a:lnTo>
                  <a:lnTo>
                    <a:pt x="529590" y="320294"/>
                  </a:lnTo>
                  <a:lnTo>
                    <a:pt x="535940" y="320294"/>
                  </a:lnTo>
                  <a:cubicBezTo>
                    <a:pt x="535940" y="439420"/>
                    <a:pt x="439420" y="535940"/>
                    <a:pt x="320294" y="535940"/>
                  </a:cubicBezTo>
                  <a:lnTo>
                    <a:pt x="320294" y="529590"/>
                  </a:lnTo>
                  <a:lnTo>
                    <a:pt x="320294" y="535940"/>
                  </a:lnTo>
                  <a:lnTo>
                    <a:pt x="215646" y="535940"/>
                  </a:lnTo>
                  <a:lnTo>
                    <a:pt x="215646" y="529590"/>
                  </a:lnTo>
                  <a:lnTo>
                    <a:pt x="215646" y="535940"/>
                  </a:lnTo>
                  <a:cubicBezTo>
                    <a:pt x="96520" y="535940"/>
                    <a:pt x="0" y="439420"/>
                    <a:pt x="0" y="320294"/>
                  </a:cubicBezTo>
                  <a:lnTo>
                    <a:pt x="0" y="215646"/>
                  </a:lnTo>
                  <a:lnTo>
                    <a:pt x="6350" y="215646"/>
                  </a:lnTo>
                  <a:lnTo>
                    <a:pt x="0" y="215646"/>
                  </a:lnTo>
                  <a:moveTo>
                    <a:pt x="12700" y="215646"/>
                  </a:moveTo>
                  <a:lnTo>
                    <a:pt x="12700" y="320294"/>
                  </a:lnTo>
                  <a:lnTo>
                    <a:pt x="6350" y="320294"/>
                  </a:lnTo>
                  <a:lnTo>
                    <a:pt x="12700" y="320294"/>
                  </a:lnTo>
                  <a:cubicBezTo>
                    <a:pt x="12700" y="432435"/>
                    <a:pt x="103632" y="523240"/>
                    <a:pt x="215646" y="523240"/>
                  </a:cubicBezTo>
                  <a:lnTo>
                    <a:pt x="320294" y="523240"/>
                  </a:lnTo>
                  <a:cubicBezTo>
                    <a:pt x="432435" y="523240"/>
                    <a:pt x="523240" y="432308"/>
                    <a:pt x="523240" y="320294"/>
                  </a:cubicBezTo>
                  <a:lnTo>
                    <a:pt x="523240" y="215646"/>
                  </a:lnTo>
                  <a:cubicBezTo>
                    <a:pt x="523240" y="103632"/>
                    <a:pt x="432435" y="12700"/>
                    <a:pt x="320294" y="12700"/>
                  </a:cubicBezTo>
                  <a:lnTo>
                    <a:pt x="215646" y="12700"/>
                  </a:lnTo>
                  <a:lnTo>
                    <a:pt x="215646" y="6350"/>
                  </a:lnTo>
                  <a:lnTo>
                    <a:pt x="215646" y="12700"/>
                  </a:lnTo>
                  <a:cubicBezTo>
                    <a:pt x="103632" y="12700"/>
                    <a:pt x="12700" y="103632"/>
                    <a:pt x="12700" y="215646"/>
                  </a:cubicBezTo>
                  <a:close/>
                </a:path>
              </a:pathLst>
            </a:custGeom>
            <a:solidFill>
              <a:srgbClr val="FF7047"/>
            </a:solidFill>
          </p:spPr>
        </p:sp>
      </p:grpSp>
      <p:sp>
        <p:nvSpPr>
          <p:cNvPr id="34" name="TextBox 34"/>
          <p:cNvSpPr txBox="1"/>
          <p:nvPr/>
        </p:nvSpPr>
        <p:spPr>
          <a:xfrm>
            <a:off x="9012955" y="4203763"/>
            <a:ext cx="261642" cy="298399"/>
          </a:xfrm>
          <a:prstGeom prst="rect">
            <a:avLst/>
          </a:prstGeom>
        </p:spPr>
        <p:txBody>
          <a:bodyPr lIns="0" tIns="0" rIns="0" bIns="0" rtlCol="0" anchor="t">
            <a:spAutoFit/>
          </a:bodyPr>
          <a:lstStyle/>
          <a:p>
            <a:pPr algn="ctr">
              <a:lnSpc>
                <a:spcPts val="2000"/>
              </a:lnSpc>
            </a:pPr>
            <a:r>
              <a:rPr lang="en-US" sz="2000">
                <a:solidFill>
                  <a:srgbClr val="000000"/>
                </a:solidFill>
                <a:latin typeface="Inter"/>
                <a:ea typeface="Inter"/>
                <a:cs typeface="Inter"/>
                <a:sym typeface="Inter"/>
              </a:rPr>
              <a:t>3</a:t>
            </a:r>
          </a:p>
        </p:txBody>
      </p:sp>
      <p:sp>
        <p:nvSpPr>
          <p:cNvPr id="35" name="TextBox 35"/>
          <p:cNvSpPr txBox="1"/>
          <p:nvPr/>
        </p:nvSpPr>
        <p:spPr>
          <a:xfrm>
            <a:off x="5526434" y="4110333"/>
            <a:ext cx="2745286" cy="282026"/>
          </a:xfrm>
          <a:prstGeom prst="rect">
            <a:avLst/>
          </a:prstGeom>
        </p:spPr>
        <p:txBody>
          <a:bodyPr lIns="0" tIns="0" rIns="0" bIns="0" rtlCol="0" anchor="t">
            <a:spAutoFit/>
          </a:bodyPr>
          <a:lstStyle/>
          <a:p>
            <a:pPr algn="r">
              <a:lnSpc>
                <a:spcPts val="2124"/>
              </a:lnSpc>
            </a:pPr>
            <a:r>
              <a:rPr lang="en-US" sz="1687">
                <a:solidFill>
                  <a:srgbClr val="000000"/>
                </a:solidFill>
                <a:latin typeface="Inter"/>
                <a:ea typeface="Inter"/>
                <a:cs typeface="Inter"/>
                <a:sym typeface="Inter"/>
              </a:rPr>
              <a:t>Phase 3 — ERP Integration</a:t>
            </a:r>
          </a:p>
        </p:txBody>
      </p:sp>
      <p:sp>
        <p:nvSpPr>
          <p:cNvPr id="36" name="TextBox 36"/>
          <p:cNvSpPr txBox="1"/>
          <p:nvPr/>
        </p:nvSpPr>
        <p:spPr>
          <a:xfrm>
            <a:off x="2266055" y="4418257"/>
            <a:ext cx="6005665" cy="522684"/>
          </a:xfrm>
          <a:prstGeom prst="rect">
            <a:avLst/>
          </a:prstGeom>
        </p:spPr>
        <p:txBody>
          <a:bodyPr lIns="0" tIns="0" rIns="0" bIns="0" rtlCol="0" anchor="t">
            <a:spAutoFit/>
          </a:bodyPr>
          <a:lstStyle/>
          <a:p>
            <a:pPr algn="r">
              <a:lnSpc>
                <a:spcPts val="1812"/>
              </a:lnSpc>
            </a:pPr>
            <a:r>
              <a:rPr lang="en-US" sz="1312">
                <a:solidFill>
                  <a:srgbClr val="000000"/>
                </a:solidFill>
                <a:latin typeface="Arimo"/>
                <a:ea typeface="Arimo"/>
                <a:cs typeface="Arimo"/>
                <a:sym typeface="Arimo"/>
              </a:rPr>
              <a:t>Integration with ERP and student information systems for unified institutional data management.</a:t>
            </a:r>
          </a:p>
        </p:txBody>
      </p:sp>
      <p:grpSp>
        <p:nvGrpSpPr>
          <p:cNvPr id="37" name="Group 37"/>
          <p:cNvGrpSpPr/>
          <p:nvPr/>
        </p:nvGrpSpPr>
        <p:grpSpPr>
          <a:xfrm>
            <a:off x="9321032" y="5096913"/>
            <a:ext cx="523284" cy="19050"/>
            <a:chOff x="0" y="0"/>
            <a:chExt cx="697713" cy="25400"/>
          </a:xfrm>
        </p:grpSpPr>
        <p:sp>
          <p:nvSpPr>
            <p:cNvPr id="38" name="Freeform 38"/>
            <p:cNvSpPr/>
            <p:nvPr/>
          </p:nvSpPr>
          <p:spPr>
            <a:xfrm>
              <a:off x="0" y="0"/>
              <a:ext cx="697738" cy="25400"/>
            </a:xfrm>
            <a:custGeom>
              <a:avLst/>
              <a:gdLst/>
              <a:ahLst/>
              <a:cxnLst/>
              <a:rect l="l" t="t" r="r" b="b"/>
              <a:pathLst>
                <a:path w="697738" h="25400">
                  <a:moveTo>
                    <a:pt x="0" y="12700"/>
                  </a:moveTo>
                  <a:cubicBezTo>
                    <a:pt x="0" y="5715"/>
                    <a:pt x="5715" y="0"/>
                    <a:pt x="12700" y="0"/>
                  </a:cubicBezTo>
                  <a:lnTo>
                    <a:pt x="685038" y="0"/>
                  </a:lnTo>
                  <a:cubicBezTo>
                    <a:pt x="692023" y="0"/>
                    <a:pt x="697738" y="5715"/>
                    <a:pt x="697738" y="12700"/>
                  </a:cubicBezTo>
                  <a:cubicBezTo>
                    <a:pt x="697738" y="19685"/>
                    <a:pt x="692023" y="25400"/>
                    <a:pt x="685038" y="25400"/>
                  </a:cubicBezTo>
                  <a:lnTo>
                    <a:pt x="12700" y="25400"/>
                  </a:lnTo>
                  <a:cubicBezTo>
                    <a:pt x="5715" y="25400"/>
                    <a:pt x="0" y="19685"/>
                    <a:pt x="0" y="12700"/>
                  </a:cubicBezTo>
                  <a:close/>
                </a:path>
              </a:pathLst>
            </a:custGeom>
            <a:solidFill>
              <a:srgbClr val="FF7047"/>
            </a:solidFill>
          </p:spPr>
        </p:sp>
      </p:grpSp>
      <p:grpSp>
        <p:nvGrpSpPr>
          <p:cNvPr id="39" name="Group 39"/>
          <p:cNvGrpSpPr/>
          <p:nvPr/>
        </p:nvGrpSpPr>
        <p:grpSpPr>
          <a:xfrm>
            <a:off x="8942861" y="4905527"/>
            <a:ext cx="401984" cy="401984"/>
            <a:chOff x="0" y="0"/>
            <a:chExt cx="535978" cy="535978"/>
          </a:xfrm>
        </p:grpSpPr>
        <p:sp>
          <p:nvSpPr>
            <p:cNvPr id="40" name="Freeform 40"/>
            <p:cNvSpPr/>
            <p:nvPr/>
          </p:nvSpPr>
          <p:spPr>
            <a:xfrm>
              <a:off x="6350" y="6350"/>
              <a:ext cx="523240" cy="523240"/>
            </a:xfrm>
            <a:custGeom>
              <a:avLst/>
              <a:gdLst/>
              <a:ahLst/>
              <a:cxnLst/>
              <a:rect l="l" t="t" r="r" b="b"/>
              <a:pathLst>
                <a:path w="523240" h="523240">
                  <a:moveTo>
                    <a:pt x="0" y="209296"/>
                  </a:moveTo>
                  <a:cubicBezTo>
                    <a:pt x="0" y="93726"/>
                    <a:pt x="93726" y="0"/>
                    <a:pt x="209296" y="0"/>
                  </a:cubicBezTo>
                  <a:lnTo>
                    <a:pt x="313944" y="0"/>
                  </a:lnTo>
                  <a:cubicBezTo>
                    <a:pt x="429514" y="0"/>
                    <a:pt x="523240" y="93726"/>
                    <a:pt x="523240" y="209296"/>
                  </a:cubicBezTo>
                  <a:lnTo>
                    <a:pt x="523240" y="313944"/>
                  </a:lnTo>
                  <a:cubicBezTo>
                    <a:pt x="523240" y="429514"/>
                    <a:pt x="429514" y="523240"/>
                    <a:pt x="313944" y="523240"/>
                  </a:cubicBezTo>
                  <a:lnTo>
                    <a:pt x="209296" y="523240"/>
                  </a:lnTo>
                  <a:cubicBezTo>
                    <a:pt x="93726" y="523240"/>
                    <a:pt x="0" y="429514"/>
                    <a:pt x="0" y="313944"/>
                  </a:cubicBezTo>
                  <a:close/>
                </a:path>
              </a:pathLst>
            </a:custGeom>
            <a:solidFill>
              <a:srgbClr val="FFFFFF"/>
            </a:solidFill>
          </p:spPr>
        </p:sp>
        <p:sp>
          <p:nvSpPr>
            <p:cNvPr id="41" name="Freeform 41"/>
            <p:cNvSpPr/>
            <p:nvPr/>
          </p:nvSpPr>
          <p:spPr>
            <a:xfrm>
              <a:off x="0" y="0"/>
              <a:ext cx="535940" cy="535940"/>
            </a:xfrm>
            <a:custGeom>
              <a:avLst/>
              <a:gdLst/>
              <a:ahLst/>
              <a:cxnLst/>
              <a:rect l="l" t="t" r="r" b="b"/>
              <a:pathLst>
                <a:path w="535940" h="535940">
                  <a:moveTo>
                    <a:pt x="0" y="215646"/>
                  </a:moveTo>
                  <a:cubicBezTo>
                    <a:pt x="0" y="96520"/>
                    <a:pt x="96520" y="0"/>
                    <a:pt x="215646" y="0"/>
                  </a:cubicBezTo>
                  <a:lnTo>
                    <a:pt x="320294" y="0"/>
                  </a:lnTo>
                  <a:lnTo>
                    <a:pt x="320294" y="6350"/>
                  </a:lnTo>
                  <a:lnTo>
                    <a:pt x="320294" y="0"/>
                  </a:lnTo>
                  <a:cubicBezTo>
                    <a:pt x="439420" y="0"/>
                    <a:pt x="535940" y="96520"/>
                    <a:pt x="535940" y="215646"/>
                  </a:cubicBezTo>
                  <a:lnTo>
                    <a:pt x="529590" y="215646"/>
                  </a:lnTo>
                  <a:lnTo>
                    <a:pt x="535940" y="215646"/>
                  </a:lnTo>
                  <a:lnTo>
                    <a:pt x="535940" y="320294"/>
                  </a:lnTo>
                  <a:lnTo>
                    <a:pt x="529590" y="320294"/>
                  </a:lnTo>
                  <a:lnTo>
                    <a:pt x="535940" y="320294"/>
                  </a:lnTo>
                  <a:cubicBezTo>
                    <a:pt x="535940" y="439420"/>
                    <a:pt x="439420" y="535940"/>
                    <a:pt x="320294" y="535940"/>
                  </a:cubicBezTo>
                  <a:lnTo>
                    <a:pt x="320294" y="529590"/>
                  </a:lnTo>
                  <a:lnTo>
                    <a:pt x="320294" y="535940"/>
                  </a:lnTo>
                  <a:lnTo>
                    <a:pt x="215646" y="535940"/>
                  </a:lnTo>
                  <a:lnTo>
                    <a:pt x="215646" y="529590"/>
                  </a:lnTo>
                  <a:lnTo>
                    <a:pt x="215646" y="535940"/>
                  </a:lnTo>
                  <a:cubicBezTo>
                    <a:pt x="96520" y="535940"/>
                    <a:pt x="0" y="439420"/>
                    <a:pt x="0" y="320294"/>
                  </a:cubicBezTo>
                  <a:lnTo>
                    <a:pt x="0" y="215646"/>
                  </a:lnTo>
                  <a:lnTo>
                    <a:pt x="6350" y="215646"/>
                  </a:lnTo>
                  <a:lnTo>
                    <a:pt x="0" y="215646"/>
                  </a:lnTo>
                  <a:moveTo>
                    <a:pt x="12700" y="215646"/>
                  </a:moveTo>
                  <a:lnTo>
                    <a:pt x="12700" y="320294"/>
                  </a:lnTo>
                  <a:lnTo>
                    <a:pt x="6350" y="320294"/>
                  </a:lnTo>
                  <a:lnTo>
                    <a:pt x="12700" y="320294"/>
                  </a:lnTo>
                  <a:cubicBezTo>
                    <a:pt x="12700" y="432435"/>
                    <a:pt x="103632" y="523240"/>
                    <a:pt x="215646" y="523240"/>
                  </a:cubicBezTo>
                  <a:lnTo>
                    <a:pt x="320294" y="523240"/>
                  </a:lnTo>
                  <a:cubicBezTo>
                    <a:pt x="432435" y="523240"/>
                    <a:pt x="523240" y="432308"/>
                    <a:pt x="523240" y="320294"/>
                  </a:cubicBezTo>
                  <a:lnTo>
                    <a:pt x="523240" y="215646"/>
                  </a:lnTo>
                  <a:cubicBezTo>
                    <a:pt x="523240" y="103632"/>
                    <a:pt x="432435" y="12700"/>
                    <a:pt x="320294" y="12700"/>
                  </a:cubicBezTo>
                  <a:lnTo>
                    <a:pt x="215646" y="12700"/>
                  </a:lnTo>
                  <a:lnTo>
                    <a:pt x="215646" y="6350"/>
                  </a:lnTo>
                  <a:lnTo>
                    <a:pt x="215646" y="12700"/>
                  </a:lnTo>
                  <a:cubicBezTo>
                    <a:pt x="103632" y="12700"/>
                    <a:pt x="12700" y="103632"/>
                    <a:pt x="12700" y="215646"/>
                  </a:cubicBezTo>
                  <a:close/>
                </a:path>
              </a:pathLst>
            </a:custGeom>
            <a:solidFill>
              <a:srgbClr val="FF7047"/>
            </a:solidFill>
          </p:spPr>
        </p:sp>
      </p:grpSp>
      <p:sp>
        <p:nvSpPr>
          <p:cNvPr id="42" name="TextBox 42"/>
          <p:cNvSpPr txBox="1"/>
          <p:nvPr/>
        </p:nvSpPr>
        <p:spPr>
          <a:xfrm>
            <a:off x="9012955" y="5042230"/>
            <a:ext cx="261642" cy="298399"/>
          </a:xfrm>
          <a:prstGeom prst="rect">
            <a:avLst/>
          </a:prstGeom>
        </p:spPr>
        <p:txBody>
          <a:bodyPr lIns="0" tIns="0" rIns="0" bIns="0" rtlCol="0" anchor="t">
            <a:spAutoFit/>
          </a:bodyPr>
          <a:lstStyle/>
          <a:p>
            <a:pPr algn="ctr">
              <a:lnSpc>
                <a:spcPts val="2000"/>
              </a:lnSpc>
            </a:pPr>
            <a:r>
              <a:rPr lang="en-US" sz="2000">
                <a:solidFill>
                  <a:srgbClr val="000000"/>
                </a:solidFill>
                <a:latin typeface="Inter"/>
                <a:ea typeface="Inter"/>
                <a:cs typeface="Inter"/>
                <a:sym typeface="Inter"/>
              </a:rPr>
              <a:t>4</a:t>
            </a:r>
          </a:p>
        </p:txBody>
      </p:sp>
      <p:sp>
        <p:nvSpPr>
          <p:cNvPr id="43" name="TextBox 43"/>
          <p:cNvSpPr txBox="1"/>
          <p:nvPr/>
        </p:nvSpPr>
        <p:spPr>
          <a:xfrm>
            <a:off x="10015985" y="4960591"/>
            <a:ext cx="2483796" cy="282026"/>
          </a:xfrm>
          <a:prstGeom prst="rect">
            <a:avLst/>
          </a:prstGeom>
        </p:spPr>
        <p:txBody>
          <a:bodyPr lIns="0" tIns="0" rIns="0" bIns="0" rtlCol="0" anchor="t">
            <a:spAutoFit/>
          </a:bodyPr>
          <a:lstStyle/>
          <a:p>
            <a:pPr algn="l">
              <a:lnSpc>
                <a:spcPts val="2124"/>
              </a:lnSpc>
            </a:pPr>
            <a:r>
              <a:rPr lang="en-US" sz="1687">
                <a:solidFill>
                  <a:srgbClr val="000000"/>
                </a:solidFill>
                <a:latin typeface="Inter"/>
                <a:ea typeface="Inter"/>
                <a:cs typeface="Inter"/>
                <a:sym typeface="Inter"/>
              </a:rPr>
              <a:t>Phase 4 — AI Prediction</a:t>
            </a:r>
          </a:p>
        </p:txBody>
      </p:sp>
      <p:sp>
        <p:nvSpPr>
          <p:cNvPr id="44" name="TextBox 44"/>
          <p:cNvSpPr txBox="1"/>
          <p:nvPr/>
        </p:nvSpPr>
        <p:spPr>
          <a:xfrm>
            <a:off x="10015985" y="5268516"/>
            <a:ext cx="6005808" cy="522684"/>
          </a:xfrm>
          <a:prstGeom prst="rect">
            <a:avLst/>
          </a:prstGeom>
        </p:spPr>
        <p:txBody>
          <a:bodyPr lIns="0" tIns="0" rIns="0" bIns="0" rtlCol="0" anchor="t">
            <a:spAutoFit/>
          </a:bodyPr>
          <a:lstStyle/>
          <a:p>
            <a:pPr algn="l">
              <a:lnSpc>
                <a:spcPts val="1812"/>
              </a:lnSpc>
            </a:pPr>
            <a:r>
              <a:rPr lang="en-US" sz="1312">
                <a:solidFill>
                  <a:srgbClr val="000000"/>
                </a:solidFill>
                <a:latin typeface="Arimo"/>
                <a:ea typeface="Arimo"/>
                <a:cs typeface="Arimo"/>
                <a:sym typeface="Arimo"/>
              </a:rPr>
              <a:t>AI-driven attendance trend prediction and early warning systems for proactive intervention.</a:t>
            </a:r>
          </a:p>
        </p:txBody>
      </p:sp>
      <p:grpSp>
        <p:nvGrpSpPr>
          <p:cNvPr id="45" name="Group 45"/>
          <p:cNvGrpSpPr/>
          <p:nvPr/>
        </p:nvGrpSpPr>
        <p:grpSpPr>
          <a:xfrm>
            <a:off x="8443389" y="5947172"/>
            <a:ext cx="523284" cy="19050"/>
            <a:chOff x="0" y="0"/>
            <a:chExt cx="697713" cy="25400"/>
          </a:xfrm>
        </p:grpSpPr>
        <p:sp>
          <p:nvSpPr>
            <p:cNvPr id="46" name="Freeform 46"/>
            <p:cNvSpPr/>
            <p:nvPr/>
          </p:nvSpPr>
          <p:spPr>
            <a:xfrm>
              <a:off x="0" y="0"/>
              <a:ext cx="697738" cy="25400"/>
            </a:xfrm>
            <a:custGeom>
              <a:avLst/>
              <a:gdLst/>
              <a:ahLst/>
              <a:cxnLst/>
              <a:rect l="l" t="t" r="r" b="b"/>
              <a:pathLst>
                <a:path w="697738" h="25400">
                  <a:moveTo>
                    <a:pt x="0" y="12700"/>
                  </a:moveTo>
                  <a:cubicBezTo>
                    <a:pt x="0" y="5715"/>
                    <a:pt x="5715" y="0"/>
                    <a:pt x="12700" y="0"/>
                  </a:cubicBezTo>
                  <a:lnTo>
                    <a:pt x="685038" y="0"/>
                  </a:lnTo>
                  <a:cubicBezTo>
                    <a:pt x="692023" y="0"/>
                    <a:pt x="697738" y="5715"/>
                    <a:pt x="697738" y="12700"/>
                  </a:cubicBezTo>
                  <a:cubicBezTo>
                    <a:pt x="697738" y="19685"/>
                    <a:pt x="692023" y="25400"/>
                    <a:pt x="685038" y="25400"/>
                  </a:cubicBezTo>
                  <a:lnTo>
                    <a:pt x="12700" y="25400"/>
                  </a:lnTo>
                  <a:cubicBezTo>
                    <a:pt x="5715" y="25400"/>
                    <a:pt x="0" y="19685"/>
                    <a:pt x="0" y="12700"/>
                  </a:cubicBezTo>
                  <a:close/>
                </a:path>
              </a:pathLst>
            </a:custGeom>
            <a:solidFill>
              <a:srgbClr val="FF7047"/>
            </a:solidFill>
          </p:spPr>
        </p:sp>
      </p:grpSp>
      <p:grpSp>
        <p:nvGrpSpPr>
          <p:cNvPr id="47" name="Group 47"/>
          <p:cNvGrpSpPr/>
          <p:nvPr/>
        </p:nvGrpSpPr>
        <p:grpSpPr>
          <a:xfrm>
            <a:off x="8942861" y="5755777"/>
            <a:ext cx="401984" cy="401984"/>
            <a:chOff x="0" y="0"/>
            <a:chExt cx="535978" cy="535978"/>
          </a:xfrm>
        </p:grpSpPr>
        <p:sp>
          <p:nvSpPr>
            <p:cNvPr id="48" name="Freeform 48"/>
            <p:cNvSpPr/>
            <p:nvPr/>
          </p:nvSpPr>
          <p:spPr>
            <a:xfrm>
              <a:off x="6350" y="6350"/>
              <a:ext cx="523240" cy="523240"/>
            </a:xfrm>
            <a:custGeom>
              <a:avLst/>
              <a:gdLst/>
              <a:ahLst/>
              <a:cxnLst/>
              <a:rect l="l" t="t" r="r" b="b"/>
              <a:pathLst>
                <a:path w="523240" h="523240">
                  <a:moveTo>
                    <a:pt x="0" y="209296"/>
                  </a:moveTo>
                  <a:cubicBezTo>
                    <a:pt x="0" y="93726"/>
                    <a:pt x="93726" y="0"/>
                    <a:pt x="209296" y="0"/>
                  </a:cubicBezTo>
                  <a:lnTo>
                    <a:pt x="313944" y="0"/>
                  </a:lnTo>
                  <a:cubicBezTo>
                    <a:pt x="429514" y="0"/>
                    <a:pt x="523240" y="93726"/>
                    <a:pt x="523240" y="209296"/>
                  </a:cubicBezTo>
                  <a:lnTo>
                    <a:pt x="523240" y="313944"/>
                  </a:lnTo>
                  <a:cubicBezTo>
                    <a:pt x="523240" y="429514"/>
                    <a:pt x="429514" y="523240"/>
                    <a:pt x="313944" y="523240"/>
                  </a:cubicBezTo>
                  <a:lnTo>
                    <a:pt x="209296" y="523240"/>
                  </a:lnTo>
                  <a:cubicBezTo>
                    <a:pt x="93726" y="523240"/>
                    <a:pt x="0" y="429514"/>
                    <a:pt x="0" y="313944"/>
                  </a:cubicBezTo>
                  <a:close/>
                </a:path>
              </a:pathLst>
            </a:custGeom>
            <a:solidFill>
              <a:srgbClr val="FFFFFF"/>
            </a:solidFill>
          </p:spPr>
        </p:sp>
        <p:sp>
          <p:nvSpPr>
            <p:cNvPr id="49" name="Freeform 49"/>
            <p:cNvSpPr/>
            <p:nvPr/>
          </p:nvSpPr>
          <p:spPr>
            <a:xfrm>
              <a:off x="0" y="0"/>
              <a:ext cx="535940" cy="535940"/>
            </a:xfrm>
            <a:custGeom>
              <a:avLst/>
              <a:gdLst/>
              <a:ahLst/>
              <a:cxnLst/>
              <a:rect l="l" t="t" r="r" b="b"/>
              <a:pathLst>
                <a:path w="535940" h="535940">
                  <a:moveTo>
                    <a:pt x="0" y="215646"/>
                  </a:moveTo>
                  <a:cubicBezTo>
                    <a:pt x="0" y="96520"/>
                    <a:pt x="96520" y="0"/>
                    <a:pt x="215646" y="0"/>
                  </a:cubicBezTo>
                  <a:lnTo>
                    <a:pt x="320294" y="0"/>
                  </a:lnTo>
                  <a:lnTo>
                    <a:pt x="320294" y="6350"/>
                  </a:lnTo>
                  <a:lnTo>
                    <a:pt x="320294" y="0"/>
                  </a:lnTo>
                  <a:cubicBezTo>
                    <a:pt x="439420" y="0"/>
                    <a:pt x="535940" y="96520"/>
                    <a:pt x="535940" y="215646"/>
                  </a:cubicBezTo>
                  <a:lnTo>
                    <a:pt x="529590" y="215646"/>
                  </a:lnTo>
                  <a:lnTo>
                    <a:pt x="535940" y="215646"/>
                  </a:lnTo>
                  <a:lnTo>
                    <a:pt x="535940" y="320294"/>
                  </a:lnTo>
                  <a:lnTo>
                    <a:pt x="529590" y="320294"/>
                  </a:lnTo>
                  <a:lnTo>
                    <a:pt x="535940" y="320294"/>
                  </a:lnTo>
                  <a:cubicBezTo>
                    <a:pt x="535940" y="439420"/>
                    <a:pt x="439420" y="535940"/>
                    <a:pt x="320294" y="535940"/>
                  </a:cubicBezTo>
                  <a:lnTo>
                    <a:pt x="320294" y="529590"/>
                  </a:lnTo>
                  <a:lnTo>
                    <a:pt x="320294" y="535940"/>
                  </a:lnTo>
                  <a:lnTo>
                    <a:pt x="215646" y="535940"/>
                  </a:lnTo>
                  <a:lnTo>
                    <a:pt x="215646" y="529590"/>
                  </a:lnTo>
                  <a:lnTo>
                    <a:pt x="215646" y="535940"/>
                  </a:lnTo>
                  <a:cubicBezTo>
                    <a:pt x="96520" y="535940"/>
                    <a:pt x="0" y="439420"/>
                    <a:pt x="0" y="320294"/>
                  </a:cubicBezTo>
                  <a:lnTo>
                    <a:pt x="0" y="215646"/>
                  </a:lnTo>
                  <a:lnTo>
                    <a:pt x="6350" y="215646"/>
                  </a:lnTo>
                  <a:lnTo>
                    <a:pt x="0" y="215646"/>
                  </a:lnTo>
                  <a:moveTo>
                    <a:pt x="12700" y="215646"/>
                  </a:moveTo>
                  <a:lnTo>
                    <a:pt x="12700" y="320294"/>
                  </a:lnTo>
                  <a:lnTo>
                    <a:pt x="6350" y="320294"/>
                  </a:lnTo>
                  <a:lnTo>
                    <a:pt x="12700" y="320294"/>
                  </a:lnTo>
                  <a:cubicBezTo>
                    <a:pt x="12700" y="432435"/>
                    <a:pt x="103632" y="523240"/>
                    <a:pt x="215646" y="523240"/>
                  </a:cubicBezTo>
                  <a:lnTo>
                    <a:pt x="320294" y="523240"/>
                  </a:lnTo>
                  <a:cubicBezTo>
                    <a:pt x="432435" y="523240"/>
                    <a:pt x="523240" y="432308"/>
                    <a:pt x="523240" y="320294"/>
                  </a:cubicBezTo>
                  <a:lnTo>
                    <a:pt x="523240" y="215646"/>
                  </a:lnTo>
                  <a:cubicBezTo>
                    <a:pt x="523240" y="103632"/>
                    <a:pt x="432435" y="12700"/>
                    <a:pt x="320294" y="12700"/>
                  </a:cubicBezTo>
                  <a:lnTo>
                    <a:pt x="215646" y="12700"/>
                  </a:lnTo>
                  <a:lnTo>
                    <a:pt x="215646" y="6350"/>
                  </a:lnTo>
                  <a:lnTo>
                    <a:pt x="215646" y="12700"/>
                  </a:lnTo>
                  <a:cubicBezTo>
                    <a:pt x="103632" y="12700"/>
                    <a:pt x="12700" y="103632"/>
                    <a:pt x="12700" y="215646"/>
                  </a:cubicBezTo>
                  <a:close/>
                </a:path>
              </a:pathLst>
            </a:custGeom>
            <a:solidFill>
              <a:srgbClr val="FF7047"/>
            </a:solidFill>
          </p:spPr>
        </p:sp>
      </p:grpSp>
      <p:sp>
        <p:nvSpPr>
          <p:cNvPr id="50" name="TextBox 50"/>
          <p:cNvSpPr txBox="1"/>
          <p:nvPr/>
        </p:nvSpPr>
        <p:spPr>
          <a:xfrm>
            <a:off x="9012955" y="5880706"/>
            <a:ext cx="261642" cy="298399"/>
          </a:xfrm>
          <a:prstGeom prst="rect">
            <a:avLst/>
          </a:prstGeom>
        </p:spPr>
        <p:txBody>
          <a:bodyPr lIns="0" tIns="0" rIns="0" bIns="0" rtlCol="0" anchor="t">
            <a:spAutoFit/>
          </a:bodyPr>
          <a:lstStyle/>
          <a:p>
            <a:pPr algn="ctr">
              <a:lnSpc>
                <a:spcPts val="2000"/>
              </a:lnSpc>
            </a:pPr>
            <a:r>
              <a:rPr lang="en-US" sz="2000">
                <a:solidFill>
                  <a:srgbClr val="000000"/>
                </a:solidFill>
                <a:latin typeface="Inter"/>
                <a:ea typeface="Inter"/>
                <a:cs typeface="Inter"/>
                <a:sym typeface="Inter"/>
              </a:rPr>
              <a:t>5</a:t>
            </a:r>
          </a:p>
        </p:txBody>
      </p:sp>
      <p:sp>
        <p:nvSpPr>
          <p:cNvPr id="51" name="TextBox 51"/>
          <p:cNvSpPr txBox="1"/>
          <p:nvPr/>
        </p:nvSpPr>
        <p:spPr>
          <a:xfrm>
            <a:off x="4724400" y="5829300"/>
            <a:ext cx="3613148" cy="269304"/>
          </a:xfrm>
          <a:prstGeom prst="rect">
            <a:avLst/>
          </a:prstGeom>
        </p:spPr>
        <p:txBody>
          <a:bodyPr wrap="square" lIns="0" tIns="0" rIns="0" bIns="0" rtlCol="0" anchor="t">
            <a:spAutoFit/>
          </a:bodyPr>
          <a:lstStyle/>
          <a:p>
            <a:pPr algn="r">
              <a:lnSpc>
                <a:spcPts val="2125"/>
              </a:lnSpc>
            </a:pPr>
            <a:r>
              <a:rPr lang="en-US" sz="1750" dirty="0">
                <a:solidFill>
                  <a:srgbClr val="000000"/>
                </a:solidFill>
                <a:latin typeface="Inter"/>
                <a:ea typeface="Inter"/>
                <a:cs typeface="Inter"/>
                <a:sym typeface="Inter"/>
              </a:rPr>
              <a:t>Phase 5 — Mobile Application</a:t>
            </a:r>
          </a:p>
        </p:txBody>
      </p:sp>
      <p:sp>
        <p:nvSpPr>
          <p:cNvPr id="52" name="TextBox 52"/>
          <p:cNvSpPr txBox="1"/>
          <p:nvPr/>
        </p:nvSpPr>
        <p:spPr>
          <a:xfrm>
            <a:off x="2266055" y="6118774"/>
            <a:ext cx="6005665" cy="522684"/>
          </a:xfrm>
          <a:prstGeom prst="rect">
            <a:avLst/>
          </a:prstGeom>
        </p:spPr>
        <p:txBody>
          <a:bodyPr lIns="0" tIns="0" rIns="0" bIns="0" rtlCol="0" anchor="t">
            <a:spAutoFit/>
          </a:bodyPr>
          <a:lstStyle/>
          <a:p>
            <a:pPr algn="r">
              <a:lnSpc>
                <a:spcPts val="1812"/>
              </a:lnSpc>
            </a:pPr>
            <a:r>
              <a:rPr lang="en-US" sz="1312" b="1" dirty="0">
                <a:solidFill>
                  <a:srgbClr val="000000"/>
                </a:solidFill>
                <a:latin typeface="Arimo Bold"/>
                <a:ea typeface="Arimo Bold"/>
                <a:cs typeface="Arimo Bold"/>
                <a:sym typeface="Arimo Bold"/>
              </a:rPr>
              <a:t>Role-based mobile access for attendance tracking, alerts, and reports.</a:t>
            </a:r>
          </a:p>
        </p:txBody>
      </p:sp>
      <p:grpSp>
        <p:nvGrpSpPr>
          <p:cNvPr id="53" name="Group 53"/>
          <p:cNvGrpSpPr/>
          <p:nvPr/>
        </p:nvGrpSpPr>
        <p:grpSpPr>
          <a:xfrm>
            <a:off x="2140591" y="7353748"/>
            <a:ext cx="6916045" cy="2351932"/>
            <a:chOff x="0" y="0"/>
            <a:chExt cx="9221394" cy="3135909"/>
          </a:xfrm>
        </p:grpSpPr>
        <p:sp>
          <p:nvSpPr>
            <p:cNvPr id="54" name="Freeform 54"/>
            <p:cNvSpPr/>
            <p:nvPr/>
          </p:nvSpPr>
          <p:spPr>
            <a:xfrm>
              <a:off x="-1651" y="-1651"/>
              <a:ext cx="9224645" cy="3139186"/>
            </a:xfrm>
            <a:custGeom>
              <a:avLst/>
              <a:gdLst/>
              <a:ahLst/>
              <a:cxnLst/>
              <a:rect l="l" t="t" r="r" b="b"/>
              <a:pathLst>
                <a:path w="9224645" h="3139186">
                  <a:moveTo>
                    <a:pt x="127" y="336550"/>
                  </a:moveTo>
                  <a:cubicBezTo>
                    <a:pt x="127" y="150749"/>
                    <a:pt x="150749" y="0"/>
                    <a:pt x="336677" y="0"/>
                  </a:cubicBezTo>
                  <a:lnTo>
                    <a:pt x="8888095" y="0"/>
                  </a:lnTo>
                  <a:lnTo>
                    <a:pt x="8888095" y="1651"/>
                  </a:lnTo>
                  <a:lnTo>
                    <a:pt x="8888095" y="127"/>
                  </a:lnTo>
                  <a:cubicBezTo>
                    <a:pt x="9073896" y="127"/>
                    <a:pt x="9224645" y="150749"/>
                    <a:pt x="9224645" y="336677"/>
                  </a:cubicBezTo>
                  <a:lnTo>
                    <a:pt x="9223121" y="336677"/>
                  </a:lnTo>
                  <a:lnTo>
                    <a:pt x="9224645" y="336677"/>
                  </a:lnTo>
                  <a:lnTo>
                    <a:pt x="9224645" y="2802636"/>
                  </a:lnTo>
                  <a:lnTo>
                    <a:pt x="9223121" y="2802636"/>
                  </a:lnTo>
                  <a:lnTo>
                    <a:pt x="9224645" y="2802636"/>
                  </a:lnTo>
                  <a:cubicBezTo>
                    <a:pt x="9224645" y="2988437"/>
                    <a:pt x="9074023" y="3139186"/>
                    <a:pt x="8888095" y="3139186"/>
                  </a:cubicBezTo>
                  <a:lnTo>
                    <a:pt x="8888095" y="3137662"/>
                  </a:lnTo>
                  <a:lnTo>
                    <a:pt x="8888095" y="3139186"/>
                  </a:lnTo>
                  <a:lnTo>
                    <a:pt x="336550" y="3139186"/>
                  </a:lnTo>
                  <a:lnTo>
                    <a:pt x="336550" y="3137662"/>
                  </a:lnTo>
                  <a:lnTo>
                    <a:pt x="336550" y="3139186"/>
                  </a:lnTo>
                  <a:cubicBezTo>
                    <a:pt x="150749" y="3139186"/>
                    <a:pt x="0" y="2988564"/>
                    <a:pt x="0" y="2802636"/>
                  </a:cubicBezTo>
                  <a:lnTo>
                    <a:pt x="0" y="336550"/>
                  </a:lnTo>
                  <a:lnTo>
                    <a:pt x="1651" y="336550"/>
                  </a:lnTo>
                  <a:lnTo>
                    <a:pt x="127" y="336550"/>
                  </a:lnTo>
                  <a:moveTo>
                    <a:pt x="3302" y="336550"/>
                  </a:moveTo>
                  <a:lnTo>
                    <a:pt x="3302" y="2802636"/>
                  </a:lnTo>
                  <a:lnTo>
                    <a:pt x="1651" y="2802636"/>
                  </a:lnTo>
                  <a:lnTo>
                    <a:pt x="3175" y="2802636"/>
                  </a:lnTo>
                  <a:cubicBezTo>
                    <a:pt x="3175" y="2986786"/>
                    <a:pt x="152400" y="3136011"/>
                    <a:pt x="336550" y="3136011"/>
                  </a:cubicBezTo>
                  <a:lnTo>
                    <a:pt x="8888095" y="3136011"/>
                  </a:lnTo>
                  <a:cubicBezTo>
                    <a:pt x="9072245" y="3136011"/>
                    <a:pt x="9221470" y="2986786"/>
                    <a:pt x="9221470" y="2802636"/>
                  </a:cubicBezTo>
                  <a:lnTo>
                    <a:pt x="9221470" y="336550"/>
                  </a:lnTo>
                  <a:cubicBezTo>
                    <a:pt x="9221470" y="152400"/>
                    <a:pt x="9072245" y="3175"/>
                    <a:pt x="8888095" y="3175"/>
                  </a:cubicBezTo>
                  <a:lnTo>
                    <a:pt x="336550" y="3175"/>
                  </a:lnTo>
                  <a:lnTo>
                    <a:pt x="336550" y="1651"/>
                  </a:lnTo>
                  <a:lnTo>
                    <a:pt x="336550" y="3175"/>
                  </a:lnTo>
                  <a:cubicBezTo>
                    <a:pt x="152527" y="3175"/>
                    <a:pt x="3175" y="152527"/>
                    <a:pt x="3175" y="336550"/>
                  </a:cubicBezTo>
                  <a:close/>
                </a:path>
              </a:pathLst>
            </a:custGeom>
            <a:solidFill>
              <a:srgbClr val="ED7D31"/>
            </a:solidFill>
          </p:spPr>
        </p:sp>
      </p:grpSp>
      <p:sp>
        <p:nvSpPr>
          <p:cNvPr id="55" name="TextBox 55"/>
          <p:cNvSpPr txBox="1"/>
          <p:nvPr/>
        </p:nvSpPr>
        <p:spPr>
          <a:xfrm>
            <a:off x="2315023" y="7466857"/>
            <a:ext cx="2180482" cy="282026"/>
          </a:xfrm>
          <a:prstGeom prst="rect">
            <a:avLst/>
          </a:prstGeom>
        </p:spPr>
        <p:txBody>
          <a:bodyPr lIns="0" tIns="0" rIns="0" bIns="0" rtlCol="0" anchor="t">
            <a:spAutoFit/>
          </a:bodyPr>
          <a:lstStyle/>
          <a:p>
            <a:pPr algn="l">
              <a:lnSpc>
                <a:spcPts val="2124"/>
              </a:lnSpc>
            </a:pPr>
            <a:r>
              <a:rPr lang="en-US" sz="1687">
                <a:solidFill>
                  <a:srgbClr val="000000"/>
                </a:solidFill>
                <a:latin typeface="Inter"/>
                <a:ea typeface="Inter"/>
                <a:cs typeface="Inter"/>
                <a:sym typeface="Inter"/>
              </a:rPr>
              <a:t>Platform Philosophy</a:t>
            </a:r>
          </a:p>
        </p:txBody>
      </p:sp>
      <p:sp>
        <p:nvSpPr>
          <p:cNvPr id="56" name="TextBox 56"/>
          <p:cNvSpPr txBox="1"/>
          <p:nvPr/>
        </p:nvSpPr>
        <p:spPr>
          <a:xfrm>
            <a:off x="2315023" y="7852467"/>
            <a:ext cx="6567192" cy="731634"/>
          </a:xfrm>
          <a:prstGeom prst="rect">
            <a:avLst/>
          </a:prstGeom>
        </p:spPr>
        <p:txBody>
          <a:bodyPr lIns="0" tIns="0" rIns="0" bIns="0" rtlCol="0" anchor="t">
            <a:spAutoFit/>
          </a:bodyPr>
          <a:lstStyle/>
          <a:p>
            <a:pPr algn="just">
              <a:lnSpc>
                <a:spcPts val="1812"/>
              </a:lnSpc>
            </a:pPr>
            <a:r>
              <a:rPr lang="en-US" sz="1500">
                <a:solidFill>
                  <a:srgbClr val="000000"/>
                </a:solidFill>
                <a:latin typeface="Arimo"/>
                <a:ea typeface="Arimo"/>
                <a:cs typeface="Arimo"/>
                <a:sym typeface="Arimo"/>
              </a:rPr>
              <a:t>BIOSYNC is not a fixed, one-time project. It is a living platform  architected to evolve, expand, and adapt as institutional requirements grow in complexity and scale.</a:t>
            </a:r>
          </a:p>
        </p:txBody>
      </p:sp>
      <p:sp>
        <p:nvSpPr>
          <p:cNvPr id="57" name="TextBox 57"/>
          <p:cNvSpPr txBox="1"/>
          <p:nvPr/>
        </p:nvSpPr>
        <p:spPr>
          <a:xfrm>
            <a:off x="10461917" y="7317105"/>
            <a:ext cx="2180482" cy="282026"/>
          </a:xfrm>
          <a:prstGeom prst="rect">
            <a:avLst/>
          </a:prstGeom>
        </p:spPr>
        <p:txBody>
          <a:bodyPr lIns="0" tIns="0" rIns="0" bIns="0" rtlCol="0" anchor="t">
            <a:spAutoFit/>
          </a:bodyPr>
          <a:lstStyle/>
          <a:p>
            <a:pPr algn="l">
              <a:lnSpc>
                <a:spcPts val="2124"/>
              </a:lnSpc>
            </a:pPr>
            <a:r>
              <a:rPr lang="en-US" sz="1687">
                <a:solidFill>
                  <a:srgbClr val="000000"/>
                </a:solidFill>
                <a:latin typeface="Inter"/>
                <a:ea typeface="Inter"/>
                <a:cs typeface="Inter"/>
                <a:sym typeface="Inter"/>
              </a:rPr>
              <a:t>Key Growth Vectors</a:t>
            </a:r>
          </a:p>
        </p:txBody>
      </p:sp>
      <p:sp>
        <p:nvSpPr>
          <p:cNvPr id="58" name="TextBox 58"/>
          <p:cNvSpPr txBox="1"/>
          <p:nvPr/>
        </p:nvSpPr>
        <p:spPr>
          <a:xfrm>
            <a:off x="10461917" y="7674150"/>
            <a:ext cx="6665119" cy="1838916"/>
          </a:xfrm>
          <a:prstGeom prst="rect">
            <a:avLst/>
          </a:prstGeom>
        </p:spPr>
        <p:txBody>
          <a:bodyPr lIns="0" tIns="0" rIns="0" bIns="0" rtlCol="0" anchor="t">
            <a:spAutoFit/>
          </a:bodyPr>
          <a:lstStyle/>
          <a:p>
            <a:pPr marL="197941" lvl="1" indent="-98971" algn="l">
              <a:lnSpc>
                <a:spcPts val="1812"/>
              </a:lnSpc>
              <a:buFont typeface="Arial"/>
              <a:buChar char="•"/>
            </a:pPr>
            <a:r>
              <a:rPr lang="en-US" sz="1312" b="1">
                <a:solidFill>
                  <a:srgbClr val="000000"/>
                </a:solidFill>
                <a:latin typeface="Arimo Bold"/>
                <a:ea typeface="Arimo Bold"/>
                <a:cs typeface="Arimo Bold"/>
                <a:sym typeface="Arimo Bold"/>
              </a:rPr>
              <a:t>Multi-campus deployment</a:t>
            </a:r>
            <a:r>
              <a:rPr lang="en-US" sz="1312">
                <a:solidFill>
                  <a:srgbClr val="000000"/>
                </a:solidFill>
                <a:latin typeface="Arimo"/>
                <a:ea typeface="Arimo"/>
                <a:cs typeface="Arimo"/>
                <a:sym typeface="Arimo"/>
              </a:rPr>
              <a:t> — scalable architecture supporting distributed institutional networks</a:t>
            </a:r>
          </a:p>
          <a:p>
            <a:pPr marL="197941" lvl="1" indent="-98971" algn="l">
              <a:lnSpc>
                <a:spcPts val="1812"/>
              </a:lnSpc>
              <a:buFont typeface="Arial"/>
              <a:buChar char="•"/>
            </a:pPr>
            <a:r>
              <a:rPr lang="en-US" sz="1312" b="1">
                <a:solidFill>
                  <a:srgbClr val="000000"/>
                </a:solidFill>
                <a:latin typeface="Arimo Bold"/>
                <a:ea typeface="Arimo Bold"/>
                <a:cs typeface="Arimo Bold"/>
                <a:sym typeface="Arimo Bold"/>
              </a:rPr>
              <a:t>API-first design</a:t>
            </a:r>
            <a:r>
              <a:rPr lang="en-US" sz="1312">
                <a:solidFill>
                  <a:srgbClr val="000000"/>
                </a:solidFill>
                <a:latin typeface="Arimo"/>
                <a:ea typeface="Arimo"/>
                <a:cs typeface="Arimo"/>
                <a:sym typeface="Arimo"/>
              </a:rPr>
              <a:t> — seamless integration with third-party educational platforms</a:t>
            </a:r>
          </a:p>
          <a:p>
            <a:pPr marL="197941" lvl="1" indent="-98971" algn="l">
              <a:lnSpc>
                <a:spcPts val="1812"/>
              </a:lnSpc>
              <a:buFont typeface="Arial"/>
              <a:buChar char="•"/>
            </a:pPr>
            <a:r>
              <a:rPr lang="en-US" sz="1312" b="1">
                <a:solidFill>
                  <a:srgbClr val="000000"/>
                </a:solidFill>
                <a:latin typeface="Arimo Bold"/>
                <a:ea typeface="Arimo Bold"/>
                <a:cs typeface="Arimo Bold"/>
                <a:sym typeface="Arimo Bold"/>
              </a:rPr>
              <a:t>Configurable intelligence</a:t>
            </a:r>
            <a:r>
              <a:rPr lang="en-US" sz="1312">
                <a:solidFill>
                  <a:srgbClr val="000000"/>
                </a:solidFill>
                <a:latin typeface="Arimo"/>
                <a:ea typeface="Arimo"/>
                <a:cs typeface="Arimo"/>
                <a:sym typeface="Arimo"/>
              </a:rPr>
              <a:t> — attendance rules and thresholds tailored per institution</a:t>
            </a:r>
          </a:p>
          <a:p>
            <a:pPr marL="197941" lvl="1" indent="-98971" algn="l">
              <a:lnSpc>
                <a:spcPts val="1812"/>
              </a:lnSpc>
              <a:buFont typeface="Arial"/>
              <a:buChar char="•"/>
            </a:pPr>
            <a:r>
              <a:rPr lang="en-US" sz="1312" b="1">
                <a:solidFill>
                  <a:srgbClr val="000000"/>
                </a:solidFill>
                <a:latin typeface="Arimo Bold"/>
                <a:ea typeface="Arimo Bold"/>
                <a:cs typeface="Arimo Bold"/>
                <a:sym typeface="Arimo Bold"/>
              </a:rPr>
              <a:t>Cloud-native readiness</a:t>
            </a:r>
            <a:r>
              <a:rPr lang="en-US" sz="1312">
                <a:solidFill>
                  <a:srgbClr val="000000"/>
                </a:solidFill>
                <a:latin typeface="Arimo"/>
                <a:ea typeface="Arimo"/>
                <a:cs typeface="Arimo"/>
                <a:sym typeface="Arimo"/>
              </a:rPr>
              <a:t> — infrastructure prepared for enterprise-grade cloud hosting</a:t>
            </a:r>
          </a:p>
        </p:txBody>
      </p:sp>
      <p:grpSp>
        <p:nvGrpSpPr>
          <p:cNvPr id="59" name="Group 59"/>
          <p:cNvGrpSpPr/>
          <p:nvPr/>
        </p:nvGrpSpPr>
        <p:grpSpPr>
          <a:xfrm>
            <a:off x="10226364" y="7230885"/>
            <a:ext cx="7136225" cy="2520829"/>
            <a:chOff x="0" y="0"/>
            <a:chExt cx="9514967" cy="3361106"/>
          </a:xfrm>
        </p:grpSpPr>
        <p:sp>
          <p:nvSpPr>
            <p:cNvPr id="60" name="Freeform 60"/>
            <p:cNvSpPr/>
            <p:nvPr/>
          </p:nvSpPr>
          <p:spPr>
            <a:xfrm>
              <a:off x="-1524" y="-1651"/>
              <a:ext cx="9518015" cy="3364357"/>
            </a:xfrm>
            <a:custGeom>
              <a:avLst/>
              <a:gdLst/>
              <a:ahLst/>
              <a:cxnLst/>
              <a:rect l="l" t="t" r="r" b="b"/>
              <a:pathLst>
                <a:path w="9518015" h="3364357">
                  <a:moveTo>
                    <a:pt x="0" y="360680"/>
                  </a:moveTo>
                  <a:cubicBezTo>
                    <a:pt x="0" y="161544"/>
                    <a:pt x="161417" y="127"/>
                    <a:pt x="360553" y="0"/>
                  </a:cubicBezTo>
                  <a:lnTo>
                    <a:pt x="9157462" y="0"/>
                  </a:lnTo>
                  <a:lnTo>
                    <a:pt x="9157462" y="1651"/>
                  </a:lnTo>
                  <a:lnTo>
                    <a:pt x="9157462" y="127"/>
                  </a:lnTo>
                  <a:cubicBezTo>
                    <a:pt x="9356598" y="127"/>
                    <a:pt x="9518015" y="161544"/>
                    <a:pt x="9518015" y="360680"/>
                  </a:cubicBezTo>
                  <a:lnTo>
                    <a:pt x="9516491" y="360680"/>
                  </a:lnTo>
                  <a:lnTo>
                    <a:pt x="9518015" y="360680"/>
                  </a:lnTo>
                  <a:lnTo>
                    <a:pt x="9518015" y="3003804"/>
                  </a:lnTo>
                  <a:lnTo>
                    <a:pt x="9516491" y="3003804"/>
                  </a:lnTo>
                  <a:lnTo>
                    <a:pt x="9518015" y="3003804"/>
                  </a:lnTo>
                  <a:cubicBezTo>
                    <a:pt x="9518015" y="3202940"/>
                    <a:pt x="9356598" y="3364357"/>
                    <a:pt x="9157462" y="3364357"/>
                  </a:cubicBezTo>
                  <a:lnTo>
                    <a:pt x="9157462" y="3362833"/>
                  </a:lnTo>
                  <a:lnTo>
                    <a:pt x="9157462" y="3364357"/>
                  </a:lnTo>
                  <a:lnTo>
                    <a:pt x="360553" y="3364357"/>
                  </a:lnTo>
                  <a:lnTo>
                    <a:pt x="360553" y="3362833"/>
                  </a:lnTo>
                  <a:lnTo>
                    <a:pt x="360553" y="3364357"/>
                  </a:lnTo>
                  <a:cubicBezTo>
                    <a:pt x="161417" y="3364357"/>
                    <a:pt x="0" y="3202940"/>
                    <a:pt x="0" y="3003804"/>
                  </a:cubicBezTo>
                  <a:lnTo>
                    <a:pt x="0" y="360680"/>
                  </a:lnTo>
                  <a:lnTo>
                    <a:pt x="1524" y="360680"/>
                  </a:lnTo>
                  <a:lnTo>
                    <a:pt x="0" y="360680"/>
                  </a:lnTo>
                  <a:moveTo>
                    <a:pt x="3175" y="360680"/>
                  </a:moveTo>
                  <a:lnTo>
                    <a:pt x="3175" y="3003804"/>
                  </a:lnTo>
                  <a:lnTo>
                    <a:pt x="1524" y="3003804"/>
                  </a:lnTo>
                  <a:lnTo>
                    <a:pt x="3048" y="3003804"/>
                  </a:lnTo>
                  <a:cubicBezTo>
                    <a:pt x="3048" y="3201162"/>
                    <a:pt x="163068" y="3361182"/>
                    <a:pt x="360426" y="3361182"/>
                  </a:cubicBezTo>
                  <a:lnTo>
                    <a:pt x="9157462" y="3361182"/>
                  </a:lnTo>
                  <a:cubicBezTo>
                    <a:pt x="9354820" y="3361182"/>
                    <a:pt x="9514840" y="3201162"/>
                    <a:pt x="9514840" y="3003804"/>
                  </a:cubicBezTo>
                  <a:lnTo>
                    <a:pt x="9514840" y="360680"/>
                  </a:lnTo>
                  <a:cubicBezTo>
                    <a:pt x="9514840" y="163322"/>
                    <a:pt x="9354820" y="3302"/>
                    <a:pt x="9157462" y="3302"/>
                  </a:cubicBezTo>
                  <a:lnTo>
                    <a:pt x="360553" y="3302"/>
                  </a:lnTo>
                  <a:lnTo>
                    <a:pt x="360553" y="1651"/>
                  </a:lnTo>
                  <a:lnTo>
                    <a:pt x="360553" y="3175"/>
                  </a:lnTo>
                  <a:cubicBezTo>
                    <a:pt x="163068" y="3175"/>
                    <a:pt x="3048" y="163195"/>
                    <a:pt x="3048" y="360680"/>
                  </a:cubicBezTo>
                  <a:close/>
                </a:path>
              </a:pathLst>
            </a:custGeom>
            <a:solidFill>
              <a:srgbClr val="ED7D31"/>
            </a:solid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0ED"/>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2724598" y="624897"/>
            <a:ext cx="1946186" cy="304200"/>
            <a:chOff x="0" y="0"/>
            <a:chExt cx="2594915" cy="405600"/>
          </a:xfrm>
        </p:grpSpPr>
        <p:sp>
          <p:nvSpPr>
            <p:cNvPr id="7" name="Freeform 7"/>
            <p:cNvSpPr/>
            <p:nvPr/>
          </p:nvSpPr>
          <p:spPr>
            <a:xfrm>
              <a:off x="-1524" y="-1651"/>
              <a:ext cx="2597912" cy="408813"/>
            </a:xfrm>
            <a:custGeom>
              <a:avLst/>
              <a:gdLst/>
              <a:ahLst/>
              <a:cxnLst/>
              <a:rect l="l" t="t" r="r" b="b"/>
              <a:pathLst>
                <a:path w="2597912" h="408813">
                  <a:moveTo>
                    <a:pt x="0" y="177673"/>
                  </a:moveTo>
                  <a:cubicBezTo>
                    <a:pt x="0" y="79629"/>
                    <a:pt x="79502" y="127"/>
                    <a:pt x="177546" y="0"/>
                  </a:cubicBezTo>
                  <a:lnTo>
                    <a:pt x="2420366" y="0"/>
                  </a:lnTo>
                  <a:lnTo>
                    <a:pt x="2420366" y="1651"/>
                  </a:lnTo>
                  <a:lnTo>
                    <a:pt x="2420366" y="127"/>
                  </a:lnTo>
                  <a:cubicBezTo>
                    <a:pt x="2518410" y="127"/>
                    <a:pt x="2597912" y="79629"/>
                    <a:pt x="2597912" y="177673"/>
                  </a:cubicBezTo>
                  <a:lnTo>
                    <a:pt x="2596388" y="177673"/>
                  </a:lnTo>
                  <a:lnTo>
                    <a:pt x="2597912" y="177673"/>
                  </a:lnTo>
                  <a:lnTo>
                    <a:pt x="2597912" y="231267"/>
                  </a:lnTo>
                  <a:lnTo>
                    <a:pt x="2596388" y="231267"/>
                  </a:lnTo>
                  <a:lnTo>
                    <a:pt x="2597912" y="231267"/>
                  </a:lnTo>
                  <a:cubicBezTo>
                    <a:pt x="2597912" y="329311"/>
                    <a:pt x="2518410" y="408813"/>
                    <a:pt x="2420366" y="408813"/>
                  </a:cubicBezTo>
                  <a:lnTo>
                    <a:pt x="2420366" y="407289"/>
                  </a:lnTo>
                  <a:lnTo>
                    <a:pt x="2420366" y="408813"/>
                  </a:lnTo>
                  <a:lnTo>
                    <a:pt x="177546" y="408813"/>
                  </a:lnTo>
                  <a:lnTo>
                    <a:pt x="177546" y="407289"/>
                  </a:lnTo>
                  <a:lnTo>
                    <a:pt x="177546" y="408813"/>
                  </a:lnTo>
                  <a:cubicBezTo>
                    <a:pt x="79502" y="408813"/>
                    <a:pt x="0" y="329311"/>
                    <a:pt x="0" y="231267"/>
                  </a:cubicBezTo>
                  <a:lnTo>
                    <a:pt x="0" y="177673"/>
                  </a:lnTo>
                  <a:lnTo>
                    <a:pt x="1524" y="177673"/>
                  </a:lnTo>
                  <a:lnTo>
                    <a:pt x="0" y="177673"/>
                  </a:lnTo>
                  <a:moveTo>
                    <a:pt x="3175" y="177673"/>
                  </a:moveTo>
                  <a:lnTo>
                    <a:pt x="3175" y="231267"/>
                  </a:lnTo>
                  <a:lnTo>
                    <a:pt x="1524" y="231267"/>
                  </a:lnTo>
                  <a:lnTo>
                    <a:pt x="3048" y="231267"/>
                  </a:lnTo>
                  <a:cubicBezTo>
                    <a:pt x="3048" y="327660"/>
                    <a:pt x="81153" y="405638"/>
                    <a:pt x="177419" y="405638"/>
                  </a:cubicBezTo>
                  <a:lnTo>
                    <a:pt x="2420239" y="405638"/>
                  </a:lnTo>
                  <a:cubicBezTo>
                    <a:pt x="2516632" y="405638"/>
                    <a:pt x="2594610" y="327533"/>
                    <a:pt x="2594610" y="231267"/>
                  </a:cubicBezTo>
                  <a:lnTo>
                    <a:pt x="2594610" y="177673"/>
                  </a:lnTo>
                  <a:cubicBezTo>
                    <a:pt x="2594610" y="81280"/>
                    <a:pt x="2516505" y="3302"/>
                    <a:pt x="2420239" y="3302"/>
                  </a:cubicBezTo>
                  <a:lnTo>
                    <a:pt x="177546" y="3302"/>
                  </a:lnTo>
                  <a:lnTo>
                    <a:pt x="177546" y="1651"/>
                  </a:lnTo>
                  <a:lnTo>
                    <a:pt x="177546" y="3175"/>
                  </a:lnTo>
                  <a:cubicBezTo>
                    <a:pt x="81153" y="3175"/>
                    <a:pt x="3048" y="81280"/>
                    <a:pt x="3048" y="177673"/>
                  </a:cubicBezTo>
                  <a:close/>
                </a:path>
              </a:pathLst>
            </a:custGeom>
            <a:solidFill>
              <a:srgbClr val="ED7D31"/>
            </a:solidFill>
          </p:spPr>
        </p:sp>
      </p:grpSp>
      <p:sp>
        <p:nvSpPr>
          <p:cNvPr id="8" name="TextBox 8"/>
          <p:cNvSpPr txBox="1"/>
          <p:nvPr/>
        </p:nvSpPr>
        <p:spPr>
          <a:xfrm>
            <a:off x="2822229" y="730919"/>
            <a:ext cx="1849660" cy="168892"/>
          </a:xfrm>
          <a:prstGeom prst="rect">
            <a:avLst/>
          </a:prstGeom>
        </p:spPr>
        <p:txBody>
          <a:bodyPr wrap="square" lIns="0" tIns="0" rIns="0" bIns="0" rtlCol="0" anchor="t">
            <a:spAutoFit/>
          </a:bodyPr>
          <a:lstStyle/>
          <a:p>
            <a:pPr algn="l">
              <a:lnSpc>
                <a:spcPts val="1312"/>
              </a:lnSpc>
            </a:pPr>
            <a:r>
              <a:rPr lang="en-US" sz="1312" b="1" spc="5" dirty="0">
                <a:solidFill>
                  <a:srgbClr val="C55A11"/>
                </a:solidFill>
                <a:latin typeface="Merriweather Sans Bold"/>
                <a:ea typeface="Merriweather Sans Bold"/>
                <a:cs typeface="Merriweather Sans Bold"/>
                <a:sym typeface="Merriweather Sans Bold"/>
              </a:rPr>
              <a:t>SUMMARY &amp; CLOSING</a:t>
            </a:r>
          </a:p>
        </p:txBody>
      </p:sp>
      <p:sp>
        <p:nvSpPr>
          <p:cNvPr id="9" name="TextBox 9"/>
          <p:cNvSpPr txBox="1"/>
          <p:nvPr/>
        </p:nvSpPr>
        <p:spPr>
          <a:xfrm>
            <a:off x="2712815" y="1063333"/>
            <a:ext cx="10410530" cy="546792"/>
          </a:xfrm>
          <a:prstGeom prst="rect">
            <a:avLst/>
          </a:prstGeom>
        </p:spPr>
        <p:txBody>
          <a:bodyPr lIns="0" tIns="0" rIns="0" bIns="0" rtlCol="0" anchor="t">
            <a:spAutoFit/>
          </a:bodyPr>
          <a:lstStyle/>
          <a:p>
            <a:pPr algn="l">
              <a:lnSpc>
                <a:spcPts val="4000"/>
              </a:lnSpc>
            </a:pPr>
            <a:r>
              <a:rPr lang="en-US" sz="3000">
                <a:solidFill>
                  <a:srgbClr val="000000"/>
                </a:solidFill>
                <a:latin typeface="Inter"/>
                <a:ea typeface="Inter"/>
                <a:cs typeface="Inter"/>
                <a:sym typeface="Inter"/>
              </a:rPr>
              <a:t>BIOSYNC — An Institution-Ready Automation Platform</a:t>
            </a:r>
          </a:p>
        </p:txBody>
      </p:sp>
      <p:sp>
        <p:nvSpPr>
          <p:cNvPr id="10" name="TextBox 10"/>
          <p:cNvSpPr txBox="1"/>
          <p:nvPr/>
        </p:nvSpPr>
        <p:spPr>
          <a:xfrm>
            <a:off x="2724598" y="1682772"/>
            <a:ext cx="12838805" cy="675532"/>
          </a:xfrm>
          <a:prstGeom prst="rect">
            <a:avLst/>
          </a:prstGeom>
        </p:spPr>
        <p:txBody>
          <a:bodyPr lIns="0" tIns="0" rIns="0" bIns="0" rtlCol="0" anchor="t">
            <a:spAutoFit/>
          </a:bodyPr>
          <a:lstStyle/>
          <a:p>
            <a:pPr algn="just">
              <a:lnSpc>
                <a:spcPts val="2100"/>
              </a:lnSpc>
            </a:pPr>
            <a:r>
              <a:rPr lang="en-US" sz="1750">
                <a:solidFill>
                  <a:srgbClr val="000000"/>
                </a:solidFill>
                <a:latin typeface="Arimo"/>
                <a:ea typeface="Arimo"/>
                <a:cs typeface="Arimo"/>
                <a:sym typeface="Arimo"/>
              </a:rPr>
              <a:t>BIOSYNC is not merely an attendance project. It is a smart institutional automation platform that combines biometric attendance integration, data preprocessing, attendance intelligence, advanced reporting, historical analysis, communication automation, dashboard-based stakeholder access, backup reliability, and scalable architecture.</a:t>
            </a:r>
          </a:p>
        </p:txBody>
      </p:sp>
      <p:grpSp>
        <p:nvGrpSpPr>
          <p:cNvPr id="11" name="Group 11"/>
          <p:cNvGrpSpPr/>
          <p:nvPr/>
        </p:nvGrpSpPr>
        <p:grpSpPr>
          <a:xfrm>
            <a:off x="2719835" y="2791797"/>
            <a:ext cx="6375502" cy="1698422"/>
            <a:chOff x="0" y="0"/>
            <a:chExt cx="8500669" cy="2264562"/>
          </a:xfrm>
        </p:grpSpPr>
        <p:sp>
          <p:nvSpPr>
            <p:cNvPr id="12" name="Freeform 12"/>
            <p:cNvSpPr/>
            <p:nvPr/>
          </p:nvSpPr>
          <p:spPr>
            <a:xfrm>
              <a:off x="6350" y="6350"/>
              <a:ext cx="8488045" cy="2251837"/>
            </a:xfrm>
            <a:custGeom>
              <a:avLst/>
              <a:gdLst/>
              <a:ahLst/>
              <a:cxnLst/>
              <a:rect l="l" t="t" r="r" b="b"/>
              <a:pathLst>
                <a:path w="8488045" h="2251837">
                  <a:moveTo>
                    <a:pt x="0" y="195326"/>
                  </a:moveTo>
                  <a:cubicBezTo>
                    <a:pt x="0" y="87503"/>
                    <a:pt x="87884" y="0"/>
                    <a:pt x="196215" y="0"/>
                  </a:cubicBezTo>
                  <a:lnTo>
                    <a:pt x="8291830" y="0"/>
                  </a:lnTo>
                  <a:cubicBezTo>
                    <a:pt x="8400162" y="0"/>
                    <a:pt x="8488045" y="87503"/>
                    <a:pt x="8488045" y="195326"/>
                  </a:cubicBezTo>
                  <a:lnTo>
                    <a:pt x="8488045" y="2056511"/>
                  </a:lnTo>
                  <a:cubicBezTo>
                    <a:pt x="8488045" y="2164461"/>
                    <a:pt x="8400162" y="2251837"/>
                    <a:pt x="8291830" y="2251837"/>
                  </a:cubicBezTo>
                  <a:lnTo>
                    <a:pt x="196215" y="2251837"/>
                  </a:lnTo>
                  <a:cubicBezTo>
                    <a:pt x="87884" y="2251837"/>
                    <a:pt x="0" y="2164334"/>
                    <a:pt x="0" y="2056511"/>
                  </a:cubicBezTo>
                  <a:close/>
                </a:path>
              </a:pathLst>
            </a:custGeom>
            <a:solidFill>
              <a:srgbClr val="FFFFFF"/>
            </a:solidFill>
          </p:spPr>
        </p:sp>
        <p:sp>
          <p:nvSpPr>
            <p:cNvPr id="13" name="Freeform 13"/>
            <p:cNvSpPr/>
            <p:nvPr/>
          </p:nvSpPr>
          <p:spPr>
            <a:xfrm>
              <a:off x="0" y="0"/>
              <a:ext cx="8500745" cy="2264537"/>
            </a:xfrm>
            <a:custGeom>
              <a:avLst/>
              <a:gdLst/>
              <a:ahLst/>
              <a:cxnLst/>
              <a:rect l="l" t="t" r="r" b="b"/>
              <a:pathLst>
                <a:path w="8500745" h="2264537">
                  <a:moveTo>
                    <a:pt x="0" y="201676"/>
                  </a:moveTo>
                  <a:cubicBezTo>
                    <a:pt x="0" y="90297"/>
                    <a:pt x="90678" y="0"/>
                    <a:pt x="202565" y="0"/>
                  </a:cubicBezTo>
                  <a:lnTo>
                    <a:pt x="8298180" y="0"/>
                  </a:lnTo>
                  <a:lnTo>
                    <a:pt x="8298180" y="6350"/>
                  </a:lnTo>
                  <a:lnTo>
                    <a:pt x="8298180" y="0"/>
                  </a:lnTo>
                  <a:cubicBezTo>
                    <a:pt x="8410067" y="0"/>
                    <a:pt x="8500745" y="90297"/>
                    <a:pt x="8500745" y="201676"/>
                  </a:cubicBezTo>
                  <a:lnTo>
                    <a:pt x="8494395" y="201676"/>
                  </a:lnTo>
                  <a:lnTo>
                    <a:pt x="8500745" y="201676"/>
                  </a:lnTo>
                  <a:lnTo>
                    <a:pt x="8500745" y="2062861"/>
                  </a:lnTo>
                  <a:lnTo>
                    <a:pt x="8494395" y="2062861"/>
                  </a:lnTo>
                  <a:lnTo>
                    <a:pt x="8500745" y="2062861"/>
                  </a:lnTo>
                  <a:cubicBezTo>
                    <a:pt x="8500745" y="2174240"/>
                    <a:pt x="8410067" y="2264537"/>
                    <a:pt x="8298180" y="2264537"/>
                  </a:cubicBezTo>
                  <a:lnTo>
                    <a:pt x="8298180" y="2258187"/>
                  </a:lnTo>
                  <a:lnTo>
                    <a:pt x="8298180" y="2264537"/>
                  </a:lnTo>
                  <a:lnTo>
                    <a:pt x="202565" y="2264537"/>
                  </a:lnTo>
                  <a:lnTo>
                    <a:pt x="202565" y="2258187"/>
                  </a:lnTo>
                  <a:lnTo>
                    <a:pt x="202565" y="2264537"/>
                  </a:lnTo>
                  <a:cubicBezTo>
                    <a:pt x="90678" y="2264537"/>
                    <a:pt x="0" y="2174240"/>
                    <a:pt x="0" y="2062861"/>
                  </a:cubicBezTo>
                  <a:lnTo>
                    <a:pt x="0" y="201676"/>
                  </a:lnTo>
                  <a:lnTo>
                    <a:pt x="6350" y="201676"/>
                  </a:lnTo>
                  <a:lnTo>
                    <a:pt x="0" y="201676"/>
                  </a:lnTo>
                  <a:moveTo>
                    <a:pt x="12700" y="201676"/>
                  </a:moveTo>
                  <a:lnTo>
                    <a:pt x="12700" y="2062861"/>
                  </a:lnTo>
                  <a:lnTo>
                    <a:pt x="6350" y="2062861"/>
                  </a:lnTo>
                  <a:lnTo>
                    <a:pt x="12700" y="2062861"/>
                  </a:lnTo>
                  <a:cubicBezTo>
                    <a:pt x="12700" y="2167255"/>
                    <a:pt x="97663" y="2251837"/>
                    <a:pt x="202565" y="2251837"/>
                  </a:cubicBezTo>
                  <a:lnTo>
                    <a:pt x="8298180" y="2251837"/>
                  </a:lnTo>
                  <a:cubicBezTo>
                    <a:pt x="8403082" y="2251837"/>
                    <a:pt x="8488045" y="2167128"/>
                    <a:pt x="8488045" y="2062861"/>
                  </a:cubicBezTo>
                  <a:lnTo>
                    <a:pt x="8488045" y="201676"/>
                  </a:lnTo>
                  <a:cubicBezTo>
                    <a:pt x="8487918" y="97409"/>
                    <a:pt x="8402955" y="12700"/>
                    <a:pt x="8298180" y="12700"/>
                  </a:cubicBezTo>
                  <a:lnTo>
                    <a:pt x="202565" y="12700"/>
                  </a:lnTo>
                  <a:lnTo>
                    <a:pt x="202565" y="6350"/>
                  </a:lnTo>
                  <a:lnTo>
                    <a:pt x="202565" y="12700"/>
                  </a:lnTo>
                  <a:cubicBezTo>
                    <a:pt x="97663" y="12700"/>
                    <a:pt x="12700" y="97409"/>
                    <a:pt x="12700" y="201676"/>
                  </a:cubicBezTo>
                  <a:close/>
                </a:path>
              </a:pathLst>
            </a:custGeom>
            <a:solidFill>
              <a:srgbClr val="FF7047"/>
            </a:solidFill>
          </p:spPr>
        </p:sp>
      </p:grpSp>
      <p:grpSp>
        <p:nvGrpSpPr>
          <p:cNvPr id="14" name="Group 14"/>
          <p:cNvGrpSpPr/>
          <p:nvPr/>
        </p:nvGrpSpPr>
        <p:grpSpPr>
          <a:xfrm>
            <a:off x="2896791" y="2968752"/>
            <a:ext cx="488309" cy="488309"/>
            <a:chOff x="0" y="0"/>
            <a:chExt cx="651078" cy="651078"/>
          </a:xfrm>
        </p:grpSpPr>
        <p:sp>
          <p:nvSpPr>
            <p:cNvPr id="15" name="Freeform 15"/>
            <p:cNvSpPr/>
            <p:nvPr/>
          </p:nvSpPr>
          <p:spPr>
            <a:xfrm>
              <a:off x="0" y="0"/>
              <a:ext cx="651129" cy="651129"/>
            </a:xfrm>
            <a:custGeom>
              <a:avLst/>
              <a:gdLst/>
              <a:ahLst/>
              <a:cxnLst/>
              <a:rect l="l" t="t" r="r" b="b"/>
              <a:pathLst>
                <a:path w="651129" h="651129">
                  <a:moveTo>
                    <a:pt x="0" y="325501"/>
                  </a:moveTo>
                  <a:cubicBezTo>
                    <a:pt x="0" y="145796"/>
                    <a:pt x="145796" y="0"/>
                    <a:pt x="325501" y="0"/>
                  </a:cubicBezTo>
                  <a:cubicBezTo>
                    <a:pt x="505206" y="0"/>
                    <a:pt x="651129" y="145796"/>
                    <a:pt x="651129" y="325501"/>
                  </a:cubicBezTo>
                  <a:cubicBezTo>
                    <a:pt x="651129" y="505206"/>
                    <a:pt x="505333" y="651129"/>
                    <a:pt x="325501" y="651129"/>
                  </a:cubicBezTo>
                  <a:cubicBezTo>
                    <a:pt x="145669" y="651129"/>
                    <a:pt x="0" y="505333"/>
                    <a:pt x="0" y="325501"/>
                  </a:cubicBezTo>
                  <a:close/>
                </a:path>
              </a:pathLst>
            </a:custGeom>
            <a:solidFill>
              <a:srgbClr val="FF7047"/>
            </a:solidFill>
          </p:spPr>
        </p:sp>
      </p:grpSp>
      <p:sp>
        <p:nvSpPr>
          <p:cNvPr id="16" name="TextBox 16"/>
          <p:cNvSpPr txBox="1"/>
          <p:nvPr/>
        </p:nvSpPr>
        <p:spPr>
          <a:xfrm>
            <a:off x="2896791" y="3535043"/>
            <a:ext cx="2547547" cy="256480"/>
          </a:xfrm>
          <a:prstGeom prst="rect">
            <a:avLst/>
          </a:prstGeom>
        </p:spPr>
        <p:txBody>
          <a:bodyPr wrap="square" lIns="0" tIns="0" rIns="0" bIns="0" rtlCol="0" anchor="t">
            <a:spAutoFit/>
          </a:bodyPr>
          <a:lstStyle/>
          <a:p>
            <a:pPr algn="l">
              <a:lnSpc>
                <a:spcPts val="2000"/>
              </a:lnSpc>
            </a:pPr>
            <a:r>
              <a:rPr lang="en-US" sz="1750" dirty="0">
                <a:solidFill>
                  <a:srgbClr val="000000"/>
                </a:solidFill>
                <a:latin typeface="Inter"/>
                <a:ea typeface="Inter"/>
                <a:cs typeface="Inter"/>
                <a:sym typeface="Inter"/>
              </a:rPr>
              <a:t>Biometric Integration</a:t>
            </a:r>
          </a:p>
        </p:txBody>
      </p:sp>
      <p:sp>
        <p:nvSpPr>
          <p:cNvPr id="17" name="TextBox 17"/>
          <p:cNvSpPr txBox="1"/>
          <p:nvPr/>
        </p:nvSpPr>
        <p:spPr>
          <a:xfrm>
            <a:off x="2896791" y="3853386"/>
            <a:ext cx="6021591" cy="459877"/>
          </a:xfrm>
          <a:prstGeom prst="rect">
            <a:avLst/>
          </a:prstGeom>
        </p:spPr>
        <p:txBody>
          <a:bodyPr lIns="0" tIns="0" rIns="0" bIns="0" rtlCol="0" anchor="t">
            <a:spAutoFit/>
          </a:bodyPr>
          <a:lstStyle/>
          <a:p>
            <a:pPr algn="l">
              <a:lnSpc>
                <a:spcPts val="1687"/>
              </a:lnSpc>
            </a:pPr>
            <a:r>
              <a:rPr lang="en-US" sz="1312">
                <a:solidFill>
                  <a:srgbClr val="000000"/>
                </a:solidFill>
                <a:latin typeface="Arimo"/>
                <a:ea typeface="Arimo"/>
                <a:cs typeface="Arimo"/>
                <a:sym typeface="Arimo"/>
              </a:rPr>
              <a:t>Direct integration with biometric devices for automated, tamper-proof attendance capture.</a:t>
            </a:r>
          </a:p>
        </p:txBody>
      </p:sp>
      <p:grpSp>
        <p:nvGrpSpPr>
          <p:cNvPr id="18" name="Group 18"/>
          <p:cNvGrpSpPr/>
          <p:nvPr/>
        </p:nvGrpSpPr>
        <p:grpSpPr>
          <a:xfrm>
            <a:off x="9192520" y="2791797"/>
            <a:ext cx="6375644" cy="1698422"/>
            <a:chOff x="0" y="0"/>
            <a:chExt cx="8500859" cy="2264562"/>
          </a:xfrm>
        </p:grpSpPr>
        <p:sp>
          <p:nvSpPr>
            <p:cNvPr id="19" name="Freeform 19"/>
            <p:cNvSpPr/>
            <p:nvPr/>
          </p:nvSpPr>
          <p:spPr>
            <a:xfrm>
              <a:off x="6350" y="6350"/>
              <a:ext cx="8488172" cy="2251837"/>
            </a:xfrm>
            <a:custGeom>
              <a:avLst/>
              <a:gdLst/>
              <a:ahLst/>
              <a:cxnLst/>
              <a:rect l="l" t="t" r="r" b="b"/>
              <a:pathLst>
                <a:path w="8488172" h="2251837">
                  <a:moveTo>
                    <a:pt x="0" y="195326"/>
                  </a:moveTo>
                  <a:cubicBezTo>
                    <a:pt x="0" y="87503"/>
                    <a:pt x="87884" y="0"/>
                    <a:pt x="196215" y="0"/>
                  </a:cubicBezTo>
                  <a:lnTo>
                    <a:pt x="8291957" y="0"/>
                  </a:lnTo>
                  <a:cubicBezTo>
                    <a:pt x="8400288" y="0"/>
                    <a:pt x="8488172" y="87503"/>
                    <a:pt x="8488172" y="195326"/>
                  </a:cubicBezTo>
                  <a:lnTo>
                    <a:pt x="8488172" y="2056511"/>
                  </a:lnTo>
                  <a:cubicBezTo>
                    <a:pt x="8488172" y="2164461"/>
                    <a:pt x="8400288" y="2251837"/>
                    <a:pt x="8291957" y="2251837"/>
                  </a:cubicBezTo>
                  <a:lnTo>
                    <a:pt x="196215" y="2251837"/>
                  </a:lnTo>
                  <a:cubicBezTo>
                    <a:pt x="87884" y="2251837"/>
                    <a:pt x="0" y="2164334"/>
                    <a:pt x="0" y="2056511"/>
                  </a:cubicBezTo>
                  <a:close/>
                </a:path>
              </a:pathLst>
            </a:custGeom>
            <a:solidFill>
              <a:srgbClr val="FFFFFF"/>
            </a:solidFill>
          </p:spPr>
        </p:sp>
        <p:sp>
          <p:nvSpPr>
            <p:cNvPr id="20" name="Freeform 20"/>
            <p:cNvSpPr/>
            <p:nvPr/>
          </p:nvSpPr>
          <p:spPr>
            <a:xfrm>
              <a:off x="0" y="0"/>
              <a:ext cx="8500872" cy="2264537"/>
            </a:xfrm>
            <a:custGeom>
              <a:avLst/>
              <a:gdLst/>
              <a:ahLst/>
              <a:cxnLst/>
              <a:rect l="l" t="t" r="r" b="b"/>
              <a:pathLst>
                <a:path w="8500872" h="2264537">
                  <a:moveTo>
                    <a:pt x="0" y="201676"/>
                  </a:moveTo>
                  <a:cubicBezTo>
                    <a:pt x="0" y="90297"/>
                    <a:pt x="90678" y="0"/>
                    <a:pt x="202565" y="0"/>
                  </a:cubicBezTo>
                  <a:lnTo>
                    <a:pt x="8298307" y="0"/>
                  </a:lnTo>
                  <a:lnTo>
                    <a:pt x="8298307" y="6350"/>
                  </a:lnTo>
                  <a:lnTo>
                    <a:pt x="8298307" y="0"/>
                  </a:lnTo>
                  <a:cubicBezTo>
                    <a:pt x="8410194" y="0"/>
                    <a:pt x="8500872" y="90297"/>
                    <a:pt x="8500872" y="201676"/>
                  </a:cubicBezTo>
                  <a:lnTo>
                    <a:pt x="8494522" y="201676"/>
                  </a:lnTo>
                  <a:lnTo>
                    <a:pt x="8500872" y="201676"/>
                  </a:lnTo>
                  <a:lnTo>
                    <a:pt x="8500872" y="2062861"/>
                  </a:lnTo>
                  <a:lnTo>
                    <a:pt x="8494522" y="2062861"/>
                  </a:lnTo>
                  <a:lnTo>
                    <a:pt x="8500872" y="2062861"/>
                  </a:lnTo>
                  <a:cubicBezTo>
                    <a:pt x="8500872" y="2174240"/>
                    <a:pt x="8410194" y="2264537"/>
                    <a:pt x="8298307" y="2264537"/>
                  </a:cubicBezTo>
                  <a:lnTo>
                    <a:pt x="8298307" y="2258187"/>
                  </a:lnTo>
                  <a:lnTo>
                    <a:pt x="8298307" y="2264537"/>
                  </a:lnTo>
                  <a:lnTo>
                    <a:pt x="202565" y="2264537"/>
                  </a:lnTo>
                  <a:lnTo>
                    <a:pt x="202565" y="2258187"/>
                  </a:lnTo>
                  <a:lnTo>
                    <a:pt x="202565" y="2264537"/>
                  </a:lnTo>
                  <a:cubicBezTo>
                    <a:pt x="90678" y="2264537"/>
                    <a:pt x="0" y="2174240"/>
                    <a:pt x="0" y="2062861"/>
                  </a:cubicBezTo>
                  <a:lnTo>
                    <a:pt x="0" y="201676"/>
                  </a:lnTo>
                  <a:lnTo>
                    <a:pt x="6350" y="201676"/>
                  </a:lnTo>
                  <a:lnTo>
                    <a:pt x="0" y="201676"/>
                  </a:lnTo>
                  <a:moveTo>
                    <a:pt x="12700" y="201676"/>
                  </a:moveTo>
                  <a:lnTo>
                    <a:pt x="12700" y="2062861"/>
                  </a:lnTo>
                  <a:lnTo>
                    <a:pt x="6350" y="2062861"/>
                  </a:lnTo>
                  <a:lnTo>
                    <a:pt x="12700" y="2062861"/>
                  </a:lnTo>
                  <a:cubicBezTo>
                    <a:pt x="12700" y="2167255"/>
                    <a:pt x="97663" y="2251837"/>
                    <a:pt x="202565" y="2251837"/>
                  </a:cubicBezTo>
                  <a:lnTo>
                    <a:pt x="8298307" y="2251837"/>
                  </a:lnTo>
                  <a:cubicBezTo>
                    <a:pt x="8403209" y="2251837"/>
                    <a:pt x="8488172" y="2167128"/>
                    <a:pt x="8488172" y="2062861"/>
                  </a:cubicBezTo>
                  <a:lnTo>
                    <a:pt x="8488172" y="201676"/>
                  </a:lnTo>
                  <a:cubicBezTo>
                    <a:pt x="8488172" y="97409"/>
                    <a:pt x="8403209" y="12700"/>
                    <a:pt x="8298307" y="12700"/>
                  </a:cubicBezTo>
                  <a:lnTo>
                    <a:pt x="202565" y="12700"/>
                  </a:lnTo>
                  <a:lnTo>
                    <a:pt x="202565" y="6350"/>
                  </a:lnTo>
                  <a:lnTo>
                    <a:pt x="202565" y="12700"/>
                  </a:lnTo>
                  <a:cubicBezTo>
                    <a:pt x="97663" y="12700"/>
                    <a:pt x="12700" y="97409"/>
                    <a:pt x="12700" y="201676"/>
                  </a:cubicBezTo>
                  <a:close/>
                </a:path>
              </a:pathLst>
            </a:custGeom>
            <a:solidFill>
              <a:srgbClr val="FF7047"/>
            </a:solidFill>
          </p:spPr>
        </p:sp>
      </p:grpSp>
      <p:grpSp>
        <p:nvGrpSpPr>
          <p:cNvPr id="21" name="Group 21"/>
          <p:cNvGrpSpPr/>
          <p:nvPr/>
        </p:nvGrpSpPr>
        <p:grpSpPr>
          <a:xfrm>
            <a:off x="9369476" y="2968752"/>
            <a:ext cx="488309" cy="488309"/>
            <a:chOff x="0" y="0"/>
            <a:chExt cx="651078" cy="651078"/>
          </a:xfrm>
        </p:grpSpPr>
        <p:sp>
          <p:nvSpPr>
            <p:cNvPr id="22" name="Freeform 22"/>
            <p:cNvSpPr/>
            <p:nvPr/>
          </p:nvSpPr>
          <p:spPr>
            <a:xfrm>
              <a:off x="0" y="0"/>
              <a:ext cx="651129" cy="651129"/>
            </a:xfrm>
            <a:custGeom>
              <a:avLst/>
              <a:gdLst/>
              <a:ahLst/>
              <a:cxnLst/>
              <a:rect l="l" t="t" r="r" b="b"/>
              <a:pathLst>
                <a:path w="651129" h="651129">
                  <a:moveTo>
                    <a:pt x="0" y="325501"/>
                  </a:moveTo>
                  <a:cubicBezTo>
                    <a:pt x="0" y="145796"/>
                    <a:pt x="145796" y="0"/>
                    <a:pt x="325501" y="0"/>
                  </a:cubicBezTo>
                  <a:cubicBezTo>
                    <a:pt x="505206" y="0"/>
                    <a:pt x="651129" y="145796"/>
                    <a:pt x="651129" y="325501"/>
                  </a:cubicBezTo>
                  <a:cubicBezTo>
                    <a:pt x="651129" y="505206"/>
                    <a:pt x="505333" y="651129"/>
                    <a:pt x="325501" y="651129"/>
                  </a:cubicBezTo>
                  <a:cubicBezTo>
                    <a:pt x="145669" y="651129"/>
                    <a:pt x="0" y="505333"/>
                    <a:pt x="0" y="325501"/>
                  </a:cubicBezTo>
                  <a:close/>
                </a:path>
              </a:pathLst>
            </a:custGeom>
            <a:solidFill>
              <a:srgbClr val="FF7047"/>
            </a:solidFill>
          </p:spPr>
        </p:sp>
      </p:grpSp>
      <p:sp>
        <p:nvSpPr>
          <p:cNvPr id="23" name="TextBox 23"/>
          <p:cNvSpPr txBox="1"/>
          <p:nvPr/>
        </p:nvSpPr>
        <p:spPr>
          <a:xfrm>
            <a:off x="9369476" y="3535043"/>
            <a:ext cx="2445753" cy="256480"/>
          </a:xfrm>
          <a:prstGeom prst="rect">
            <a:avLst/>
          </a:prstGeom>
        </p:spPr>
        <p:txBody>
          <a:bodyPr wrap="square" lIns="0" tIns="0" rIns="0" bIns="0" rtlCol="0" anchor="t">
            <a:spAutoFit/>
          </a:bodyPr>
          <a:lstStyle/>
          <a:p>
            <a:pPr algn="l">
              <a:lnSpc>
                <a:spcPts val="2000"/>
              </a:lnSpc>
            </a:pPr>
            <a:r>
              <a:rPr lang="en-US" sz="1750" dirty="0">
                <a:solidFill>
                  <a:srgbClr val="000000"/>
                </a:solidFill>
                <a:latin typeface="Inter"/>
                <a:ea typeface="Inter"/>
                <a:cs typeface="Inter"/>
                <a:sym typeface="Inter"/>
              </a:rPr>
              <a:t>Intelligent Processing</a:t>
            </a:r>
          </a:p>
        </p:txBody>
      </p:sp>
      <p:sp>
        <p:nvSpPr>
          <p:cNvPr id="24" name="TextBox 24"/>
          <p:cNvSpPr txBox="1"/>
          <p:nvPr/>
        </p:nvSpPr>
        <p:spPr>
          <a:xfrm>
            <a:off x="9369476" y="3853386"/>
            <a:ext cx="6021734" cy="459877"/>
          </a:xfrm>
          <a:prstGeom prst="rect">
            <a:avLst/>
          </a:prstGeom>
        </p:spPr>
        <p:txBody>
          <a:bodyPr lIns="0" tIns="0" rIns="0" bIns="0" rtlCol="0" anchor="t">
            <a:spAutoFit/>
          </a:bodyPr>
          <a:lstStyle/>
          <a:p>
            <a:pPr algn="l">
              <a:lnSpc>
                <a:spcPts val="1687"/>
              </a:lnSpc>
            </a:pPr>
            <a:r>
              <a:rPr lang="en-US" sz="1312">
                <a:solidFill>
                  <a:srgbClr val="000000"/>
                </a:solidFill>
                <a:latin typeface="Arimo"/>
                <a:ea typeface="Arimo"/>
                <a:cs typeface="Arimo"/>
                <a:sym typeface="Arimo"/>
              </a:rPr>
              <a:t>Data preprocessing and attendance intelligence transform raw timestamps into meaningful records.</a:t>
            </a:r>
          </a:p>
        </p:txBody>
      </p:sp>
      <p:grpSp>
        <p:nvGrpSpPr>
          <p:cNvPr id="25" name="Group 25"/>
          <p:cNvGrpSpPr/>
          <p:nvPr/>
        </p:nvGrpSpPr>
        <p:grpSpPr>
          <a:xfrm>
            <a:off x="2719835" y="4587411"/>
            <a:ext cx="6375502" cy="1698422"/>
            <a:chOff x="0" y="0"/>
            <a:chExt cx="8500669" cy="2264562"/>
          </a:xfrm>
        </p:grpSpPr>
        <p:sp>
          <p:nvSpPr>
            <p:cNvPr id="26" name="Freeform 26"/>
            <p:cNvSpPr/>
            <p:nvPr/>
          </p:nvSpPr>
          <p:spPr>
            <a:xfrm>
              <a:off x="6350" y="6350"/>
              <a:ext cx="8488045" cy="2251837"/>
            </a:xfrm>
            <a:custGeom>
              <a:avLst/>
              <a:gdLst/>
              <a:ahLst/>
              <a:cxnLst/>
              <a:rect l="l" t="t" r="r" b="b"/>
              <a:pathLst>
                <a:path w="8488045" h="2251837">
                  <a:moveTo>
                    <a:pt x="0" y="195326"/>
                  </a:moveTo>
                  <a:cubicBezTo>
                    <a:pt x="0" y="87503"/>
                    <a:pt x="87884" y="0"/>
                    <a:pt x="196215" y="0"/>
                  </a:cubicBezTo>
                  <a:lnTo>
                    <a:pt x="8291830" y="0"/>
                  </a:lnTo>
                  <a:cubicBezTo>
                    <a:pt x="8400162" y="0"/>
                    <a:pt x="8488045" y="87503"/>
                    <a:pt x="8488045" y="195326"/>
                  </a:cubicBezTo>
                  <a:lnTo>
                    <a:pt x="8488045" y="2056511"/>
                  </a:lnTo>
                  <a:cubicBezTo>
                    <a:pt x="8488045" y="2164461"/>
                    <a:pt x="8400162" y="2251837"/>
                    <a:pt x="8291830" y="2251837"/>
                  </a:cubicBezTo>
                  <a:lnTo>
                    <a:pt x="196215" y="2251837"/>
                  </a:lnTo>
                  <a:cubicBezTo>
                    <a:pt x="87884" y="2251837"/>
                    <a:pt x="0" y="2164334"/>
                    <a:pt x="0" y="2056511"/>
                  </a:cubicBezTo>
                  <a:close/>
                </a:path>
              </a:pathLst>
            </a:custGeom>
            <a:solidFill>
              <a:srgbClr val="FFFFFF"/>
            </a:solidFill>
          </p:spPr>
        </p:sp>
        <p:sp>
          <p:nvSpPr>
            <p:cNvPr id="27" name="Freeform 27"/>
            <p:cNvSpPr/>
            <p:nvPr/>
          </p:nvSpPr>
          <p:spPr>
            <a:xfrm>
              <a:off x="0" y="0"/>
              <a:ext cx="8500745" cy="2264537"/>
            </a:xfrm>
            <a:custGeom>
              <a:avLst/>
              <a:gdLst/>
              <a:ahLst/>
              <a:cxnLst/>
              <a:rect l="l" t="t" r="r" b="b"/>
              <a:pathLst>
                <a:path w="8500745" h="2264537">
                  <a:moveTo>
                    <a:pt x="0" y="201676"/>
                  </a:moveTo>
                  <a:cubicBezTo>
                    <a:pt x="0" y="90297"/>
                    <a:pt x="90678" y="0"/>
                    <a:pt x="202565" y="0"/>
                  </a:cubicBezTo>
                  <a:lnTo>
                    <a:pt x="8298180" y="0"/>
                  </a:lnTo>
                  <a:lnTo>
                    <a:pt x="8298180" y="6350"/>
                  </a:lnTo>
                  <a:lnTo>
                    <a:pt x="8298180" y="0"/>
                  </a:lnTo>
                  <a:cubicBezTo>
                    <a:pt x="8410067" y="0"/>
                    <a:pt x="8500745" y="90297"/>
                    <a:pt x="8500745" y="201676"/>
                  </a:cubicBezTo>
                  <a:lnTo>
                    <a:pt x="8494395" y="201676"/>
                  </a:lnTo>
                  <a:lnTo>
                    <a:pt x="8500745" y="201676"/>
                  </a:lnTo>
                  <a:lnTo>
                    <a:pt x="8500745" y="2062861"/>
                  </a:lnTo>
                  <a:lnTo>
                    <a:pt x="8494395" y="2062861"/>
                  </a:lnTo>
                  <a:lnTo>
                    <a:pt x="8500745" y="2062861"/>
                  </a:lnTo>
                  <a:cubicBezTo>
                    <a:pt x="8500745" y="2174240"/>
                    <a:pt x="8410067" y="2264537"/>
                    <a:pt x="8298180" y="2264537"/>
                  </a:cubicBezTo>
                  <a:lnTo>
                    <a:pt x="8298180" y="2258187"/>
                  </a:lnTo>
                  <a:lnTo>
                    <a:pt x="8298180" y="2264537"/>
                  </a:lnTo>
                  <a:lnTo>
                    <a:pt x="202565" y="2264537"/>
                  </a:lnTo>
                  <a:lnTo>
                    <a:pt x="202565" y="2258187"/>
                  </a:lnTo>
                  <a:lnTo>
                    <a:pt x="202565" y="2264537"/>
                  </a:lnTo>
                  <a:cubicBezTo>
                    <a:pt x="90678" y="2264537"/>
                    <a:pt x="0" y="2174240"/>
                    <a:pt x="0" y="2062861"/>
                  </a:cubicBezTo>
                  <a:lnTo>
                    <a:pt x="0" y="201676"/>
                  </a:lnTo>
                  <a:lnTo>
                    <a:pt x="6350" y="201676"/>
                  </a:lnTo>
                  <a:lnTo>
                    <a:pt x="0" y="201676"/>
                  </a:lnTo>
                  <a:moveTo>
                    <a:pt x="12700" y="201676"/>
                  </a:moveTo>
                  <a:lnTo>
                    <a:pt x="12700" y="2062861"/>
                  </a:lnTo>
                  <a:lnTo>
                    <a:pt x="6350" y="2062861"/>
                  </a:lnTo>
                  <a:lnTo>
                    <a:pt x="12700" y="2062861"/>
                  </a:lnTo>
                  <a:cubicBezTo>
                    <a:pt x="12700" y="2167255"/>
                    <a:pt x="97663" y="2251837"/>
                    <a:pt x="202565" y="2251837"/>
                  </a:cubicBezTo>
                  <a:lnTo>
                    <a:pt x="8298180" y="2251837"/>
                  </a:lnTo>
                  <a:cubicBezTo>
                    <a:pt x="8403082" y="2251837"/>
                    <a:pt x="8488045" y="2167128"/>
                    <a:pt x="8488045" y="2062861"/>
                  </a:cubicBezTo>
                  <a:lnTo>
                    <a:pt x="8488045" y="201676"/>
                  </a:lnTo>
                  <a:cubicBezTo>
                    <a:pt x="8487918" y="97409"/>
                    <a:pt x="8402955" y="12700"/>
                    <a:pt x="8298180" y="12700"/>
                  </a:cubicBezTo>
                  <a:lnTo>
                    <a:pt x="202565" y="12700"/>
                  </a:lnTo>
                  <a:lnTo>
                    <a:pt x="202565" y="6350"/>
                  </a:lnTo>
                  <a:lnTo>
                    <a:pt x="202565" y="12700"/>
                  </a:lnTo>
                  <a:cubicBezTo>
                    <a:pt x="97663" y="12700"/>
                    <a:pt x="12700" y="97409"/>
                    <a:pt x="12700" y="201676"/>
                  </a:cubicBezTo>
                  <a:close/>
                </a:path>
              </a:pathLst>
            </a:custGeom>
            <a:solidFill>
              <a:srgbClr val="FF7047"/>
            </a:solidFill>
          </p:spPr>
        </p:sp>
      </p:grpSp>
      <p:grpSp>
        <p:nvGrpSpPr>
          <p:cNvPr id="28" name="Group 28"/>
          <p:cNvGrpSpPr/>
          <p:nvPr/>
        </p:nvGrpSpPr>
        <p:grpSpPr>
          <a:xfrm>
            <a:off x="2896791" y="4764367"/>
            <a:ext cx="488309" cy="488309"/>
            <a:chOff x="0" y="0"/>
            <a:chExt cx="651078" cy="651078"/>
          </a:xfrm>
        </p:grpSpPr>
        <p:sp>
          <p:nvSpPr>
            <p:cNvPr id="29" name="Freeform 29"/>
            <p:cNvSpPr/>
            <p:nvPr/>
          </p:nvSpPr>
          <p:spPr>
            <a:xfrm>
              <a:off x="0" y="0"/>
              <a:ext cx="651129" cy="651129"/>
            </a:xfrm>
            <a:custGeom>
              <a:avLst/>
              <a:gdLst/>
              <a:ahLst/>
              <a:cxnLst/>
              <a:rect l="l" t="t" r="r" b="b"/>
              <a:pathLst>
                <a:path w="651129" h="651129">
                  <a:moveTo>
                    <a:pt x="0" y="325501"/>
                  </a:moveTo>
                  <a:cubicBezTo>
                    <a:pt x="0" y="145796"/>
                    <a:pt x="145796" y="0"/>
                    <a:pt x="325501" y="0"/>
                  </a:cubicBezTo>
                  <a:cubicBezTo>
                    <a:pt x="505206" y="0"/>
                    <a:pt x="651129" y="145796"/>
                    <a:pt x="651129" y="325501"/>
                  </a:cubicBezTo>
                  <a:cubicBezTo>
                    <a:pt x="651129" y="505206"/>
                    <a:pt x="505333" y="651129"/>
                    <a:pt x="325501" y="651129"/>
                  </a:cubicBezTo>
                  <a:cubicBezTo>
                    <a:pt x="145669" y="651129"/>
                    <a:pt x="0" y="505333"/>
                    <a:pt x="0" y="325501"/>
                  </a:cubicBezTo>
                  <a:close/>
                </a:path>
              </a:pathLst>
            </a:custGeom>
            <a:solidFill>
              <a:srgbClr val="FF7047"/>
            </a:solidFill>
          </p:spPr>
        </p:sp>
      </p:grpSp>
      <p:sp>
        <p:nvSpPr>
          <p:cNvPr id="30" name="TextBox 30"/>
          <p:cNvSpPr txBox="1"/>
          <p:nvPr/>
        </p:nvSpPr>
        <p:spPr>
          <a:xfrm>
            <a:off x="2896791" y="5288128"/>
            <a:ext cx="2465185" cy="256480"/>
          </a:xfrm>
          <a:prstGeom prst="rect">
            <a:avLst/>
          </a:prstGeom>
        </p:spPr>
        <p:txBody>
          <a:bodyPr wrap="square" lIns="0" tIns="0" rIns="0" bIns="0" rtlCol="0" anchor="t">
            <a:spAutoFit/>
          </a:bodyPr>
          <a:lstStyle/>
          <a:p>
            <a:pPr algn="l">
              <a:lnSpc>
                <a:spcPts val="2000"/>
              </a:lnSpc>
            </a:pPr>
            <a:r>
              <a:rPr lang="en-US" sz="1750" dirty="0">
                <a:solidFill>
                  <a:srgbClr val="000000"/>
                </a:solidFill>
                <a:latin typeface="Inter"/>
                <a:ea typeface="Inter"/>
                <a:cs typeface="Inter"/>
                <a:sym typeface="Inter"/>
              </a:rPr>
              <a:t>Advanced Reporting</a:t>
            </a:r>
          </a:p>
        </p:txBody>
      </p:sp>
      <p:sp>
        <p:nvSpPr>
          <p:cNvPr id="31" name="TextBox 31"/>
          <p:cNvSpPr txBox="1"/>
          <p:nvPr/>
        </p:nvSpPr>
        <p:spPr>
          <a:xfrm>
            <a:off x="2896791" y="5649001"/>
            <a:ext cx="6021591" cy="459877"/>
          </a:xfrm>
          <a:prstGeom prst="rect">
            <a:avLst/>
          </a:prstGeom>
        </p:spPr>
        <p:txBody>
          <a:bodyPr lIns="0" tIns="0" rIns="0" bIns="0" rtlCol="0" anchor="t">
            <a:spAutoFit/>
          </a:bodyPr>
          <a:lstStyle/>
          <a:p>
            <a:pPr algn="l">
              <a:lnSpc>
                <a:spcPts val="1687"/>
              </a:lnSpc>
            </a:pPr>
            <a:r>
              <a:rPr lang="en-US" sz="1312">
                <a:solidFill>
                  <a:srgbClr val="000000"/>
                </a:solidFill>
                <a:latin typeface="Arimo"/>
                <a:ea typeface="Arimo"/>
                <a:cs typeface="Arimo"/>
                <a:sym typeface="Arimo"/>
              </a:rPr>
              <a:t>Structured reports with historical context, generated automatically with institutional formatting.</a:t>
            </a:r>
          </a:p>
        </p:txBody>
      </p:sp>
      <p:grpSp>
        <p:nvGrpSpPr>
          <p:cNvPr id="32" name="Group 32"/>
          <p:cNvGrpSpPr/>
          <p:nvPr/>
        </p:nvGrpSpPr>
        <p:grpSpPr>
          <a:xfrm>
            <a:off x="9192520" y="4587411"/>
            <a:ext cx="6375644" cy="1698422"/>
            <a:chOff x="0" y="0"/>
            <a:chExt cx="8500859" cy="2264562"/>
          </a:xfrm>
        </p:grpSpPr>
        <p:sp>
          <p:nvSpPr>
            <p:cNvPr id="33" name="Freeform 33"/>
            <p:cNvSpPr/>
            <p:nvPr/>
          </p:nvSpPr>
          <p:spPr>
            <a:xfrm>
              <a:off x="6350" y="6350"/>
              <a:ext cx="8488172" cy="2251837"/>
            </a:xfrm>
            <a:custGeom>
              <a:avLst/>
              <a:gdLst/>
              <a:ahLst/>
              <a:cxnLst/>
              <a:rect l="l" t="t" r="r" b="b"/>
              <a:pathLst>
                <a:path w="8488172" h="2251837">
                  <a:moveTo>
                    <a:pt x="0" y="195326"/>
                  </a:moveTo>
                  <a:cubicBezTo>
                    <a:pt x="0" y="87503"/>
                    <a:pt x="87884" y="0"/>
                    <a:pt x="196215" y="0"/>
                  </a:cubicBezTo>
                  <a:lnTo>
                    <a:pt x="8291957" y="0"/>
                  </a:lnTo>
                  <a:cubicBezTo>
                    <a:pt x="8400288" y="0"/>
                    <a:pt x="8488172" y="87503"/>
                    <a:pt x="8488172" y="195326"/>
                  </a:cubicBezTo>
                  <a:lnTo>
                    <a:pt x="8488172" y="2056511"/>
                  </a:lnTo>
                  <a:cubicBezTo>
                    <a:pt x="8488172" y="2164461"/>
                    <a:pt x="8400288" y="2251837"/>
                    <a:pt x="8291957" y="2251837"/>
                  </a:cubicBezTo>
                  <a:lnTo>
                    <a:pt x="196215" y="2251837"/>
                  </a:lnTo>
                  <a:cubicBezTo>
                    <a:pt x="87884" y="2251837"/>
                    <a:pt x="0" y="2164334"/>
                    <a:pt x="0" y="2056511"/>
                  </a:cubicBezTo>
                  <a:close/>
                </a:path>
              </a:pathLst>
            </a:custGeom>
            <a:solidFill>
              <a:srgbClr val="FFFFFF"/>
            </a:solidFill>
          </p:spPr>
        </p:sp>
        <p:sp>
          <p:nvSpPr>
            <p:cNvPr id="34" name="Freeform 34"/>
            <p:cNvSpPr/>
            <p:nvPr/>
          </p:nvSpPr>
          <p:spPr>
            <a:xfrm>
              <a:off x="0" y="0"/>
              <a:ext cx="8500872" cy="2264537"/>
            </a:xfrm>
            <a:custGeom>
              <a:avLst/>
              <a:gdLst/>
              <a:ahLst/>
              <a:cxnLst/>
              <a:rect l="l" t="t" r="r" b="b"/>
              <a:pathLst>
                <a:path w="8500872" h="2264537">
                  <a:moveTo>
                    <a:pt x="0" y="201676"/>
                  </a:moveTo>
                  <a:cubicBezTo>
                    <a:pt x="0" y="90297"/>
                    <a:pt x="90678" y="0"/>
                    <a:pt x="202565" y="0"/>
                  </a:cubicBezTo>
                  <a:lnTo>
                    <a:pt x="8298307" y="0"/>
                  </a:lnTo>
                  <a:lnTo>
                    <a:pt x="8298307" y="6350"/>
                  </a:lnTo>
                  <a:lnTo>
                    <a:pt x="8298307" y="0"/>
                  </a:lnTo>
                  <a:cubicBezTo>
                    <a:pt x="8410194" y="0"/>
                    <a:pt x="8500872" y="90297"/>
                    <a:pt x="8500872" y="201676"/>
                  </a:cubicBezTo>
                  <a:lnTo>
                    <a:pt x="8494522" y="201676"/>
                  </a:lnTo>
                  <a:lnTo>
                    <a:pt x="8500872" y="201676"/>
                  </a:lnTo>
                  <a:lnTo>
                    <a:pt x="8500872" y="2062861"/>
                  </a:lnTo>
                  <a:lnTo>
                    <a:pt x="8494522" y="2062861"/>
                  </a:lnTo>
                  <a:lnTo>
                    <a:pt x="8500872" y="2062861"/>
                  </a:lnTo>
                  <a:cubicBezTo>
                    <a:pt x="8500872" y="2174240"/>
                    <a:pt x="8410194" y="2264537"/>
                    <a:pt x="8298307" y="2264537"/>
                  </a:cubicBezTo>
                  <a:lnTo>
                    <a:pt x="8298307" y="2258187"/>
                  </a:lnTo>
                  <a:lnTo>
                    <a:pt x="8298307" y="2264537"/>
                  </a:lnTo>
                  <a:lnTo>
                    <a:pt x="202565" y="2264537"/>
                  </a:lnTo>
                  <a:lnTo>
                    <a:pt x="202565" y="2258187"/>
                  </a:lnTo>
                  <a:lnTo>
                    <a:pt x="202565" y="2264537"/>
                  </a:lnTo>
                  <a:cubicBezTo>
                    <a:pt x="90678" y="2264537"/>
                    <a:pt x="0" y="2174240"/>
                    <a:pt x="0" y="2062861"/>
                  </a:cubicBezTo>
                  <a:lnTo>
                    <a:pt x="0" y="201676"/>
                  </a:lnTo>
                  <a:lnTo>
                    <a:pt x="6350" y="201676"/>
                  </a:lnTo>
                  <a:lnTo>
                    <a:pt x="0" y="201676"/>
                  </a:lnTo>
                  <a:moveTo>
                    <a:pt x="12700" y="201676"/>
                  </a:moveTo>
                  <a:lnTo>
                    <a:pt x="12700" y="2062861"/>
                  </a:lnTo>
                  <a:lnTo>
                    <a:pt x="6350" y="2062861"/>
                  </a:lnTo>
                  <a:lnTo>
                    <a:pt x="12700" y="2062861"/>
                  </a:lnTo>
                  <a:cubicBezTo>
                    <a:pt x="12700" y="2167255"/>
                    <a:pt x="97663" y="2251837"/>
                    <a:pt x="202565" y="2251837"/>
                  </a:cubicBezTo>
                  <a:lnTo>
                    <a:pt x="8298307" y="2251837"/>
                  </a:lnTo>
                  <a:cubicBezTo>
                    <a:pt x="8403209" y="2251837"/>
                    <a:pt x="8488172" y="2167128"/>
                    <a:pt x="8488172" y="2062861"/>
                  </a:cubicBezTo>
                  <a:lnTo>
                    <a:pt x="8488172" y="201676"/>
                  </a:lnTo>
                  <a:cubicBezTo>
                    <a:pt x="8488172" y="97409"/>
                    <a:pt x="8403209" y="12700"/>
                    <a:pt x="8298307" y="12700"/>
                  </a:cubicBezTo>
                  <a:lnTo>
                    <a:pt x="202565" y="12700"/>
                  </a:lnTo>
                  <a:lnTo>
                    <a:pt x="202565" y="6350"/>
                  </a:lnTo>
                  <a:lnTo>
                    <a:pt x="202565" y="12700"/>
                  </a:lnTo>
                  <a:cubicBezTo>
                    <a:pt x="97663" y="12700"/>
                    <a:pt x="12700" y="97409"/>
                    <a:pt x="12700" y="201676"/>
                  </a:cubicBezTo>
                  <a:close/>
                </a:path>
              </a:pathLst>
            </a:custGeom>
            <a:solidFill>
              <a:srgbClr val="FF7047"/>
            </a:solidFill>
          </p:spPr>
        </p:sp>
      </p:grpSp>
      <p:grpSp>
        <p:nvGrpSpPr>
          <p:cNvPr id="35" name="Group 35"/>
          <p:cNvGrpSpPr/>
          <p:nvPr/>
        </p:nvGrpSpPr>
        <p:grpSpPr>
          <a:xfrm>
            <a:off x="9369476" y="4764367"/>
            <a:ext cx="488309" cy="488309"/>
            <a:chOff x="0" y="0"/>
            <a:chExt cx="651078" cy="651078"/>
          </a:xfrm>
        </p:grpSpPr>
        <p:sp>
          <p:nvSpPr>
            <p:cNvPr id="36" name="Freeform 36"/>
            <p:cNvSpPr/>
            <p:nvPr/>
          </p:nvSpPr>
          <p:spPr>
            <a:xfrm>
              <a:off x="0" y="0"/>
              <a:ext cx="651129" cy="651129"/>
            </a:xfrm>
            <a:custGeom>
              <a:avLst/>
              <a:gdLst/>
              <a:ahLst/>
              <a:cxnLst/>
              <a:rect l="l" t="t" r="r" b="b"/>
              <a:pathLst>
                <a:path w="651129" h="651129">
                  <a:moveTo>
                    <a:pt x="0" y="325501"/>
                  </a:moveTo>
                  <a:cubicBezTo>
                    <a:pt x="0" y="145796"/>
                    <a:pt x="145796" y="0"/>
                    <a:pt x="325501" y="0"/>
                  </a:cubicBezTo>
                  <a:cubicBezTo>
                    <a:pt x="505206" y="0"/>
                    <a:pt x="651129" y="145796"/>
                    <a:pt x="651129" y="325501"/>
                  </a:cubicBezTo>
                  <a:cubicBezTo>
                    <a:pt x="651129" y="505206"/>
                    <a:pt x="505333" y="651129"/>
                    <a:pt x="325501" y="651129"/>
                  </a:cubicBezTo>
                  <a:cubicBezTo>
                    <a:pt x="145669" y="651129"/>
                    <a:pt x="0" y="505333"/>
                    <a:pt x="0" y="325501"/>
                  </a:cubicBezTo>
                  <a:close/>
                </a:path>
              </a:pathLst>
            </a:custGeom>
            <a:solidFill>
              <a:srgbClr val="FF7047"/>
            </a:solidFill>
          </p:spPr>
        </p:sp>
      </p:grpSp>
      <p:sp>
        <p:nvSpPr>
          <p:cNvPr id="37" name="TextBox 37"/>
          <p:cNvSpPr txBox="1"/>
          <p:nvPr/>
        </p:nvSpPr>
        <p:spPr>
          <a:xfrm>
            <a:off x="9369476" y="5359385"/>
            <a:ext cx="2822524" cy="254202"/>
          </a:xfrm>
          <a:prstGeom prst="rect">
            <a:avLst/>
          </a:prstGeom>
        </p:spPr>
        <p:txBody>
          <a:bodyPr wrap="square" lIns="0" tIns="0" rIns="0" bIns="0" rtlCol="0" anchor="t">
            <a:spAutoFit/>
          </a:bodyPr>
          <a:lstStyle/>
          <a:p>
            <a:pPr algn="l">
              <a:lnSpc>
                <a:spcPts val="2000"/>
              </a:lnSpc>
            </a:pPr>
            <a:r>
              <a:rPr lang="en-US" sz="1750" dirty="0">
                <a:solidFill>
                  <a:srgbClr val="000000"/>
                </a:solidFill>
                <a:latin typeface="Inter"/>
                <a:ea typeface="Inter"/>
                <a:cs typeface="Inter"/>
                <a:sym typeface="Inter"/>
              </a:rPr>
              <a:t>Stakeholder Dashboards</a:t>
            </a:r>
          </a:p>
        </p:txBody>
      </p:sp>
      <p:sp>
        <p:nvSpPr>
          <p:cNvPr id="38" name="TextBox 38"/>
          <p:cNvSpPr txBox="1"/>
          <p:nvPr/>
        </p:nvSpPr>
        <p:spPr>
          <a:xfrm>
            <a:off x="9369476" y="5649001"/>
            <a:ext cx="6021734" cy="459877"/>
          </a:xfrm>
          <a:prstGeom prst="rect">
            <a:avLst/>
          </a:prstGeom>
        </p:spPr>
        <p:txBody>
          <a:bodyPr lIns="0" tIns="0" rIns="0" bIns="0" rtlCol="0" anchor="t">
            <a:spAutoFit/>
          </a:bodyPr>
          <a:lstStyle/>
          <a:p>
            <a:pPr algn="l">
              <a:lnSpc>
                <a:spcPts val="1687"/>
              </a:lnSpc>
            </a:pPr>
            <a:r>
              <a:rPr lang="en-US" sz="1312">
                <a:solidFill>
                  <a:srgbClr val="000000"/>
                </a:solidFill>
                <a:latin typeface="Arimo"/>
                <a:ea typeface="Arimo"/>
                <a:cs typeface="Arimo"/>
                <a:sym typeface="Arimo"/>
              </a:rPr>
              <a:t>Role-based access for administrators, staff, and parents — unified visibility across the institution.</a:t>
            </a:r>
          </a:p>
        </p:txBody>
      </p:sp>
      <p:grpSp>
        <p:nvGrpSpPr>
          <p:cNvPr id="39" name="Group 39"/>
          <p:cNvGrpSpPr/>
          <p:nvPr/>
        </p:nvGrpSpPr>
        <p:grpSpPr>
          <a:xfrm>
            <a:off x="2719835" y="6383017"/>
            <a:ext cx="6375502" cy="1698422"/>
            <a:chOff x="0" y="0"/>
            <a:chExt cx="8500669" cy="2264562"/>
          </a:xfrm>
        </p:grpSpPr>
        <p:sp>
          <p:nvSpPr>
            <p:cNvPr id="40" name="Freeform 40"/>
            <p:cNvSpPr/>
            <p:nvPr/>
          </p:nvSpPr>
          <p:spPr>
            <a:xfrm>
              <a:off x="6350" y="6350"/>
              <a:ext cx="8488045" cy="2251837"/>
            </a:xfrm>
            <a:custGeom>
              <a:avLst/>
              <a:gdLst/>
              <a:ahLst/>
              <a:cxnLst/>
              <a:rect l="l" t="t" r="r" b="b"/>
              <a:pathLst>
                <a:path w="8488045" h="2251837">
                  <a:moveTo>
                    <a:pt x="0" y="195326"/>
                  </a:moveTo>
                  <a:cubicBezTo>
                    <a:pt x="0" y="87503"/>
                    <a:pt x="87884" y="0"/>
                    <a:pt x="196215" y="0"/>
                  </a:cubicBezTo>
                  <a:lnTo>
                    <a:pt x="8291830" y="0"/>
                  </a:lnTo>
                  <a:cubicBezTo>
                    <a:pt x="8400162" y="0"/>
                    <a:pt x="8488045" y="87503"/>
                    <a:pt x="8488045" y="195326"/>
                  </a:cubicBezTo>
                  <a:lnTo>
                    <a:pt x="8488045" y="2056511"/>
                  </a:lnTo>
                  <a:cubicBezTo>
                    <a:pt x="8488045" y="2164461"/>
                    <a:pt x="8400162" y="2251837"/>
                    <a:pt x="8291830" y="2251837"/>
                  </a:cubicBezTo>
                  <a:lnTo>
                    <a:pt x="196215" y="2251837"/>
                  </a:lnTo>
                  <a:cubicBezTo>
                    <a:pt x="87884" y="2251837"/>
                    <a:pt x="0" y="2164334"/>
                    <a:pt x="0" y="2056511"/>
                  </a:cubicBezTo>
                  <a:close/>
                </a:path>
              </a:pathLst>
            </a:custGeom>
            <a:solidFill>
              <a:srgbClr val="FFFFFF"/>
            </a:solidFill>
          </p:spPr>
        </p:sp>
        <p:sp>
          <p:nvSpPr>
            <p:cNvPr id="41" name="Freeform 41"/>
            <p:cNvSpPr/>
            <p:nvPr/>
          </p:nvSpPr>
          <p:spPr>
            <a:xfrm>
              <a:off x="0" y="0"/>
              <a:ext cx="8500745" cy="2264537"/>
            </a:xfrm>
            <a:custGeom>
              <a:avLst/>
              <a:gdLst/>
              <a:ahLst/>
              <a:cxnLst/>
              <a:rect l="l" t="t" r="r" b="b"/>
              <a:pathLst>
                <a:path w="8500745" h="2264537">
                  <a:moveTo>
                    <a:pt x="0" y="201676"/>
                  </a:moveTo>
                  <a:cubicBezTo>
                    <a:pt x="0" y="90297"/>
                    <a:pt x="90678" y="0"/>
                    <a:pt x="202565" y="0"/>
                  </a:cubicBezTo>
                  <a:lnTo>
                    <a:pt x="8298180" y="0"/>
                  </a:lnTo>
                  <a:lnTo>
                    <a:pt x="8298180" y="6350"/>
                  </a:lnTo>
                  <a:lnTo>
                    <a:pt x="8298180" y="0"/>
                  </a:lnTo>
                  <a:cubicBezTo>
                    <a:pt x="8410067" y="0"/>
                    <a:pt x="8500745" y="90297"/>
                    <a:pt x="8500745" y="201676"/>
                  </a:cubicBezTo>
                  <a:lnTo>
                    <a:pt x="8494395" y="201676"/>
                  </a:lnTo>
                  <a:lnTo>
                    <a:pt x="8500745" y="201676"/>
                  </a:lnTo>
                  <a:lnTo>
                    <a:pt x="8500745" y="2062861"/>
                  </a:lnTo>
                  <a:lnTo>
                    <a:pt x="8494395" y="2062861"/>
                  </a:lnTo>
                  <a:lnTo>
                    <a:pt x="8500745" y="2062861"/>
                  </a:lnTo>
                  <a:cubicBezTo>
                    <a:pt x="8500745" y="2174240"/>
                    <a:pt x="8410067" y="2264537"/>
                    <a:pt x="8298180" y="2264537"/>
                  </a:cubicBezTo>
                  <a:lnTo>
                    <a:pt x="8298180" y="2258187"/>
                  </a:lnTo>
                  <a:lnTo>
                    <a:pt x="8298180" y="2264537"/>
                  </a:lnTo>
                  <a:lnTo>
                    <a:pt x="202565" y="2264537"/>
                  </a:lnTo>
                  <a:lnTo>
                    <a:pt x="202565" y="2258187"/>
                  </a:lnTo>
                  <a:lnTo>
                    <a:pt x="202565" y="2264537"/>
                  </a:lnTo>
                  <a:cubicBezTo>
                    <a:pt x="90678" y="2264537"/>
                    <a:pt x="0" y="2174240"/>
                    <a:pt x="0" y="2062861"/>
                  </a:cubicBezTo>
                  <a:lnTo>
                    <a:pt x="0" y="201676"/>
                  </a:lnTo>
                  <a:lnTo>
                    <a:pt x="6350" y="201676"/>
                  </a:lnTo>
                  <a:lnTo>
                    <a:pt x="0" y="201676"/>
                  </a:lnTo>
                  <a:moveTo>
                    <a:pt x="12700" y="201676"/>
                  </a:moveTo>
                  <a:lnTo>
                    <a:pt x="12700" y="2062861"/>
                  </a:lnTo>
                  <a:lnTo>
                    <a:pt x="6350" y="2062861"/>
                  </a:lnTo>
                  <a:lnTo>
                    <a:pt x="12700" y="2062861"/>
                  </a:lnTo>
                  <a:cubicBezTo>
                    <a:pt x="12700" y="2167255"/>
                    <a:pt x="97663" y="2251837"/>
                    <a:pt x="202565" y="2251837"/>
                  </a:cubicBezTo>
                  <a:lnTo>
                    <a:pt x="8298180" y="2251837"/>
                  </a:lnTo>
                  <a:cubicBezTo>
                    <a:pt x="8403082" y="2251837"/>
                    <a:pt x="8488045" y="2167128"/>
                    <a:pt x="8488045" y="2062861"/>
                  </a:cubicBezTo>
                  <a:lnTo>
                    <a:pt x="8488045" y="201676"/>
                  </a:lnTo>
                  <a:cubicBezTo>
                    <a:pt x="8487918" y="97409"/>
                    <a:pt x="8402955" y="12700"/>
                    <a:pt x="8298180" y="12700"/>
                  </a:cubicBezTo>
                  <a:lnTo>
                    <a:pt x="202565" y="12700"/>
                  </a:lnTo>
                  <a:lnTo>
                    <a:pt x="202565" y="6350"/>
                  </a:lnTo>
                  <a:lnTo>
                    <a:pt x="202565" y="12700"/>
                  </a:lnTo>
                  <a:cubicBezTo>
                    <a:pt x="97663" y="12700"/>
                    <a:pt x="12700" y="97409"/>
                    <a:pt x="12700" y="201676"/>
                  </a:cubicBezTo>
                  <a:close/>
                </a:path>
              </a:pathLst>
            </a:custGeom>
            <a:solidFill>
              <a:srgbClr val="FF7047"/>
            </a:solidFill>
          </p:spPr>
        </p:sp>
      </p:grpSp>
      <p:grpSp>
        <p:nvGrpSpPr>
          <p:cNvPr id="42" name="Group 42"/>
          <p:cNvGrpSpPr/>
          <p:nvPr/>
        </p:nvGrpSpPr>
        <p:grpSpPr>
          <a:xfrm>
            <a:off x="2896791" y="6559972"/>
            <a:ext cx="488309" cy="488309"/>
            <a:chOff x="0" y="0"/>
            <a:chExt cx="651078" cy="651078"/>
          </a:xfrm>
        </p:grpSpPr>
        <p:sp>
          <p:nvSpPr>
            <p:cNvPr id="43" name="Freeform 43"/>
            <p:cNvSpPr/>
            <p:nvPr/>
          </p:nvSpPr>
          <p:spPr>
            <a:xfrm>
              <a:off x="0" y="0"/>
              <a:ext cx="651129" cy="651129"/>
            </a:xfrm>
            <a:custGeom>
              <a:avLst/>
              <a:gdLst/>
              <a:ahLst/>
              <a:cxnLst/>
              <a:rect l="l" t="t" r="r" b="b"/>
              <a:pathLst>
                <a:path w="651129" h="651129">
                  <a:moveTo>
                    <a:pt x="0" y="325501"/>
                  </a:moveTo>
                  <a:cubicBezTo>
                    <a:pt x="0" y="145796"/>
                    <a:pt x="145796" y="0"/>
                    <a:pt x="325501" y="0"/>
                  </a:cubicBezTo>
                  <a:cubicBezTo>
                    <a:pt x="505206" y="0"/>
                    <a:pt x="651129" y="145796"/>
                    <a:pt x="651129" y="325501"/>
                  </a:cubicBezTo>
                  <a:cubicBezTo>
                    <a:pt x="651129" y="505206"/>
                    <a:pt x="505333" y="651129"/>
                    <a:pt x="325501" y="651129"/>
                  </a:cubicBezTo>
                  <a:cubicBezTo>
                    <a:pt x="145669" y="651129"/>
                    <a:pt x="0" y="505333"/>
                    <a:pt x="0" y="325501"/>
                  </a:cubicBezTo>
                  <a:close/>
                </a:path>
              </a:pathLst>
            </a:custGeom>
            <a:solidFill>
              <a:srgbClr val="FF7047"/>
            </a:solidFill>
          </p:spPr>
        </p:sp>
      </p:grpSp>
      <p:sp>
        <p:nvSpPr>
          <p:cNvPr id="44" name="TextBox 44"/>
          <p:cNvSpPr txBox="1"/>
          <p:nvPr/>
        </p:nvSpPr>
        <p:spPr>
          <a:xfrm>
            <a:off x="2896791" y="7154990"/>
            <a:ext cx="2035073" cy="254203"/>
          </a:xfrm>
          <a:prstGeom prst="rect">
            <a:avLst/>
          </a:prstGeom>
        </p:spPr>
        <p:txBody>
          <a:bodyPr lIns="0" tIns="0" rIns="0" bIns="0" rtlCol="0" anchor="t">
            <a:spAutoFit/>
          </a:bodyPr>
          <a:lstStyle/>
          <a:p>
            <a:pPr algn="l">
              <a:lnSpc>
                <a:spcPts val="2000"/>
              </a:lnSpc>
            </a:pPr>
            <a:r>
              <a:rPr lang="en-US" sz="1750">
                <a:solidFill>
                  <a:srgbClr val="000000"/>
                </a:solidFill>
                <a:latin typeface="Inter"/>
                <a:ea typeface="Inter"/>
                <a:cs typeface="Inter"/>
                <a:sym typeface="Inter"/>
              </a:rPr>
              <a:t>Backup Reliability</a:t>
            </a:r>
          </a:p>
        </p:txBody>
      </p:sp>
      <p:sp>
        <p:nvSpPr>
          <p:cNvPr id="45" name="TextBox 45"/>
          <p:cNvSpPr txBox="1"/>
          <p:nvPr/>
        </p:nvSpPr>
        <p:spPr>
          <a:xfrm>
            <a:off x="2896791" y="7444607"/>
            <a:ext cx="6021591" cy="459877"/>
          </a:xfrm>
          <a:prstGeom prst="rect">
            <a:avLst/>
          </a:prstGeom>
        </p:spPr>
        <p:txBody>
          <a:bodyPr lIns="0" tIns="0" rIns="0" bIns="0" rtlCol="0" anchor="t">
            <a:spAutoFit/>
          </a:bodyPr>
          <a:lstStyle/>
          <a:p>
            <a:pPr algn="l">
              <a:lnSpc>
                <a:spcPts val="1687"/>
              </a:lnSpc>
            </a:pPr>
            <a:r>
              <a:rPr lang="en-US" sz="1312">
                <a:solidFill>
                  <a:srgbClr val="000000"/>
                </a:solidFill>
                <a:latin typeface="Arimo"/>
                <a:ea typeface="Arimo"/>
                <a:cs typeface="Arimo"/>
                <a:sym typeface="Arimo"/>
              </a:rPr>
              <a:t>Redundant data systems and automated backups ensure institutional records are always protected.</a:t>
            </a:r>
          </a:p>
        </p:txBody>
      </p:sp>
      <p:grpSp>
        <p:nvGrpSpPr>
          <p:cNvPr id="46" name="Group 46"/>
          <p:cNvGrpSpPr/>
          <p:nvPr/>
        </p:nvGrpSpPr>
        <p:grpSpPr>
          <a:xfrm>
            <a:off x="9192520" y="6383017"/>
            <a:ext cx="6375644" cy="1698422"/>
            <a:chOff x="0" y="0"/>
            <a:chExt cx="8500859" cy="2264562"/>
          </a:xfrm>
        </p:grpSpPr>
        <p:sp>
          <p:nvSpPr>
            <p:cNvPr id="47" name="Freeform 47"/>
            <p:cNvSpPr/>
            <p:nvPr/>
          </p:nvSpPr>
          <p:spPr>
            <a:xfrm>
              <a:off x="6350" y="6350"/>
              <a:ext cx="8488172" cy="2251837"/>
            </a:xfrm>
            <a:custGeom>
              <a:avLst/>
              <a:gdLst/>
              <a:ahLst/>
              <a:cxnLst/>
              <a:rect l="l" t="t" r="r" b="b"/>
              <a:pathLst>
                <a:path w="8488172" h="2251837">
                  <a:moveTo>
                    <a:pt x="0" y="195326"/>
                  </a:moveTo>
                  <a:cubicBezTo>
                    <a:pt x="0" y="87503"/>
                    <a:pt x="87884" y="0"/>
                    <a:pt x="196215" y="0"/>
                  </a:cubicBezTo>
                  <a:lnTo>
                    <a:pt x="8291957" y="0"/>
                  </a:lnTo>
                  <a:cubicBezTo>
                    <a:pt x="8400288" y="0"/>
                    <a:pt x="8488172" y="87503"/>
                    <a:pt x="8488172" y="195326"/>
                  </a:cubicBezTo>
                  <a:lnTo>
                    <a:pt x="8488172" y="2056511"/>
                  </a:lnTo>
                  <a:cubicBezTo>
                    <a:pt x="8488172" y="2164461"/>
                    <a:pt x="8400288" y="2251837"/>
                    <a:pt x="8291957" y="2251837"/>
                  </a:cubicBezTo>
                  <a:lnTo>
                    <a:pt x="196215" y="2251837"/>
                  </a:lnTo>
                  <a:cubicBezTo>
                    <a:pt x="87884" y="2251837"/>
                    <a:pt x="0" y="2164334"/>
                    <a:pt x="0" y="2056511"/>
                  </a:cubicBezTo>
                  <a:close/>
                </a:path>
              </a:pathLst>
            </a:custGeom>
            <a:solidFill>
              <a:srgbClr val="FFFFFF"/>
            </a:solidFill>
          </p:spPr>
        </p:sp>
        <p:sp>
          <p:nvSpPr>
            <p:cNvPr id="48" name="Freeform 48"/>
            <p:cNvSpPr/>
            <p:nvPr/>
          </p:nvSpPr>
          <p:spPr>
            <a:xfrm>
              <a:off x="0" y="0"/>
              <a:ext cx="8500872" cy="2264537"/>
            </a:xfrm>
            <a:custGeom>
              <a:avLst/>
              <a:gdLst/>
              <a:ahLst/>
              <a:cxnLst/>
              <a:rect l="l" t="t" r="r" b="b"/>
              <a:pathLst>
                <a:path w="8500872" h="2264537">
                  <a:moveTo>
                    <a:pt x="0" y="201676"/>
                  </a:moveTo>
                  <a:cubicBezTo>
                    <a:pt x="0" y="90297"/>
                    <a:pt x="90678" y="0"/>
                    <a:pt x="202565" y="0"/>
                  </a:cubicBezTo>
                  <a:lnTo>
                    <a:pt x="8298307" y="0"/>
                  </a:lnTo>
                  <a:lnTo>
                    <a:pt x="8298307" y="6350"/>
                  </a:lnTo>
                  <a:lnTo>
                    <a:pt x="8298307" y="0"/>
                  </a:lnTo>
                  <a:cubicBezTo>
                    <a:pt x="8410194" y="0"/>
                    <a:pt x="8500872" y="90297"/>
                    <a:pt x="8500872" y="201676"/>
                  </a:cubicBezTo>
                  <a:lnTo>
                    <a:pt x="8494522" y="201676"/>
                  </a:lnTo>
                  <a:lnTo>
                    <a:pt x="8500872" y="201676"/>
                  </a:lnTo>
                  <a:lnTo>
                    <a:pt x="8500872" y="2062861"/>
                  </a:lnTo>
                  <a:lnTo>
                    <a:pt x="8494522" y="2062861"/>
                  </a:lnTo>
                  <a:lnTo>
                    <a:pt x="8500872" y="2062861"/>
                  </a:lnTo>
                  <a:cubicBezTo>
                    <a:pt x="8500872" y="2174240"/>
                    <a:pt x="8410194" y="2264537"/>
                    <a:pt x="8298307" y="2264537"/>
                  </a:cubicBezTo>
                  <a:lnTo>
                    <a:pt x="8298307" y="2258187"/>
                  </a:lnTo>
                  <a:lnTo>
                    <a:pt x="8298307" y="2264537"/>
                  </a:lnTo>
                  <a:lnTo>
                    <a:pt x="202565" y="2264537"/>
                  </a:lnTo>
                  <a:lnTo>
                    <a:pt x="202565" y="2258187"/>
                  </a:lnTo>
                  <a:lnTo>
                    <a:pt x="202565" y="2264537"/>
                  </a:lnTo>
                  <a:cubicBezTo>
                    <a:pt x="90678" y="2264537"/>
                    <a:pt x="0" y="2174240"/>
                    <a:pt x="0" y="2062861"/>
                  </a:cubicBezTo>
                  <a:lnTo>
                    <a:pt x="0" y="201676"/>
                  </a:lnTo>
                  <a:lnTo>
                    <a:pt x="6350" y="201676"/>
                  </a:lnTo>
                  <a:lnTo>
                    <a:pt x="0" y="201676"/>
                  </a:lnTo>
                  <a:moveTo>
                    <a:pt x="12700" y="201676"/>
                  </a:moveTo>
                  <a:lnTo>
                    <a:pt x="12700" y="2062861"/>
                  </a:lnTo>
                  <a:lnTo>
                    <a:pt x="6350" y="2062861"/>
                  </a:lnTo>
                  <a:lnTo>
                    <a:pt x="12700" y="2062861"/>
                  </a:lnTo>
                  <a:cubicBezTo>
                    <a:pt x="12700" y="2167255"/>
                    <a:pt x="97663" y="2251837"/>
                    <a:pt x="202565" y="2251837"/>
                  </a:cubicBezTo>
                  <a:lnTo>
                    <a:pt x="8298307" y="2251837"/>
                  </a:lnTo>
                  <a:cubicBezTo>
                    <a:pt x="8403209" y="2251837"/>
                    <a:pt x="8488172" y="2167128"/>
                    <a:pt x="8488172" y="2062861"/>
                  </a:cubicBezTo>
                  <a:lnTo>
                    <a:pt x="8488172" y="201676"/>
                  </a:lnTo>
                  <a:cubicBezTo>
                    <a:pt x="8488172" y="97409"/>
                    <a:pt x="8403209" y="12700"/>
                    <a:pt x="8298307" y="12700"/>
                  </a:cubicBezTo>
                  <a:lnTo>
                    <a:pt x="202565" y="12700"/>
                  </a:lnTo>
                  <a:lnTo>
                    <a:pt x="202565" y="6350"/>
                  </a:lnTo>
                  <a:lnTo>
                    <a:pt x="202565" y="12700"/>
                  </a:lnTo>
                  <a:cubicBezTo>
                    <a:pt x="97663" y="12700"/>
                    <a:pt x="12700" y="97409"/>
                    <a:pt x="12700" y="201676"/>
                  </a:cubicBezTo>
                  <a:close/>
                </a:path>
              </a:pathLst>
            </a:custGeom>
            <a:solidFill>
              <a:srgbClr val="FF7047"/>
            </a:solidFill>
          </p:spPr>
        </p:sp>
      </p:grpSp>
      <p:grpSp>
        <p:nvGrpSpPr>
          <p:cNvPr id="49" name="Group 49"/>
          <p:cNvGrpSpPr/>
          <p:nvPr/>
        </p:nvGrpSpPr>
        <p:grpSpPr>
          <a:xfrm>
            <a:off x="9369476" y="6559972"/>
            <a:ext cx="488309" cy="488309"/>
            <a:chOff x="0" y="0"/>
            <a:chExt cx="651078" cy="651078"/>
          </a:xfrm>
        </p:grpSpPr>
        <p:sp>
          <p:nvSpPr>
            <p:cNvPr id="50" name="Freeform 50"/>
            <p:cNvSpPr/>
            <p:nvPr/>
          </p:nvSpPr>
          <p:spPr>
            <a:xfrm>
              <a:off x="0" y="0"/>
              <a:ext cx="651129" cy="651129"/>
            </a:xfrm>
            <a:custGeom>
              <a:avLst/>
              <a:gdLst/>
              <a:ahLst/>
              <a:cxnLst/>
              <a:rect l="l" t="t" r="r" b="b"/>
              <a:pathLst>
                <a:path w="651129" h="651129">
                  <a:moveTo>
                    <a:pt x="0" y="325501"/>
                  </a:moveTo>
                  <a:cubicBezTo>
                    <a:pt x="0" y="145796"/>
                    <a:pt x="145796" y="0"/>
                    <a:pt x="325501" y="0"/>
                  </a:cubicBezTo>
                  <a:cubicBezTo>
                    <a:pt x="505206" y="0"/>
                    <a:pt x="651129" y="145796"/>
                    <a:pt x="651129" y="325501"/>
                  </a:cubicBezTo>
                  <a:cubicBezTo>
                    <a:pt x="651129" y="505206"/>
                    <a:pt x="505333" y="651129"/>
                    <a:pt x="325501" y="651129"/>
                  </a:cubicBezTo>
                  <a:cubicBezTo>
                    <a:pt x="145669" y="651129"/>
                    <a:pt x="0" y="505333"/>
                    <a:pt x="0" y="325501"/>
                  </a:cubicBezTo>
                  <a:close/>
                </a:path>
              </a:pathLst>
            </a:custGeom>
            <a:solidFill>
              <a:srgbClr val="FF7047"/>
            </a:solidFill>
          </p:spPr>
        </p:sp>
      </p:grpSp>
      <p:sp>
        <p:nvSpPr>
          <p:cNvPr id="51" name="TextBox 51"/>
          <p:cNvSpPr txBox="1"/>
          <p:nvPr/>
        </p:nvSpPr>
        <p:spPr>
          <a:xfrm>
            <a:off x="9369476" y="7165705"/>
            <a:ext cx="2593924" cy="256480"/>
          </a:xfrm>
          <a:prstGeom prst="rect">
            <a:avLst/>
          </a:prstGeom>
        </p:spPr>
        <p:txBody>
          <a:bodyPr wrap="square" lIns="0" tIns="0" rIns="0" bIns="0" rtlCol="0" anchor="t">
            <a:spAutoFit/>
          </a:bodyPr>
          <a:lstStyle/>
          <a:p>
            <a:pPr algn="l">
              <a:lnSpc>
                <a:spcPts val="2000"/>
              </a:lnSpc>
            </a:pPr>
            <a:r>
              <a:rPr lang="en-US" sz="1750" dirty="0">
                <a:solidFill>
                  <a:srgbClr val="000000"/>
                </a:solidFill>
                <a:latin typeface="Inter"/>
                <a:ea typeface="Inter"/>
                <a:cs typeface="Inter"/>
                <a:sym typeface="Inter"/>
              </a:rPr>
              <a:t>Scalable Architecture</a:t>
            </a:r>
          </a:p>
        </p:txBody>
      </p:sp>
      <p:sp>
        <p:nvSpPr>
          <p:cNvPr id="52" name="TextBox 52"/>
          <p:cNvSpPr txBox="1"/>
          <p:nvPr/>
        </p:nvSpPr>
        <p:spPr>
          <a:xfrm>
            <a:off x="9369476" y="7444607"/>
            <a:ext cx="6021734" cy="459877"/>
          </a:xfrm>
          <a:prstGeom prst="rect">
            <a:avLst/>
          </a:prstGeom>
        </p:spPr>
        <p:txBody>
          <a:bodyPr lIns="0" tIns="0" rIns="0" bIns="0" rtlCol="0" anchor="t">
            <a:spAutoFit/>
          </a:bodyPr>
          <a:lstStyle/>
          <a:p>
            <a:pPr algn="l">
              <a:lnSpc>
                <a:spcPts val="1687"/>
              </a:lnSpc>
            </a:pPr>
            <a:r>
              <a:rPr lang="en-US" sz="1312">
                <a:solidFill>
                  <a:srgbClr val="000000"/>
                </a:solidFill>
                <a:latin typeface="Arimo"/>
                <a:ea typeface="Arimo"/>
                <a:cs typeface="Arimo"/>
                <a:sym typeface="Arimo"/>
              </a:rPr>
              <a:t>Built to grow — from single-campus deployment to multi-institution enterprise networks.</a:t>
            </a:r>
          </a:p>
        </p:txBody>
      </p:sp>
      <p:sp>
        <p:nvSpPr>
          <p:cNvPr id="53" name="TextBox 53"/>
          <p:cNvSpPr txBox="1"/>
          <p:nvPr/>
        </p:nvSpPr>
        <p:spPr>
          <a:xfrm>
            <a:off x="2968676" y="8288322"/>
            <a:ext cx="12594727" cy="244231"/>
          </a:xfrm>
          <a:prstGeom prst="rect">
            <a:avLst/>
          </a:prstGeom>
        </p:spPr>
        <p:txBody>
          <a:bodyPr lIns="0" tIns="0" rIns="0" bIns="0" rtlCol="0" anchor="t">
            <a:spAutoFit/>
          </a:bodyPr>
          <a:lstStyle/>
          <a:p>
            <a:pPr algn="l">
              <a:lnSpc>
                <a:spcPts val="1687"/>
              </a:lnSpc>
            </a:pPr>
            <a:r>
              <a:rPr lang="en-US" sz="1312" i="1">
                <a:solidFill>
                  <a:srgbClr val="000000"/>
                </a:solidFill>
                <a:latin typeface="Arimo Italics"/>
                <a:ea typeface="Arimo Italics"/>
                <a:cs typeface="Arimo Italics"/>
                <a:sym typeface="Arimo Italics"/>
              </a:rPr>
              <a:t>"BIOSYNC transforms attendance from a routine record into an intelligent, accessible, and institution-ready operational system."</a:t>
            </a:r>
          </a:p>
        </p:txBody>
      </p:sp>
      <p:grpSp>
        <p:nvGrpSpPr>
          <p:cNvPr id="54" name="Group 54"/>
          <p:cNvGrpSpPr/>
          <p:nvPr/>
        </p:nvGrpSpPr>
        <p:grpSpPr>
          <a:xfrm>
            <a:off x="2724598" y="8196786"/>
            <a:ext cx="19050" cy="455857"/>
            <a:chOff x="0" y="0"/>
            <a:chExt cx="25400" cy="607809"/>
          </a:xfrm>
        </p:grpSpPr>
        <p:sp>
          <p:nvSpPr>
            <p:cNvPr id="55" name="Freeform 55"/>
            <p:cNvSpPr/>
            <p:nvPr/>
          </p:nvSpPr>
          <p:spPr>
            <a:xfrm>
              <a:off x="0" y="0"/>
              <a:ext cx="25400" cy="607822"/>
            </a:xfrm>
            <a:custGeom>
              <a:avLst/>
              <a:gdLst/>
              <a:ahLst/>
              <a:cxnLst/>
              <a:rect l="l" t="t" r="r" b="b"/>
              <a:pathLst>
                <a:path w="25400" h="607822">
                  <a:moveTo>
                    <a:pt x="0" y="0"/>
                  </a:moveTo>
                  <a:lnTo>
                    <a:pt x="25400" y="0"/>
                  </a:lnTo>
                  <a:lnTo>
                    <a:pt x="25400" y="607822"/>
                  </a:lnTo>
                  <a:lnTo>
                    <a:pt x="0" y="607822"/>
                  </a:lnTo>
                  <a:close/>
                </a:path>
              </a:pathLst>
            </a:custGeom>
            <a:solidFill>
              <a:srgbClr val="FF7047"/>
            </a:solidFill>
          </p:spPr>
        </p:sp>
      </p:grpSp>
      <p:sp>
        <p:nvSpPr>
          <p:cNvPr id="56" name="TextBox 56"/>
          <p:cNvSpPr txBox="1"/>
          <p:nvPr/>
        </p:nvSpPr>
        <p:spPr>
          <a:xfrm>
            <a:off x="2298049" y="9033272"/>
            <a:ext cx="2035073" cy="254203"/>
          </a:xfrm>
          <a:prstGeom prst="rect">
            <a:avLst/>
          </a:prstGeom>
        </p:spPr>
        <p:txBody>
          <a:bodyPr lIns="0" tIns="0" rIns="0" bIns="0" rtlCol="0" anchor="t">
            <a:spAutoFit/>
          </a:bodyPr>
          <a:lstStyle/>
          <a:p>
            <a:pPr algn="l">
              <a:lnSpc>
                <a:spcPts val="2000"/>
              </a:lnSpc>
            </a:pPr>
            <a:r>
              <a:rPr lang="en-US" sz="1750">
                <a:solidFill>
                  <a:srgbClr val="000000"/>
                </a:solidFill>
                <a:latin typeface="Inter"/>
                <a:ea typeface="Inter"/>
                <a:cs typeface="Inter"/>
                <a:sym typeface="Inter"/>
              </a:rPr>
              <a:t>Thank You !!!</a:t>
            </a:r>
          </a:p>
        </p:txBody>
      </p:sp>
      <p:sp>
        <p:nvSpPr>
          <p:cNvPr id="57" name="TextBox 57"/>
          <p:cNvSpPr txBox="1"/>
          <p:nvPr/>
        </p:nvSpPr>
        <p:spPr>
          <a:xfrm>
            <a:off x="2298049" y="9365418"/>
            <a:ext cx="14850685" cy="666007"/>
          </a:xfrm>
          <a:prstGeom prst="rect">
            <a:avLst/>
          </a:prstGeom>
        </p:spPr>
        <p:txBody>
          <a:bodyPr lIns="0" tIns="0" rIns="0" bIns="0" rtlCol="0" anchor="t">
            <a:spAutoFit/>
          </a:bodyPr>
          <a:lstStyle/>
          <a:p>
            <a:pPr algn="l">
              <a:lnSpc>
                <a:spcPts val="1687"/>
              </a:lnSpc>
            </a:pPr>
            <a:r>
              <a:rPr lang="en-US" sz="1375">
                <a:solidFill>
                  <a:srgbClr val="000000"/>
                </a:solidFill>
                <a:latin typeface="Arimo"/>
                <a:ea typeface="Arimo"/>
                <a:cs typeface="Arimo"/>
                <a:sym typeface="Arimo"/>
              </a:rPr>
              <a:t>We appreciate your time and attention. </a:t>
            </a:r>
          </a:p>
          <a:p>
            <a:pPr algn="l">
              <a:lnSpc>
                <a:spcPts val="1687"/>
              </a:lnSpc>
            </a:pPr>
            <a:r>
              <a:rPr lang="en-US" sz="1375">
                <a:solidFill>
                  <a:srgbClr val="000000"/>
                </a:solidFill>
                <a:latin typeface="Arimo"/>
                <a:ea typeface="Arimo"/>
                <a:cs typeface="Arimo"/>
                <a:sym typeface="Arimo"/>
              </a:rPr>
              <a:t>BIOSYNC is ready to redefine how your institution manages attendance  with precision, automation, and institutional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2933</Words>
  <Application>Microsoft Office PowerPoint</Application>
  <PresentationFormat>Custom</PresentationFormat>
  <Paragraphs>269</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Inter</vt:lpstr>
      <vt:lpstr>Arimo Italics</vt:lpstr>
      <vt:lpstr>Merriweather Sans Bold</vt:lpstr>
      <vt:lpstr>Arimo</vt:lpstr>
      <vt:lpstr>Calibri</vt:lpstr>
      <vt:lpstr>Merriweather Sans Light</vt:lpstr>
      <vt:lpstr>Calibri (MS) Bold</vt:lpstr>
      <vt:lpstr>Arimo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BIOSYNC.pptx</dc:title>
  <dc:creator>Niswanth T</dc:creator>
  <cp:lastModifiedBy>Niswanth T</cp:lastModifiedBy>
  <cp:revision>2</cp:revision>
  <dcterms:created xsi:type="dcterms:W3CDTF">2006-08-16T00:00:00Z</dcterms:created>
  <dcterms:modified xsi:type="dcterms:W3CDTF">2026-05-14T17:37:10Z</dcterms:modified>
  <dc:identifier>DAHHmFOtWw0</dc:identifier>
</cp:coreProperties>
</file>